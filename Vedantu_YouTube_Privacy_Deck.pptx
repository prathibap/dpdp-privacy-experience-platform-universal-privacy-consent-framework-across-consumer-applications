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VCC %</c:v>
                </c:pt>
              </c:strCache>
            </c:strRef>
          </c:tx>
          <c:spPr>
            <a:solidFill>
              <a:srgbClr val="FF0000"/>
            </a:solidFill>
            <a:ln w="31750" cap="flat">
              <a:solidFill>
                <a:srgbClr val="FF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58</c:v>
                </c:pt>
                <c:pt idx="2">
                  <c:v>61</c:v>
                </c:pt>
                <c:pt idx="3">
                  <c:v>65</c:v>
                </c:pt>
                <c:pt idx="4">
                  <c:v>69</c:v>
                </c:pt>
                <c:pt idx="5">
                  <c:v>72</c:v>
                </c:pt>
                <c:pt idx="6">
                  <c:v>75</c:v>
                </c:pt>
                <c:pt idx="7">
                  <c:v>78.4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D3D3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D3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D3D3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1F1F"/>
        </a:solidFill>
        <a:ln>
          <a:noFill/>
        </a:ln>
        <a:effectLst/>
      </c:spPr>
    </c:plotArea>
    <c:plotVisOnly val="1"/>
    <c:dispBlanksAs val="span"/>
  </c:chart>
  <c:spPr>
    <a:solidFill>
      <a:srgbClr val="1F1F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50" b="0" i="0" u="none" strike="noStrike">
                <a:solidFill>
                  <a:srgbClr val="FFFFFF"/>
                </a:solidFill>
                <a:latin typeface="Arial"/>
              </a:rPr>
              <a:t>Consent funnel (weekly, '000s)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Teens (000s)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 declared</c:v>
                  </c:pt>
                  <c:pt idx="1">
                    <c:v>Parent identified</c:v>
                  </c:pt>
                  <c:pt idx="2">
                    <c:v>Verification sent</c:v>
                  </c:pt>
                  <c:pt idx="3">
                    <c:v>Verified</c:v>
                  </c:pt>
                  <c:pt idx="4">
                    <c:v>Consent granted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366</c:v>
                </c:pt>
                <c:pt idx="2">
                  <c:v>340</c:v>
                </c:pt>
                <c:pt idx="3">
                  <c:v>298</c:v>
                </c:pt>
                <c:pt idx="4">
                  <c:v>285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D3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1F1F"/>
        </a:solidFill>
        <a:ln>
          <a:noFill/>
        </a:ln>
        <a:effectLst/>
      </c:spPr>
    </c:plotArea>
    <c:plotVisOnly val="1"/>
    <c:dispBlanksAs val="span"/>
  </c:chart>
  <c:spPr>
    <a:solidFill>
      <a:srgbClr val="1F1F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686800" y="-1097280"/>
            <a:ext cx="4937760" cy="4937760"/>
          </a:xfrm>
          <a:prstGeom prst="roundRect">
            <a:avLst>
              <a:gd name="adj" fmla="val 20370"/>
            </a:avLst>
          </a:prstGeom>
          <a:solidFill>
            <a:srgbClr val="CC00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FF00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PRODUCT MANAGEMENT INTERN ASSIGNMENT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Trust:
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YouTube's Privacy &amp; Consent Hub for India's DPDP Act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case study on closing YouTube's biggest compliance gap: verifiable parental consent and purpose-based data control for India's 13–17 age group.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5532120"/>
            <a:ext cx="914400" cy="0"/>
          </a:xfrm>
          <a:prstGeom prst="line">
            <a:avLst/>
          </a:prstGeom>
          <a:noFill/>
          <a:ln w="31750">
            <a:solidFill>
              <a:srgbClr val="F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Jepas  ·  Product Case Study  ·  July 2026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8064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protects children under 13. It has no verified answer for 13–17.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Act, 2023 defines a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“child” as anyone under 18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far broader than the under-13 threshold YouTube Kids was built for. That leaves roughly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 Indian teens (13–17)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regular YouTube app, fully personalised, with no verifiable parental consent on record.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now: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DPDP Rules, 2025 (notified 13 Nov 2025) operationalised Section 9 — verifiable parental consent, and a hard ban on behavioural tracking and targeted ads directed at children. Penalties for non-compliance on children's data reach ₹200 crore per instance.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44068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555955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assumptions: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Scope narrowed to the Teen (13–17) segment on the main YouTube app, the highest-risk gap. (2) Public/estimated figures used for India teen user base. (3) Fourth Schedule exemptions not yet published — full Section 9 compliance assumed.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0" y="1691640"/>
            <a:ext cx="4389120" cy="1298448"/>
          </a:xfrm>
          <a:prstGeom prst="roundRect">
            <a:avLst>
              <a:gd name="adj" fmla="val 6338"/>
            </a:avLst>
          </a:prstGeom>
          <a:solidFill>
            <a:srgbClr val="0F0F0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52360" y="1801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2468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“child” under DPDP — not 13 (COPPA) or 16 (GDPR)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3172968"/>
            <a:ext cx="4389120" cy="1298448"/>
          </a:xfrm>
          <a:prstGeom prst="roundRect">
            <a:avLst>
              <a:gd name="adj" fmla="val 6338"/>
            </a:avLst>
          </a:prstGeom>
          <a:solidFill>
            <a:srgbClr val="0F0F0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32826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 Cr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0" y="39502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penalty for violating children's data provisions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4654296"/>
            <a:ext cx="4389120" cy="1298448"/>
          </a:xfrm>
          <a:prstGeom prst="roundRect">
            <a:avLst>
              <a:gd name="adj" fmla="val 6338"/>
            </a:avLst>
          </a:prstGeom>
          <a:solidFill>
            <a:srgbClr val="0F0F0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476402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52360" y="5431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flows on regular YouTube today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share one decision: the teen, and the parent who must verify it.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214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15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295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TEEN — PRIMARY DATA PRINCIPAL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29626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Entertainment, exam-prep content, gaming and K-pop communities, staying connected with friends.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383133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hrs/day on her own phone, signed in with a personal Google account. Considers YouTube Kids “for babies.”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TODAY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470001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think about data at all today — and will resent anything that feels like surveillance or an extra hoop to jump through.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PRIVACY MATTERS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68680" y="55686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legally a child under DPDP, whether she feels like one or not. Any solution must feel respectful of her autonomy, not punitive.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1984248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2140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Meera, 42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178040" y="2295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— CONSENT VERIFIER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92240" y="27432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492240" y="29626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Priya safe from targeted ads, doomscrolling, and inappropriate content — without becoming the “controlling parent” who reads every message.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492240" y="36118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492240" y="383133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tech-savvy; already uses Family Link for a younger child, but finds it too heavy-handed for a teenager.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492240" y="448056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TODAY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492240" y="470001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today into what YouTube collects about Priya or how recommendations are built. Family Link doesn't fit a 15-year-old's needs.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92240" y="53492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PRIVACY MATTERS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492240" y="55686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legally accountable for consenting on Priya's behalf — the flow must be fast, trustworthy, and not feel like spying.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CURRENT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teen experience falls short of DPDP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13–17 year old signs up with a self-declared birth date, gets the standard adult experience minus a handful of digital-wellbeing nudges — personalisation, targeted ads and social features are all on by default.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58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000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parental consent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9(1) requires verified consent from a parent before processing a child's data. Today: none captured, none verified.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258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500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 still 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9(3) bans behavioural monitoring and targeted advertising directed at children. Personalised ads remain the default for teens.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258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5000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purpose-based consent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6676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blanket “I agree” at sign-up covers everything — not the granular, purpose-specific consent DPDP expects.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544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3600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are buried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correction, download and erasure exist somewhere in Google Account settings — not surfaced for a minor's account or their parent.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343400" y="4343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544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63600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isn't easy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one-tap way to withdraw consent for a specific purpose (e.g. ads) without leaving the platform.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8138160" y="43434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4544568"/>
            <a:ext cx="402336" cy="402336"/>
          </a:xfrm>
          <a:prstGeom prst="ellipse">
            <a:avLst/>
          </a:prstGeom>
          <a:solidFill>
            <a:srgbClr val="FFEAE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636008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 child notice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6676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generic privacy policy is shown to a 45-year-old and a 13-year-old.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Privacy &amp; Consent 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verified-parent-linked teen account, paired with a transparent, teen-facing dashboard — not a lockdown, a light-touch trust layer.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914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check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9659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55848" y="1965960"/>
            <a:ext cx="2606040" cy="914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verified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(DigiLocker/OTP)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61888" y="19659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63056" y="1965960"/>
            <a:ext cx="2606040" cy="914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Purpose-based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69096" y="19659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70264" y="1965960"/>
            <a:ext cx="2606040" cy="914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dashboard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7272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447288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384048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416052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default for teens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29000" y="32461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7272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44728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30168" y="384048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630168" y="416052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not behavioural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309360" y="32461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7272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44728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10528" y="384048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510528" y="416052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Reduced, teen-tuned defaults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189720" y="32461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7272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3447288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90888" y="384048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rights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390888" y="416052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delete, one tap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4892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AND NOT THE ALTERNATIVES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77240" y="533095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full YouTube Kids-style lockdown: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teen engagement and doesn't match how teens see themselves.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self-declared age only: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“verifiable” bar in Rule 10, high legal exposure.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— verified-parent link + teen dashboard: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compliance bar while keeping the teen in control of their own experience.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North Star. Three supporting signals. Two guardrails.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F0F0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10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828800" y="2084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Consent Coverage (VCC)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2487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identified 13–17 accounts with valid, current, verifiable parental consent on record.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429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37764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completion rate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9808" y="41605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flow started → completed. Measures whether the ask itself works.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9768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429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98848" y="37764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time-to-verify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98848" y="41605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from prompt to verified consent. A friction signal.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046720" y="32461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34290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7888" y="37764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7-day retention post-flow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247888" y="41605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flow doesn't quietly push teens off the platform.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5440680"/>
            <a:ext cx="128016" cy="12801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DAU / session-time delta — the fix must not tank engagement.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897880"/>
            <a:ext cx="128016" cy="12801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flow abandonment rate &amp; support tickets — the ask must not feel broken or hostile.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“working” looks like, over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0F0F0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611880" cy="3200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 5–20% of prompted teen accounts.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30723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consent completion among prompted teens</a:t>
            </a:r>
            <a:endParaRPr lang="en-US" sz="103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0690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403250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&lt; 2% of prompted users</a:t>
            </a:r>
            <a:endParaRPr lang="en-US" sz="103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292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49926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P0 verification-vendor incidents</a:t>
            </a:r>
            <a:endParaRPr lang="en-US" sz="1030" dirty="0"/>
          </a:p>
        </p:txBody>
      </p:sp>
      <p:sp>
        <p:nvSpPr>
          <p:cNvPr id="15" name="Shape 10"/>
          <p:cNvSpPr/>
          <p:nvPr/>
        </p:nvSpPr>
        <p:spPr>
          <a:xfrm>
            <a:off x="429768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97680" y="16916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0F0F0F"/>
          </a:solidFill>
          <a:ln/>
        </p:spPr>
      </p:sp>
      <p:sp>
        <p:nvSpPr>
          <p:cNvPr id="17" name="Shape 12"/>
          <p:cNvSpPr/>
          <p:nvPr/>
        </p:nvSpPr>
        <p:spPr>
          <a:xfrm>
            <a:off x="4297680" y="2057400"/>
            <a:ext cx="3611880" cy="3200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3"/>
          <p:cNvSpPr/>
          <p:nvPr/>
        </p:nvSpPr>
        <p:spPr>
          <a:xfrm>
            <a:off x="452628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90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526280" y="2514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rolled out nationally.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10896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28032" y="30723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Verified Consent Coverage on identified teen accounts</a:t>
            </a:r>
            <a:endParaRPr lang="en-US" sz="103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06908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28032" y="403250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engagement delta within −3% of control</a:t>
            </a:r>
            <a:endParaRPr lang="en-US" sz="103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502920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28032" y="49926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grievances open past the 90-day DPDP SLA</a:t>
            </a:r>
            <a:endParaRPr lang="en-US" sz="1030" dirty="0"/>
          </a:p>
        </p:txBody>
      </p:sp>
      <p:sp>
        <p:nvSpPr>
          <p:cNvPr id="26" name="Shape 18"/>
          <p:cNvSpPr/>
          <p:nvPr/>
        </p:nvSpPr>
        <p:spPr>
          <a:xfrm>
            <a:off x="804672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46720" y="16916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0F0F0F"/>
          </a:solidFill>
          <a:ln/>
        </p:spPr>
      </p:sp>
      <p:sp>
        <p:nvSpPr>
          <p:cNvPr id="28" name="Shape 20"/>
          <p:cNvSpPr/>
          <p:nvPr/>
        </p:nvSpPr>
        <p:spPr>
          <a:xfrm>
            <a:off x="8046720" y="2057400"/>
            <a:ext cx="3611880" cy="3200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9" name="Text 21"/>
          <p:cNvSpPr/>
          <p:nvPr/>
        </p:nvSpPr>
        <p:spPr>
          <a:xfrm>
            <a:off x="827532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180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8275320" y="2514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compliance posture.</a:t>
            </a:r>
            <a:endParaRPr lang="en-US" sz="11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10896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577072" y="30723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VCC sustained</a:t>
            </a:r>
            <a:endParaRPr lang="en-US" sz="103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06908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577072" y="403250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 / download / delete self-serve, &lt; 24 hr median</a:t>
            </a:r>
            <a:endParaRPr lang="en-US" sz="103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502920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577072" y="49926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internal DPIA / audit-readiness review</a:t>
            </a:r>
            <a:endParaRPr lang="en-US" sz="1030" dirty="0"/>
          </a:p>
        </p:txBody>
      </p:sp>
      <p:sp>
        <p:nvSpPr>
          <p:cNvPr id="37" name="Text 2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DIAGNOSTIC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Verified Consent Coverage drops 15% in 3 weeks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TREE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476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break  —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OTP/DigiLocker verification vendor outage or a broken app release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10896" cy="310896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694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shift  —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surge in new teen sign-ups outpacing verification capacity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310896" cy="310896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912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Parent-side drop  —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SMS/push delivery failures, or a Family Link update breaking linkage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310896" cy="310896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8130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bug  —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to how “current consent” is calculated, not real behaviour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310896" cy="310896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  —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permission dialog or Play Store policy change interfering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83080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I'D PULL FIRST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2194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consent funnel conversion · verification-vendor error logs · new-teen-signup volume trend · SMS/push delivery success rate · breakdown by app version · geographic split (India-wide vs one telecom circle).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APPROACH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3566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 out a measurement bug in the VCC ratio itself. Then isolate whether the drop sits in the numerator (consents expiring/revoked) or the denominator (a surge of new unconsented teens) before assuming a real behavioural cause.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4922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92240" y="4892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the correlated release if one exists · hotfix the verification-vendor integration · add reminder nudges or an alternate verification channel if it's genuine parent friction · run a post-incident review before re-expanding rollout.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the health of the Consent Hub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for illustration.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19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spc="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CONSENT COVERAGE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4.1 pts vs last week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0" y="1600200"/>
          <a:ext cx="4846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8229600" y="1600200"/>
          <a:ext cx="3383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1856232" cy="1234440"/>
          </a:xfrm>
          <a:prstGeom prst="roundRect">
            <a:avLst>
              <a:gd name="adj" fmla="val 5185"/>
            </a:avLst>
          </a:prstGeom>
          <a:solidFill>
            <a:srgbClr val="1F1F1F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72160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85800" y="402336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7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13–14: 71%  ·  15–16: 81%  ·  17: 86%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2514600" y="3611880"/>
            <a:ext cx="1856232" cy="1234440"/>
          </a:xfrm>
          <a:prstGeom prst="roundRect">
            <a:avLst>
              <a:gd name="adj" fmla="val 5185"/>
            </a:avLst>
          </a:prstGeom>
          <a:solidFill>
            <a:srgbClr val="1F1F1F"/>
          </a:solidFill>
          <a:ln/>
        </p:spPr>
      </p:sp>
      <p:sp>
        <p:nvSpPr>
          <p:cNvPr id="16" name="Text 12"/>
          <p:cNvSpPr/>
          <p:nvPr/>
        </p:nvSpPr>
        <p:spPr>
          <a:xfrm>
            <a:off x="2651760" y="372160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platform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651760" y="402336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7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76%  ·  iOS 84%  ·  Web 69%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4480560" y="3611880"/>
            <a:ext cx="1856232" cy="1234440"/>
          </a:xfrm>
          <a:prstGeom prst="roundRect">
            <a:avLst>
              <a:gd name="adj" fmla="val 5185"/>
            </a:avLst>
          </a:prstGeom>
          <a:solidFill>
            <a:srgbClr val="1F1F1F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720" y="372160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device tier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17720" y="402336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7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68%  ·  Mid: 79%  ·  Premium: 88%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6446520" y="3611880"/>
            <a:ext cx="1856232" cy="1234440"/>
          </a:xfrm>
          <a:prstGeom prst="roundRect">
            <a:avLst>
              <a:gd name="adj" fmla="val 5185"/>
            </a:avLst>
          </a:prstGeom>
          <a:solidFill>
            <a:srgbClr val="1F1F1F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372160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traffic source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83680" y="402336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7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82%  ·  Referral 74%  ·  Paid 65%</a:t>
            </a:r>
            <a:endParaRPr lang="en-US" sz="870" dirty="0"/>
          </a:p>
        </p:txBody>
      </p:sp>
      <p:sp>
        <p:nvSpPr>
          <p:cNvPr id="24" name="Shape 20"/>
          <p:cNvSpPr/>
          <p:nvPr/>
        </p:nvSpPr>
        <p:spPr>
          <a:xfrm>
            <a:off x="8229600" y="46634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1F1F1F"/>
          </a:solidFill>
          <a:ln/>
        </p:spPr>
      </p:sp>
      <p:sp>
        <p:nvSpPr>
          <p:cNvPr id="25" name="Text 21"/>
          <p:cNvSpPr/>
          <p:nvPr/>
        </p:nvSpPr>
        <p:spPr>
          <a:xfrm>
            <a:off x="8412480" y="4773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GEOGRAPHY (TOP STATES)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412480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3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81%  ·  UP 74%  ·  Karnataka 85%  ·  Tamil Nadu 80%  ·  Bihar 68%</a:t>
            </a:r>
            <a:endParaRPr lang="en-US" sz="930" dirty="0"/>
          </a:p>
        </p:txBody>
      </p:sp>
      <p:sp>
        <p:nvSpPr>
          <p:cNvPr id="27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ROLLOUT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sign-off gates every expansion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0F0F0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391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0F0F0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393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95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92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397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99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40112" y="182880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49840" y="1828800"/>
            <a:ext cx="1490472" cy="777240"/>
          </a:xfrm>
          <a:prstGeom prst="roundRect">
            <a:avLst>
              <a:gd name="adj" fmla="val 49412"/>
            </a:avLst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1828800"/>
            <a:ext cx="1399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743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+ risk monitoring gate every stage from 5% onward — shown in 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43814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82219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with teens and parents on consent-flow tone; legal review of Rule 10 verification methods (DigiLocker token vs OTP).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343814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testing → employee beta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98848" y="382219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 with Googlers' own teen-aged dependents where available; fix obvious friction before any external exposure.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43814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5% → 100%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7888" y="382219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requires: VCC and completion-rate thresholds met, support-ticket rate within bounds, and explicit legal sign-off before expanding.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F0F0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148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— WHERE IT IS, AND ISN'T, APPROPRIATE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" y="544982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 for verifiable consent itself — it's a legal floor, not a feature choice; there can be no unconsented control group for a legally protected class.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consent-screen microcopy, and verification-nudge channel/timing (push vs SMS vs in-app) — primary metric: completion rate; guardrail: abandonment &amp; complaint rate.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RISKS &amp;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accepting to get this right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659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DigiLocker/token integration reliability; OTP delivery delays across Indian telecom circles at scale.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9659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98848" y="22860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 exemptions aren't published yet — we're building to the strictest reading of Section 9.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9659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47888" y="22860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Ads-off-by-default for teens lowers CPM on one of India's largest demographic cohorts.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478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8679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consent on existing teen accounts risks a short-term dip in teen sign-ups and activity.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34107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5478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98848" y="38679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parent introduces new PII — that data itself must be minimised and secured.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34107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5478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47888" y="38679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may resent “asking mom.” Mitigated by framing it as one-time and transparent, with the teen holding real control afterward.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67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WE'RE ACCEPTING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prioritising verified compliance and long-term trust over near-term teen engagement and ad revenue — accepting slower teen growth in exchange for regulatory safety.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 HUB — YOUTUBE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&amp; Consent Hub — YouTube x DPDP Act 2023</dc:title>
  <dc:subject>PptxGenJS Presentation</dc:subject>
  <dc:creator>Jepas</dc:creator>
  <cp:lastModifiedBy>Jepas</cp:lastModifiedBy>
  <cp:revision>1</cp:revision>
  <dcterms:created xsi:type="dcterms:W3CDTF">2026-07-02T18:14:03Z</dcterms:created>
  <dcterms:modified xsi:type="dcterms:W3CDTF">2026-07-02T18:14:03Z</dcterms:modified>
</cp:coreProperties>
</file>