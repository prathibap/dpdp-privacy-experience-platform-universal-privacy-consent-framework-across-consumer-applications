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1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2933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F2933"/>
                </a:solidFill>
                <a:latin typeface="Arial"/>
              </a:rPr>
              <a:t>What makes up the 87 Trust Score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0E9F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9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Consent freshness</c:v>
                  </c:pt>
                  <c:pt idx="1">
                    <c:v>Rights response speed</c:v>
                  </c:pt>
                  <c:pt idx="2">
                    <c:v>Data minimization</c:v>
                  </c:pt>
                  <c:pt idx="3">
                    <c:v>3rd-party disclosure clarity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98</c:v>
                </c:pt>
                <c:pt idx="1">
                  <c:v>95</c:v>
                </c:pt>
                <c:pt idx="2">
                  <c:v>82</c:v>
                </c:pt>
                <c:pt idx="3">
                  <c:v>73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F29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7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b"/>
        <c:majorGridlines>
          <c:spPr>
            <a:ln w="6350" cap="flat">
              <a:solidFill>
                <a:srgbClr val="E2E5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7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1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1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1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png"/><Relationship Id="rId10" Type="http://schemas.openxmlformats.org/officeDocument/2006/relationships/image" Target="../media/image-14-9.png"/><Relationship Id="rId11" Type="http://schemas.openxmlformats.org/officeDocument/2006/relationships/image" Target="../media/image-14-9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9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C2203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291840"/>
            <a:ext cx="4114800" cy="4114800"/>
          </a:xfrm>
          <a:prstGeom prst="ellipse">
            <a:avLst/>
          </a:prstGeom>
          <a:solidFill>
            <a:srgbClr val="E23744">
              <a:alpha val="30000"/>
            </a:srgbClr>
          </a:solidFill>
          <a:ln/>
        </p:spPr>
      </p:sp>
      <p:pic>
        <p:nvPicPr>
          <p:cNvPr id="4" name="Image 0" descr="icons/shield_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86868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3000" y="8686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23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CASE STUDY  ·  DPDP ACT, 2023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94360" y="233172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Zomato Privacy Hub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594360" y="342900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C7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Redesigning consent, transparency and data rights end-to-end — from a single checkbox to a 21-screen self-serve Privacy Hub.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21792" y="5074920"/>
            <a:ext cx="2011680" cy="0"/>
          </a:xfrm>
          <a:prstGeom prst="line">
            <a:avLst/>
          </a:prstGeom>
          <a:noFill/>
          <a:ln w="25400">
            <a:solidFill>
              <a:srgbClr val="E2374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4360" y="5212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Prathiba P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94360" y="55595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A3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Management Case Study  ·  Companion to the clickable prototype &amp; PRD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23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bundled checkbox is a business risk, not just a UX gap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Consent, notice and data-rights handling are fragmented across teams — with no self-serve way for a user to see or change what they've agreed to.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514600" cy="2331720"/>
          </a:xfrm>
          <a:prstGeom prst="roundRect">
            <a:avLst>
              <a:gd name="adj" fmla="val 3529"/>
            </a:avLst>
          </a:prstGeom>
          <a:solidFill>
            <a:srgbClr val="FDFBF8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2587752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23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85800" y="347472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consent checkbox</a:t>
            </a:r>
            <a:endParaRPr lang="en-US" sz="12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covers every purpose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319272" y="2331720"/>
            <a:ext cx="2514600" cy="2331720"/>
          </a:xfrm>
          <a:prstGeom prst="roundRect">
            <a:avLst>
              <a:gd name="adj" fmla="val 3529"/>
            </a:avLst>
          </a:prstGeom>
          <a:solidFill>
            <a:srgbClr val="FDFBF8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19272" y="2587752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B57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456432" y="347472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contact driver:</a:t>
            </a:r>
            <a:endParaRPr lang="en-US" sz="12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&amp; deletion requests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089904" y="2331720"/>
            <a:ext cx="2514600" cy="2331720"/>
          </a:xfrm>
          <a:prstGeom prst="roundRect">
            <a:avLst>
              <a:gd name="adj" fmla="val 3529"/>
            </a:avLst>
          </a:prstGeom>
          <a:solidFill>
            <a:srgbClr val="FDFBF8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089904" y="2587752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&lt;60%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227064" y="347472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opt-in —</a:t>
            </a:r>
            <a:endParaRPr lang="en-US" sz="12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caps retention reach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860536" y="2331720"/>
            <a:ext cx="2514600" cy="2331720"/>
          </a:xfrm>
          <a:prstGeom prst="roundRect">
            <a:avLst>
              <a:gd name="adj" fmla="val 3529"/>
            </a:avLst>
          </a:prstGeom>
          <a:solidFill>
            <a:srgbClr val="FDFBF8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860536" y="2587752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E9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8997696" y="347472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 time to resolve a</a:t>
            </a:r>
            <a:endParaRPr lang="en-US" sz="12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access/delete request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502920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DPDP Act, 2023 </a:t>
            </a:r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B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requires itemised notice, purpose-limited and specific consent, withdrawal “as easy as it was to give,” a named Grievance Officer, and timely rights fulfilment. Today's experience meets none of these by design — not because anyone chose to ignore them, but because privacy was never treated as a product surface.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Zomato Privacy Hub  ·  DPDP Act, 2023 Redesign  ·  Prathiba P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23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RESEARCH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 Priya — convenience-first, not privacy-paranoid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291840" cy="4709160"/>
          </a:xfrm>
          <a:prstGeom prst="roundRect">
            <a:avLst>
              <a:gd name="adj" fmla="val 2500"/>
            </a:avLst>
          </a:prstGeom>
          <a:solidFill>
            <a:srgbClr val="E23744"/>
          </a:solidFill>
          <a:ln/>
        </p:spPr>
      </p:sp>
      <p:sp>
        <p:nvSpPr>
          <p:cNvPr id="5" name="Shape 3"/>
          <p:cNvSpPr/>
          <p:nvPr/>
        </p:nvSpPr>
        <p:spPr>
          <a:xfrm>
            <a:off x="1417320" y="1783080"/>
            <a:ext cx="1554480" cy="15544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1417320" y="17830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23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31520" y="34747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Priya Sharma, 26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8404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BDA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Analyst, Bengaluru</a:t>
            </a:r>
            <a:endParaRPr lang="en-US" sz="12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BDA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Orders 4–6x / week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188720" y="4617720"/>
            <a:ext cx="2011680" cy="0"/>
          </a:xfrm>
          <a:prstGeom prst="line">
            <a:avLst/>
          </a:prstGeom>
          <a:noFill/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480060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“If you're going to use my data, tell me for what — and let me say no to just that one thing.”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160520" y="1463040"/>
            <a:ext cx="7452360" cy="1417320"/>
          </a:xfrm>
          <a:prstGeom prst="roundRect">
            <a:avLst>
              <a:gd name="adj" fmla="val 5806"/>
            </a:avLst>
          </a:prstGeom>
          <a:solidFill>
            <a:srgbClr val="FDFBF8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12" name="Image 0" descr="icons/eye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16552" y="1719072"/>
            <a:ext cx="457200" cy="4572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029200" y="164592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visibility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5029200" y="2029968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Wants to know exactly who has her phone number and live location during a delivery — without digging.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4160520" y="3063240"/>
            <a:ext cx="7452360" cy="1417320"/>
          </a:xfrm>
          <a:prstGeom prst="roundRect">
            <a:avLst>
              <a:gd name="adj" fmla="val 5806"/>
            </a:avLst>
          </a:prstGeom>
          <a:solidFill>
            <a:srgbClr val="FDFBF8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16" name="Image 1" descr="icons/toggle_emera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6552" y="3319272"/>
            <a:ext cx="457200" cy="4572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029200" y="324612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isolation, not all-or-nothing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5029200" y="3630168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Wants to turn off marketing without worrying it will silently affect order tracking.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4160520" y="4663440"/>
            <a:ext cx="7452360" cy="1417320"/>
          </a:xfrm>
          <a:prstGeom prst="roundRect">
            <a:avLst>
              <a:gd name="adj" fmla="val 5806"/>
            </a:avLst>
          </a:prstGeom>
          <a:solidFill>
            <a:srgbClr val="FDFBF8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20" name="Image 2" descr="icons/comment_amb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6552" y="4919472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029200" y="484632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Won't read a policy, will tap a card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5029200" y="5230368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without friction: a 3-step onboarding works; a legal document does not.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Zomato Privacy Hub  ·  DPDP Act, 2023 Redesign  ·  Prathiba P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23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EXPERIENCE AUDIT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gap traces back to one root cause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was designed as a one-time legal formality, not an ongoing, revisitable product surface.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846320"/>
                <a:gridCol w="4023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Touchpoint</a:t>
                      </a:r>
                      <a:endParaRPr lang="en-US" sz="1200" dirty="0"/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Today</a:t>
                      </a:r>
                      <a:endParaRPr lang="en-US" sz="1200" dirty="0"/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DPDP / trust gap</a:t>
                      </a:r>
                      <a:endParaRPr lang="en-US" sz="1200" dirty="0"/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</a:rPr>
                        <a:t>Signup</a:t>
                      </a:r>
                      <a:endParaRPr lang="en-US" sz="1150" dirty="0"/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</a:rPr>
                        <a:t>One checkbox covers every purpose</a:t>
                      </a:r>
                      <a:endParaRPr lang="en-US" sz="1150" dirty="0"/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22030"/>
                          </a:solidFill>
                        </a:rPr>
                        <a:t>No purpose-wise consent (Sec. 6)</a:t>
                      </a:r>
                      <a:endParaRPr lang="en-US" sz="1150" dirty="0"/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</a:rPr>
                        <a:t>Location</a:t>
                      </a:r>
                      <a:endParaRPr lang="en-US" sz="1150" dirty="0"/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</a:rPr>
                        <a:t>“Allow — Always” at first launch</a:t>
                      </a:r>
                      <a:endParaRPr lang="en-US" sz="1150" dirty="0"/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22030"/>
                          </a:solidFill>
                        </a:rPr>
                        <a:t>Broader than necessary; no context</a:t>
                      </a:r>
                      <a:endParaRPr lang="en-US" sz="1150" dirty="0"/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</a:rPr>
                        <a:t>Marketing</a:t>
                      </a:r>
                      <a:endParaRPr lang="en-US" sz="1150" dirty="0"/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</a:rPr>
                        <a:t>One toggle for all channels</a:t>
                      </a:r>
                      <a:endParaRPr lang="en-US" sz="1150" dirty="0"/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22030"/>
                          </a:solidFill>
                        </a:rPr>
                        <a:t>Bundled; withdrawal isn't granular</a:t>
                      </a:r>
                      <a:endParaRPr lang="en-US" sz="1150" dirty="0"/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</a:rPr>
                        <a:t>Download / Delete</a:t>
                      </a:r>
                      <a:endParaRPr lang="en-US" sz="1150" dirty="0"/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</a:rPr>
                        <a:t>Email support, manual processing</a:t>
                      </a:r>
                      <a:endParaRPr lang="en-US" sz="1150" dirty="0"/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22030"/>
                          </a:solidFill>
                        </a:rPr>
                        <a:t>Not self-serve; slow SLA</a:t>
                      </a:r>
                      <a:endParaRPr lang="en-US" sz="1150" dirty="0"/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</a:rPr>
                        <a:t>Grievance</a:t>
                      </a:r>
                      <a:endParaRPr lang="en-US" sz="1150" dirty="0"/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</a:rPr>
                        <a:t>Generic chatbot only</a:t>
                      </a:r>
                      <a:endParaRPr lang="en-US" sz="1150" dirty="0"/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22030"/>
                          </a:solidFill>
                        </a:rPr>
                        <a:t>No named Grievance Officer (Sec. 13)</a:t>
                      </a:r>
                      <a:endParaRPr lang="en-US" sz="1150" dirty="0"/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</a:rPr>
                        <a:t>Third-party sharing</a:t>
                      </a:r>
                      <a:endParaRPr lang="en-US" sz="1150" dirty="0"/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</a:rPr>
                        <a:t>Not disclosed in-app at all</a:t>
                      </a:r>
                      <a:endParaRPr lang="en-US" sz="1150" dirty="0"/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22030"/>
                          </a:solidFill>
                        </a:rPr>
                        <a:t>Zero field-level transparency</a:t>
                      </a:r>
                      <a:endParaRPr lang="en-US" sz="1150" dirty="0"/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2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Zomato Privacy Hub  ·  DPDP Act, 2023 Redesign  ·  Prathiba P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29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3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Hub v2 — four pillars, one Trust Score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connected screens, reachable in three taps from Account — not buried, not bundled.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2A313B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423160"/>
            <a:ext cx="640080" cy="640080"/>
          </a:xfrm>
          <a:prstGeom prst="ellipse">
            <a:avLst/>
          </a:prstGeom>
          <a:solidFill>
            <a:srgbClr val="E23744"/>
          </a:solidFill>
          <a:ln/>
        </p:spPr>
      </p:sp>
      <p:pic>
        <p:nvPicPr>
          <p:cNvPr id="7" name="Image 0" descr="icons/ey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2578608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32461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77240" y="3657600"/>
            <a:ext cx="2148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B7BE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Score, Live Data Flow Map, Privacy Nutrition Label — see your data situation at a glance.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383280" y="214884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2A313B"/>
          </a:solidFill>
          <a:ln/>
        </p:spPr>
      </p:sp>
      <p:sp>
        <p:nvSpPr>
          <p:cNvPr id="11" name="Shape 8"/>
          <p:cNvSpPr/>
          <p:nvPr/>
        </p:nvSpPr>
        <p:spPr>
          <a:xfrm>
            <a:off x="3611880" y="2423160"/>
            <a:ext cx="640080" cy="640080"/>
          </a:xfrm>
          <a:prstGeom prst="ellipse">
            <a:avLst/>
          </a:prstGeom>
          <a:solidFill>
            <a:srgbClr val="E23744"/>
          </a:solidFill>
          <a:ln/>
        </p:spPr>
      </p:sp>
      <p:pic>
        <p:nvPicPr>
          <p:cNvPr id="12" name="Image 1" descr="icons/toggl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7328" y="2578608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11880" y="32461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11880" y="3657600"/>
            <a:ext cx="2148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B7BE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Purpose, channel, and field-level controls for location, marketing, restaurant &amp; delivery sharing.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217920" y="214884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2A313B"/>
          </a:solidFill>
          <a:ln/>
        </p:spPr>
      </p:sp>
      <p:sp>
        <p:nvSpPr>
          <p:cNvPr id="16" name="Shape 12"/>
          <p:cNvSpPr/>
          <p:nvPr/>
        </p:nvSpPr>
        <p:spPr>
          <a:xfrm>
            <a:off x="6446520" y="2423160"/>
            <a:ext cx="640080" cy="640080"/>
          </a:xfrm>
          <a:prstGeom prst="ellipse">
            <a:avLst/>
          </a:prstGeom>
          <a:solidFill>
            <a:srgbClr val="E23744"/>
          </a:solidFill>
          <a:ln/>
        </p:spPr>
      </p:sp>
      <p:pic>
        <p:nvPicPr>
          <p:cNvPr id="17" name="Image 2" descr="icons/downloa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1968" y="2578608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46520" y="32461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data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46520" y="3657600"/>
            <a:ext cx="2148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B7BE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Self-serve download, delete, and a full consent timeline with timestamped receipts.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9052560" y="214884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2A313B"/>
          </a:solidFill>
          <a:ln/>
        </p:spPr>
      </p:sp>
      <p:sp>
        <p:nvSpPr>
          <p:cNvPr id="21" name="Shape 16"/>
          <p:cNvSpPr/>
          <p:nvPr/>
        </p:nvSpPr>
        <p:spPr>
          <a:xfrm>
            <a:off x="9281160" y="2423160"/>
            <a:ext cx="640080" cy="640080"/>
          </a:xfrm>
          <a:prstGeom prst="ellipse">
            <a:avLst/>
          </a:prstGeom>
          <a:solidFill>
            <a:srgbClr val="E23744"/>
          </a:solidFill>
          <a:ln/>
        </p:spPr>
      </p:sp>
      <p:pic>
        <p:nvPicPr>
          <p:cNvPr id="22" name="Image 3" descr="icons/gavel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6608" y="2578608"/>
            <a:ext cx="329184" cy="32918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81160" y="32461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&amp; support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281160" y="3657600"/>
            <a:ext cx="2148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B7BE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log, a named Grievance Officer, and a visible roadmap — plus an always-on AI assistant.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Zomato Privacy Hub  ·  DPDP Act, 2023 Redesign  ·  Prathiba P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23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screens, five clusters, one entry point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leaf screen is one tap from the Hub, and one tap back.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121408" cy="4160520"/>
          </a:xfrm>
          <a:prstGeom prst="roundRect">
            <a:avLst>
              <a:gd name="adj" fmla="val 3879"/>
            </a:avLst>
          </a:prstGeom>
          <a:solidFill>
            <a:srgbClr val="FDFBF8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965960"/>
            <a:ext cx="2121408" cy="502920"/>
          </a:xfrm>
          <a:prstGeom prst="rect">
            <a:avLst/>
          </a:prstGeom>
          <a:solidFill>
            <a:srgbClr val="E23744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965960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 &amp; Consent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13232" y="2624328"/>
            <a:ext cx="1792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3099816"/>
            <a:ext cx="1847088" cy="0"/>
          </a:xfrm>
          <a:prstGeom prst="line">
            <a:avLst/>
          </a:prstGeom>
          <a:noFill/>
          <a:ln w="9525">
            <a:solidFill>
              <a:srgbClr val="E2E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3154680"/>
            <a:ext cx="1792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Onboarding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3630168"/>
            <a:ext cx="1847088" cy="0"/>
          </a:xfrm>
          <a:prstGeom prst="line">
            <a:avLst/>
          </a:prstGeom>
          <a:noFill/>
          <a:ln w="9525">
            <a:solidFill>
              <a:srgbClr val="E2E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3685032"/>
            <a:ext cx="1792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Purpose-wise Consent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" y="4160520"/>
            <a:ext cx="1847088" cy="0"/>
          </a:xfrm>
          <a:prstGeom prst="line">
            <a:avLst/>
          </a:prstGeom>
          <a:noFill/>
          <a:ln w="9525">
            <a:solidFill>
              <a:srgbClr val="E2E5E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16352" y="1965960"/>
            <a:ext cx="2121408" cy="4160520"/>
          </a:xfrm>
          <a:prstGeom prst="roundRect">
            <a:avLst>
              <a:gd name="adj" fmla="val 3879"/>
            </a:avLst>
          </a:prstGeom>
          <a:solidFill>
            <a:srgbClr val="FDFBF8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816352" y="1965960"/>
            <a:ext cx="2121408" cy="502920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16" name="Text 14"/>
          <p:cNvSpPr/>
          <p:nvPr/>
        </p:nvSpPr>
        <p:spPr>
          <a:xfrm>
            <a:off x="2907792" y="1965960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980944" y="2624328"/>
            <a:ext cx="1792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Dashboard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53512" y="3099816"/>
            <a:ext cx="1847088" cy="0"/>
          </a:xfrm>
          <a:prstGeom prst="line">
            <a:avLst/>
          </a:prstGeom>
          <a:noFill/>
          <a:ln w="9525">
            <a:solidFill>
              <a:srgbClr val="E2E5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80944" y="3154680"/>
            <a:ext cx="1792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Data Flow Map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953512" y="3630168"/>
            <a:ext cx="1847088" cy="0"/>
          </a:xfrm>
          <a:prstGeom prst="line">
            <a:avLst/>
          </a:prstGeom>
          <a:noFill/>
          <a:ln w="9525">
            <a:solidFill>
              <a:srgbClr val="E2E5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80944" y="3685032"/>
            <a:ext cx="1792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Nutrition Label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953512" y="4160520"/>
            <a:ext cx="1847088" cy="0"/>
          </a:xfrm>
          <a:prstGeom prst="line">
            <a:avLst/>
          </a:prstGeom>
          <a:noFill/>
          <a:ln w="9525">
            <a:solidFill>
              <a:srgbClr val="E2E5E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84064" y="1965960"/>
            <a:ext cx="2121408" cy="4160520"/>
          </a:xfrm>
          <a:prstGeom prst="roundRect">
            <a:avLst>
              <a:gd name="adj" fmla="val 3879"/>
            </a:avLst>
          </a:prstGeom>
          <a:solidFill>
            <a:srgbClr val="FDFBF8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084064" y="1965960"/>
            <a:ext cx="2121408" cy="502920"/>
          </a:xfrm>
          <a:prstGeom prst="rect">
            <a:avLst/>
          </a:prstGeom>
          <a:solidFill>
            <a:srgbClr val="0E9F6E"/>
          </a:solidFill>
          <a:ln/>
        </p:spPr>
      </p:sp>
      <p:sp>
        <p:nvSpPr>
          <p:cNvPr id="25" name="Text 23"/>
          <p:cNvSpPr/>
          <p:nvPr/>
        </p:nvSpPr>
        <p:spPr>
          <a:xfrm>
            <a:off x="5175504" y="1965960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248656" y="2624328"/>
            <a:ext cx="1792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Consent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221224" y="3099816"/>
            <a:ext cx="1847088" cy="0"/>
          </a:xfrm>
          <a:prstGeom prst="line">
            <a:avLst/>
          </a:prstGeom>
          <a:noFill/>
          <a:ln w="9525">
            <a:solidFill>
              <a:srgbClr val="E2E5E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48656" y="3154680"/>
            <a:ext cx="1792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221224" y="3630168"/>
            <a:ext cx="1847088" cy="0"/>
          </a:xfrm>
          <a:prstGeom prst="line">
            <a:avLst/>
          </a:prstGeom>
          <a:noFill/>
          <a:ln w="9525">
            <a:solidFill>
              <a:srgbClr val="E2E5E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48656" y="3685032"/>
            <a:ext cx="1792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221224" y="4160520"/>
            <a:ext cx="1847088" cy="0"/>
          </a:xfrm>
          <a:prstGeom prst="line">
            <a:avLst/>
          </a:prstGeom>
          <a:noFill/>
          <a:ln w="9525">
            <a:solidFill>
              <a:srgbClr val="E2E5E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48656" y="4215384"/>
            <a:ext cx="1792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Restaurant Sharing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221224" y="4690872"/>
            <a:ext cx="1847088" cy="0"/>
          </a:xfrm>
          <a:prstGeom prst="line">
            <a:avLst/>
          </a:prstGeom>
          <a:noFill/>
          <a:ln w="9525">
            <a:solidFill>
              <a:srgbClr val="E2E5E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48656" y="4745736"/>
            <a:ext cx="1792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Sharing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221224" y="5221224"/>
            <a:ext cx="1847088" cy="0"/>
          </a:xfrm>
          <a:prstGeom prst="line">
            <a:avLst/>
          </a:prstGeom>
          <a:noFill/>
          <a:ln w="9525">
            <a:solidFill>
              <a:srgbClr val="E2E5E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48656" y="5276088"/>
            <a:ext cx="1792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Sharing Ledger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221224" y="5751576"/>
            <a:ext cx="1847088" cy="0"/>
          </a:xfrm>
          <a:prstGeom prst="line">
            <a:avLst/>
          </a:prstGeom>
          <a:noFill/>
          <a:ln w="9525">
            <a:solidFill>
              <a:srgbClr val="E2E5E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51776" y="1965960"/>
            <a:ext cx="2121408" cy="4160520"/>
          </a:xfrm>
          <a:prstGeom prst="roundRect">
            <a:avLst>
              <a:gd name="adj" fmla="val 3879"/>
            </a:avLst>
          </a:prstGeom>
          <a:solidFill>
            <a:srgbClr val="FDFBF8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7351776" y="1965960"/>
            <a:ext cx="2121408" cy="502920"/>
          </a:xfrm>
          <a:prstGeom prst="rect">
            <a:avLst/>
          </a:prstGeom>
          <a:solidFill>
            <a:srgbClr val="B5760A"/>
          </a:solidFill>
          <a:ln/>
        </p:spPr>
      </p:sp>
      <p:sp>
        <p:nvSpPr>
          <p:cNvPr id="40" name="Text 38"/>
          <p:cNvSpPr/>
          <p:nvPr/>
        </p:nvSpPr>
        <p:spPr>
          <a:xfrm>
            <a:off x="7443216" y="1965960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Data &amp; Account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516368" y="2624328"/>
            <a:ext cx="1792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My Data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488936" y="3099816"/>
            <a:ext cx="1847088" cy="0"/>
          </a:xfrm>
          <a:prstGeom prst="line">
            <a:avLst/>
          </a:prstGeom>
          <a:noFill/>
          <a:ln w="9525">
            <a:solidFill>
              <a:srgbClr val="E2E5E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516368" y="3154680"/>
            <a:ext cx="1792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 My Data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7488936" y="3630168"/>
            <a:ext cx="1847088" cy="0"/>
          </a:xfrm>
          <a:prstGeom prst="line">
            <a:avLst/>
          </a:prstGeom>
          <a:noFill/>
          <a:ln w="9525">
            <a:solidFill>
              <a:srgbClr val="E2E5E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516368" y="3685032"/>
            <a:ext cx="1792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Consent Timeline &amp; Receipts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488936" y="4160520"/>
            <a:ext cx="1847088" cy="0"/>
          </a:xfrm>
          <a:prstGeom prst="line">
            <a:avLst/>
          </a:prstGeom>
          <a:noFill/>
          <a:ln w="9525">
            <a:solidFill>
              <a:srgbClr val="E2E5E9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619488" y="1965960"/>
            <a:ext cx="2121408" cy="4160520"/>
          </a:xfrm>
          <a:prstGeom prst="roundRect">
            <a:avLst>
              <a:gd name="adj" fmla="val 3879"/>
            </a:avLst>
          </a:prstGeom>
          <a:solidFill>
            <a:srgbClr val="FDFBF8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9619488" y="1965960"/>
            <a:ext cx="2121408" cy="502920"/>
          </a:xfrm>
          <a:prstGeom prst="rect">
            <a:avLst/>
          </a:prstGeom>
          <a:solidFill>
            <a:srgbClr val="C22030"/>
          </a:solidFill>
          <a:ln/>
        </p:spPr>
      </p:sp>
      <p:sp>
        <p:nvSpPr>
          <p:cNvPr id="49" name="Text 47"/>
          <p:cNvSpPr/>
          <p:nvPr/>
        </p:nvSpPr>
        <p:spPr>
          <a:xfrm>
            <a:off x="9710928" y="1965960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&amp; Support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9784080" y="2624328"/>
            <a:ext cx="1792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&amp; Activity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9756648" y="3099816"/>
            <a:ext cx="1847088" cy="0"/>
          </a:xfrm>
          <a:prstGeom prst="line">
            <a:avLst/>
          </a:prstGeom>
          <a:noFill/>
          <a:ln w="9525">
            <a:solidFill>
              <a:srgbClr val="E2E5E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784080" y="3154680"/>
            <a:ext cx="1792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Grievance Redressal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9756648" y="3630168"/>
            <a:ext cx="1847088" cy="0"/>
          </a:xfrm>
          <a:prstGeom prst="line">
            <a:avLst/>
          </a:prstGeom>
          <a:noFill/>
          <a:ln w="9525">
            <a:solidFill>
              <a:srgbClr val="E2E5E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784080" y="3685032"/>
            <a:ext cx="1792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Next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9756648" y="4160520"/>
            <a:ext cx="1847088" cy="0"/>
          </a:xfrm>
          <a:prstGeom prst="line">
            <a:avLst/>
          </a:prstGeom>
          <a:noFill/>
          <a:ln w="9525">
            <a:solidFill>
              <a:srgbClr val="E2E5E9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48640" y="626364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Persistent: AI Privacy Assistant (floating, all authenticated screens)  ·  Dark mode toggle (Account)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Zomato Privacy Hub  ·  DPDP Act, 2023 Redesign  ·  Prathiba P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23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SPOTLIGHT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Purpose-wise consent replaces one checkbox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Independent, versioned consent per purpose — with a one-tap Undo so opting out never feels risky.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246120" cy="4434840"/>
          </a:xfrm>
          <a:prstGeom prst="roundRect">
            <a:avLst>
              <a:gd name="adj" fmla="val 2535"/>
            </a:avLst>
          </a:prstGeom>
          <a:solidFill>
            <a:srgbClr val="1F2933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240280"/>
            <a:ext cx="640080" cy="640080"/>
          </a:xfrm>
          <a:prstGeom prst="ellipse">
            <a:avLst/>
          </a:prstGeom>
          <a:solidFill>
            <a:srgbClr val="E23744"/>
          </a:solidFill>
          <a:ln/>
        </p:spPr>
      </p:sp>
      <p:pic>
        <p:nvPicPr>
          <p:cNvPr id="7" name="Image 0" descr="icons/toggl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2395728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06324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9BA3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SCREEN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22960" y="333756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— Purpose-wise Consent  /  10 — Manage Consent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822960" y="4434840"/>
            <a:ext cx="2697480" cy="0"/>
          </a:xfrm>
          <a:prstGeom prst="line">
            <a:avLst/>
          </a:prstGeom>
          <a:noFill/>
          <a:ln w="12700">
            <a:solidFill>
              <a:srgbClr val="3A414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46177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9BA3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IMPACT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22960" y="4892040"/>
            <a:ext cx="2697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6DA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confidence to opt in to personalization, because opting out is equally easy — the two are no longer asymmetric.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114800" y="1920240"/>
            <a:ext cx="7498080" cy="1325880"/>
          </a:xfrm>
          <a:prstGeom prst="roundRect">
            <a:avLst>
              <a:gd name="adj" fmla="val 6207"/>
            </a:avLst>
          </a:prstGeom>
          <a:solidFill>
            <a:srgbClr val="FDFBF8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315968" y="2121408"/>
            <a:ext cx="384048" cy="384048"/>
          </a:xfrm>
          <a:prstGeom prst="ellipse">
            <a:avLst/>
          </a:prstGeom>
          <a:solidFill>
            <a:srgbClr val="E23744"/>
          </a:solidFill>
          <a:ln/>
        </p:spPr>
      </p:sp>
      <p:pic>
        <p:nvPicPr>
          <p:cNvPr id="15" name="Image 1" descr="icons/balanc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7408" y="2212848"/>
            <a:ext cx="201168" cy="20116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846320" y="2048256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DPDP fit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4846320" y="2377440"/>
            <a:ext cx="6537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Satisfies specific, purpose-limited consent (Sec. 6) — no single acceptance covers fulfilment, personalization, marketing and partner sharing together.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4114800" y="3401568"/>
            <a:ext cx="7498080" cy="1325880"/>
          </a:xfrm>
          <a:prstGeom prst="roundRect">
            <a:avLst>
              <a:gd name="adj" fmla="val 6207"/>
            </a:avLst>
          </a:prstGeom>
          <a:solidFill>
            <a:srgbClr val="FDFBF8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315968" y="3602736"/>
            <a:ext cx="384048" cy="384048"/>
          </a:xfrm>
          <a:prstGeom prst="ellipse">
            <a:avLst/>
          </a:prstGeom>
          <a:solidFill>
            <a:srgbClr val="0E9F6E"/>
          </a:solidFill>
          <a:ln/>
        </p:spPr>
      </p:sp>
      <p:pic>
        <p:nvPicPr>
          <p:cNvPr id="20" name="Image 2" descr="icon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7408" y="3694176"/>
            <a:ext cx="201168" cy="20116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846320" y="3529584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Undo on save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4846320" y="3858768"/>
            <a:ext cx="6537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save shows a toast with a one-tap Undo, lowering the perceived cost of experimenting with a toggle — so users actually turn things off when they mean to.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4114800" y="4882896"/>
            <a:ext cx="7498080" cy="1325880"/>
          </a:xfrm>
          <a:prstGeom prst="roundRect">
            <a:avLst>
              <a:gd name="adj" fmla="val 6207"/>
            </a:avLst>
          </a:prstGeom>
          <a:solidFill>
            <a:srgbClr val="FDFBF8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315968" y="5084064"/>
            <a:ext cx="384048" cy="384048"/>
          </a:xfrm>
          <a:prstGeom prst="ellipse">
            <a:avLst/>
          </a:prstGeom>
          <a:solidFill>
            <a:srgbClr val="2F6FED"/>
          </a:solidFill>
          <a:ln/>
        </p:spPr>
      </p:sp>
      <p:pic>
        <p:nvPicPr>
          <p:cNvPr id="25" name="Image 3" descr="icons/history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7408" y="5175504"/>
            <a:ext cx="201168" cy="20116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4846320" y="5010912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Versioned, not overwritten</a:t>
            </a:r>
            <a:endParaRPr lang="en-US" sz="1350" dirty="0"/>
          </a:p>
        </p:txBody>
      </p:sp>
      <p:sp>
        <p:nvSpPr>
          <p:cNvPr id="27" name="Text 21"/>
          <p:cNvSpPr/>
          <p:nvPr/>
        </p:nvSpPr>
        <p:spPr>
          <a:xfrm>
            <a:off x="4846320" y="5340096"/>
            <a:ext cx="6537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change writes a new consent receipt rather than mutating one row, so the full history is always reconstructable.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Zomato Privacy Hub  ·  DPDP Act, 2023 Redesign  ·  Prathiba P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23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SPOTLIGHT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Contextual, not all-or-nothing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Location, marketing, restaurant and delivery sharing each get their own dedicated, field-level control screen.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246120" cy="4434840"/>
          </a:xfrm>
          <a:prstGeom prst="roundRect">
            <a:avLst>
              <a:gd name="adj" fmla="val 2535"/>
            </a:avLst>
          </a:prstGeom>
          <a:solidFill>
            <a:srgbClr val="1F2933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240280"/>
            <a:ext cx="640080" cy="640080"/>
          </a:xfrm>
          <a:prstGeom prst="ellipse">
            <a:avLst/>
          </a:prstGeom>
          <a:solidFill>
            <a:srgbClr val="2F6FED"/>
          </a:solidFill>
          <a:ln/>
        </p:spPr>
      </p:sp>
      <p:pic>
        <p:nvPicPr>
          <p:cNvPr id="7" name="Image 0" descr="icons/locatio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2395728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06324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9BA3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SCREEN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22960" y="333756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11–14 — Location / Marketing / Restaurant / Delivery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822960" y="4434840"/>
            <a:ext cx="2697480" cy="0"/>
          </a:xfrm>
          <a:prstGeom prst="line">
            <a:avLst/>
          </a:prstGeom>
          <a:noFill/>
          <a:ln w="12700">
            <a:solidFill>
              <a:srgbClr val="3A414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46177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9BA3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22960" y="4892040"/>
            <a:ext cx="2697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6DA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minimization (Sec. 6) becomes a default, not a setting a user has to find and turn on themselves.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114800" y="1920240"/>
            <a:ext cx="7498080" cy="1325880"/>
          </a:xfrm>
          <a:prstGeom prst="roundRect">
            <a:avLst>
              <a:gd name="adj" fmla="val 6207"/>
            </a:avLst>
          </a:prstGeom>
          <a:solidFill>
            <a:srgbClr val="FDFBF8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315968" y="2121408"/>
            <a:ext cx="384048" cy="384048"/>
          </a:xfrm>
          <a:prstGeom prst="ellipse">
            <a:avLst/>
          </a:prstGeom>
          <a:solidFill>
            <a:srgbClr val="2F6FED"/>
          </a:solidFill>
          <a:ln/>
        </p:spPr>
      </p:sp>
      <p:pic>
        <p:nvPicPr>
          <p:cNvPr id="15" name="Image 1" descr="icons/location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7408" y="2212848"/>
            <a:ext cx="201168" cy="20116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846320" y="2048256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contextual by default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4846320" y="2377440"/>
            <a:ext cx="6537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Defaults to “while an order is active,” not “Always” — with a separate precise-vs-approximate toggle.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4114800" y="3401568"/>
            <a:ext cx="7498080" cy="1325880"/>
          </a:xfrm>
          <a:prstGeom prst="roundRect">
            <a:avLst>
              <a:gd name="adj" fmla="val 6207"/>
            </a:avLst>
          </a:prstGeom>
          <a:solidFill>
            <a:srgbClr val="FDFBF8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315968" y="3602736"/>
            <a:ext cx="384048" cy="384048"/>
          </a:xfrm>
          <a:prstGeom prst="ellipse">
            <a:avLst/>
          </a:prstGeom>
          <a:solidFill>
            <a:srgbClr val="B5760A"/>
          </a:solidFill>
          <a:ln/>
        </p:spPr>
      </p:sp>
      <p:pic>
        <p:nvPicPr>
          <p:cNvPr id="20" name="Image 2" descr="icons/bell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7408" y="3694176"/>
            <a:ext cx="201168" cy="20116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846320" y="3529584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Marketing: channel-level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4846320" y="3858768"/>
            <a:ext cx="6537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Push, SMS, WhatsApp and email are independent — turning off one channel never silently disables another.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4114800" y="4882896"/>
            <a:ext cx="7498080" cy="1325880"/>
          </a:xfrm>
          <a:prstGeom prst="roundRect">
            <a:avLst>
              <a:gd name="adj" fmla="val 6207"/>
            </a:avLst>
          </a:prstGeom>
          <a:solidFill>
            <a:srgbClr val="FDFBF8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315968" y="5084064"/>
            <a:ext cx="384048" cy="384048"/>
          </a:xfrm>
          <a:prstGeom prst="ellipse">
            <a:avLst/>
          </a:prstGeom>
          <a:solidFill>
            <a:srgbClr val="0E9F6E"/>
          </a:solidFill>
          <a:ln/>
        </p:spPr>
      </p:sp>
      <p:pic>
        <p:nvPicPr>
          <p:cNvPr id="25" name="Image 3" descr="icons/utensils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7408" y="5175504"/>
            <a:ext cx="201168" cy="20116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4846320" y="5010912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Partners: field-level</a:t>
            </a:r>
            <a:endParaRPr lang="en-US" sz="1350" dirty="0"/>
          </a:p>
        </p:txBody>
      </p:sp>
      <p:sp>
        <p:nvSpPr>
          <p:cNvPr id="27" name="Text 21"/>
          <p:cNvSpPr/>
          <p:nvPr/>
        </p:nvSpPr>
        <p:spPr>
          <a:xfrm>
            <a:off x="4846320" y="5340096"/>
            <a:ext cx="6537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Restaurants see only name &amp; order items by default; delivery partners get a masked number and a time-boxed location window.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Zomato Privacy Hub  ·  DPDP Act, 2023 Redesign  ·  Prathiba P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23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SPOTLIGHT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exactly who holds your data, right now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tappable map of every party currently holding data — computed live, not described in a static policy.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246120" cy="4434840"/>
          </a:xfrm>
          <a:prstGeom prst="roundRect">
            <a:avLst>
              <a:gd name="adj" fmla="val 2535"/>
            </a:avLst>
          </a:prstGeom>
          <a:solidFill>
            <a:srgbClr val="1F2933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240280"/>
            <a:ext cx="640080" cy="640080"/>
          </a:xfrm>
          <a:prstGeom prst="ellipse">
            <a:avLst/>
          </a:prstGeom>
          <a:solidFill>
            <a:srgbClr val="0E9F6E"/>
          </a:solidFill>
          <a:ln/>
        </p:spPr>
      </p:sp>
      <p:pic>
        <p:nvPicPr>
          <p:cNvPr id="7" name="Image 0" descr="icons/flow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2395728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06324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9BA3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SCREEN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22960" y="333756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— Live Data Flow Map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822960" y="4434840"/>
            <a:ext cx="2697480" cy="0"/>
          </a:xfrm>
          <a:prstGeom prst="line">
            <a:avLst/>
          </a:prstGeom>
          <a:noFill/>
          <a:ln w="12700">
            <a:solidFill>
              <a:srgbClr val="3A414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46177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9BA3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PRINCIPLE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22960" y="4892040"/>
            <a:ext cx="2697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6DA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party appears on the map unless data is currently, actively shared with them — the map can never overstate sharing.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114800" y="1920240"/>
            <a:ext cx="7498080" cy="1325880"/>
          </a:xfrm>
          <a:prstGeom prst="roundRect">
            <a:avLst>
              <a:gd name="adj" fmla="val 6207"/>
            </a:avLst>
          </a:prstGeom>
          <a:solidFill>
            <a:srgbClr val="FDFBF8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315968" y="2121408"/>
            <a:ext cx="384048" cy="384048"/>
          </a:xfrm>
          <a:prstGeom prst="ellipse">
            <a:avLst/>
          </a:prstGeom>
          <a:solidFill>
            <a:srgbClr val="0E9F6E"/>
          </a:solidFill>
          <a:ln/>
        </p:spPr>
      </p:sp>
      <p:pic>
        <p:nvPicPr>
          <p:cNvPr id="15" name="Image 1" descr="icons/flow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7408" y="2212848"/>
            <a:ext cx="201168" cy="20116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846320" y="2048256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Live, not static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4846320" y="2377440"/>
            <a:ext cx="6537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node's Active/Paused state reflects the user's actual current consent and any in-flight order — tap any node for exactly what it holds and why.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4114800" y="3401568"/>
            <a:ext cx="7498080" cy="1325880"/>
          </a:xfrm>
          <a:prstGeom prst="roundRect">
            <a:avLst>
              <a:gd name="adj" fmla="val 6207"/>
            </a:avLst>
          </a:prstGeom>
          <a:solidFill>
            <a:srgbClr val="FDFBF8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315968" y="3602736"/>
            <a:ext cx="384048" cy="384048"/>
          </a:xfrm>
          <a:prstGeom prst="ellipse">
            <a:avLst/>
          </a:prstGeom>
          <a:solidFill>
            <a:srgbClr val="2F6FED"/>
          </a:solidFill>
          <a:ln/>
        </p:spPr>
      </p:sp>
      <p:pic>
        <p:nvPicPr>
          <p:cNvPr id="20" name="Image 2" descr="icons/ey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7408" y="3694176"/>
            <a:ext cx="201168" cy="20116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846320" y="3529584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Notice, made concrete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4846320" y="3858768"/>
            <a:ext cx="6537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Converts an abstract legal disclosure into something non-technical users can parse in seconds.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4114800" y="4882896"/>
            <a:ext cx="7498080" cy="1325880"/>
          </a:xfrm>
          <a:prstGeom prst="roundRect">
            <a:avLst>
              <a:gd name="adj" fmla="val 6207"/>
            </a:avLst>
          </a:prstGeom>
          <a:solidFill>
            <a:srgbClr val="FDFBF8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315968" y="5084064"/>
            <a:ext cx="384048" cy="384048"/>
          </a:xfrm>
          <a:prstGeom prst="ellipse">
            <a:avLst/>
          </a:prstGeom>
          <a:solidFill>
            <a:srgbClr val="E23744"/>
          </a:solidFill>
          <a:ln/>
        </p:spPr>
      </p:sp>
      <p:pic>
        <p:nvPicPr>
          <p:cNvPr id="25" name="Image 3" descr="icons/lo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7408" y="5175504"/>
            <a:ext cx="201168" cy="20116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4846320" y="5010912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Builds defensible trust</a:t>
            </a:r>
            <a:endParaRPr lang="en-US" sz="1350" dirty="0"/>
          </a:p>
        </p:txBody>
      </p:sp>
      <p:sp>
        <p:nvSpPr>
          <p:cNvPr id="27" name="Text 21"/>
          <p:cNvSpPr/>
          <p:nvPr/>
        </p:nvSpPr>
        <p:spPr>
          <a:xfrm>
            <a:off x="4846320" y="5340096"/>
            <a:ext cx="6537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 user can verify a claim themselves, they don't have to take Zomato's word for it.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Zomato Privacy Hub  ·  DPDP Act, 2023 Redesign  ·  Prathiba P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23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SPOTLIGHT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nutrition label for every order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itemised, food-label-style breakdown of exactly what data one order used — tagged Required or Optional.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246120" cy="4434840"/>
          </a:xfrm>
          <a:prstGeom prst="roundRect">
            <a:avLst>
              <a:gd name="adj" fmla="val 2535"/>
            </a:avLst>
          </a:prstGeom>
          <a:solidFill>
            <a:srgbClr val="1F2933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240280"/>
            <a:ext cx="640080" cy="640080"/>
          </a:xfrm>
          <a:prstGeom prst="ellipse">
            <a:avLst/>
          </a:prstGeom>
          <a:solidFill>
            <a:srgbClr val="B5760A"/>
          </a:solidFill>
          <a:ln/>
        </p:spPr>
      </p:sp>
      <p:pic>
        <p:nvPicPr>
          <p:cNvPr id="7" name="Image 0" descr="icons/receip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2395728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06324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9BA3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SCREEN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22960" y="333756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— Privacy Nutrition Label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822960" y="4434840"/>
            <a:ext cx="2697480" cy="0"/>
          </a:xfrm>
          <a:prstGeom prst="line">
            <a:avLst/>
          </a:prstGeom>
          <a:noFill/>
          <a:ln w="12700">
            <a:solidFill>
              <a:srgbClr val="3A414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46177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9BA3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ANALOGY THAT SELLS IT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22960" y="4892040"/>
            <a:ext cx="2697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6DA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 like a packaged-food label makes ingredients concrete, this makes a single order's data usage concrete.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114800" y="1920240"/>
            <a:ext cx="7498080" cy="1325880"/>
          </a:xfrm>
          <a:prstGeom prst="roundRect">
            <a:avLst>
              <a:gd name="adj" fmla="val 6207"/>
            </a:avLst>
          </a:prstGeom>
          <a:solidFill>
            <a:srgbClr val="FDFBF8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315968" y="2121408"/>
            <a:ext cx="384048" cy="384048"/>
          </a:xfrm>
          <a:prstGeom prst="ellipse">
            <a:avLst/>
          </a:prstGeom>
          <a:solidFill>
            <a:srgbClr val="B5760A"/>
          </a:solidFill>
          <a:ln/>
        </p:spPr>
      </p:sp>
      <p:pic>
        <p:nvPicPr>
          <p:cNvPr id="15" name="Image 1" descr="icons/receip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7408" y="2212848"/>
            <a:ext cx="201168" cy="20116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846320" y="2048256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Itemised notice at the transaction level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4846320" y="2377440"/>
            <a:ext cx="6537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per order from the actual field-level consent state at checkout — always accurate to what happened, not a generic template.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4114800" y="3401568"/>
            <a:ext cx="7498080" cy="1325880"/>
          </a:xfrm>
          <a:prstGeom prst="roundRect">
            <a:avLst>
              <a:gd name="adj" fmla="val 6207"/>
            </a:avLst>
          </a:prstGeom>
          <a:solidFill>
            <a:srgbClr val="FDFBF8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315968" y="3602736"/>
            <a:ext cx="384048" cy="384048"/>
          </a:xfrm>
          <a:prstGeom prst="ellipse">
            <a:avLst/>
          </a:prstGeom>
          <a:solidFill>
            <a:srgbClr val="0E9F6E"/>
          </a:solidFill>
          <a:ln/>
        </p:spPr>
      </p:sp>
      <p:pic>
        <p:nvPicPr>
          <p:cNvPr id="20" name="Image 2" descr="icon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7408" y="3694176"/>
            <a:ext cx="201168" cy="20116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846320" y="3529584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 vs. optional, clearly split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4846320" y="3858768"/>
            <a:ext cx="6537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address and payment method are marked Required; personalization and ad-related fields are marked Optional and show as “Not shared” when off.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4114800" y="4882896"/>
            <a:ext cx="7498080" cy="1325880"/>
          </a:xfrm>
          <a:prstGeom prst="roundRect">
            <a:avLst>
              <a:gd name="adj" fmla="val 6207"/>
            </a:avLst>
          </a:prstGeom>
          <a:solidFill>
            <a:srgbClr val="FDFBF8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315968" y="5084064"/>
            <a:ext cx="384048" cy="384048"/>
          </a:xfrm>
          <a:prstGeom prst="ellipse">
            <a:avLst/>
          </a:prstGeom>
          <a:solidFill>
            <a:srgbClr val="E23744"/>
          </a:solidFill>
          <a:ln/>
        </p:spPr>
      </p:sp>
      <p:pic>
        <p:nvPicPr>
          <p:cNvPr id="25" name="Image 3" descr="icons/balanc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7408" y="5175504"/>
            <a:ext cx="201168" cy="20116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4846320" y="5010912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Audit-ready by construction</a:t>
            </a:r>
            <a:endParaRPr lang="en-US" sz="1350" dirty="0"/>
          </a:p>
        </p:txBody>
      </p:sp>
      <p:sp>
        <p:nvSpPr>
          <p:cNvPr id="27" name="Text 21"/>
          <p:cNvSpPr/>
          <p:nvPr/>
        </p:nvSpPr>
        <p:spPr>
          <a:xfrm>
            <a:off x="4846320" y="5340096"/>
            <a:ext cx="6537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label a user sees is derivable from the same data a compliance audit would review.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Zomato Privacy Hub  ·  DPDP Act, 2023 Redesign  ·  Prathiba P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23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SPOTLIGHT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assistant that only tells the truth about your data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floating AI Privacy Assistant grounded in real account state — plus proactive notifications and a fully re-themed dark mode.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246120" cy="4434840"/>
          </a:xfrm>
          <a:prstGeom prst="roundRect">
            <a:avLst>
              <a:gd name="adj" fmla="val 2535"/>
            </a:avLst>
          </a:prstGeom>
          <a:solidFill>
            <a:srgbClr val="1F2933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240280"/>
            <a:ext cx="640080" cy="640080"/>
          </a:xfrm>
          <a:prstGeom prst="ellipse">
            <a:avLst/>
          </a:prstGeom>
          <a:solidFill>
            <a:srgbClr val="1F2933"/>
          </a:solidFill>
          <a:ln/>
        </p:spPr>
      </p:sp>
      <p:pic>
        <p:nvPicPr>
          <p:cNvPr id="7" name="Image 0" descr="icons/robo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2395728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06324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9BA3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SCREEN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22960" y="333756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Persistent — AI Privacy Assistant, Notifications, Dark Mode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822960" y="4434840"/>
            <a:ext cx="2697480" cy="0"/>
          </a:xfrm>
          <a:prstGeom prst="line">
            <a:avLst/>
          </a:prstGeom>
          <a:noFill/>
          <a:ln w="12700">
            <a:solidFill>
              <a:srgbClr val="3A414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46177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9BA3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MATTERS TO LEGAL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22960" y="4892040"/>
            <a:ext cx="2697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6DA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constrained-answer assistant reduces hallucination risk on a topic (data practices) where an incorrect claim carries real regulatory exposure.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114800" y="1920240"/>
            <a:ext cx="7498080" cy="1325880"/>
          </a:xfrm>
          <a:prstGeom prst="roundRect">
            <a:avLst>
              <a:gd name="adj" fmla="val 6207"/>
            </a:avLst>
          </a:prstGeom>
          <a:solidFill>
            <a:srgbClr val="FDFBF8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315968" y="2121408"/>
            <a:ext cx="384048" cy="384048"/>
          </a:xfrm>
          <a:prstGeom prst="ellipse">
            <a:avLst/>
          </a:prstGeom>
          <a:solidFill>
            <a:srgbClr val="1F2933"/>
          </a:solidFill>
          <a:ln/>
        </p:spPr>
      </p:sp>
      <p:pic>
        <p:nvPicPr>
          <p:cNvPr id="15" name="Image 1" descr="icons/robo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7408" y="2212848"/>
            <a:ext cx="201168" cy="20116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846320" y="2048256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Grounded, not generative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4846320" y="2377440"/>
            <a:ext cx="6537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 (“Who has my location data?”) are template-based and pulled from live settings — it never free-generates a claim about data practices.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4114800" y="3401568"/>
            <a:ext cx="7498080" cy="1325880"/>
          </a:xfrm>
          <a:prstGeom prst="roundRect">
            <a:avLst>
              <a:gd name="adj" fmla="val 6207"/>
            </a:avLst>
          </a:prstGeom>
          <a:solidFill>
            <a:srgbClr val="FDFBF8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315968" y="3602736"/>
            <a:ext cx="384048" cy="384048"/>
          </a:xfrm>
          <a:prstGeom prst="ellipse">
            <a:avLst/>
          </a:prstGeom>
          <a:solidFill>
            <a:srgbClr val="B5760A"/>
          </a:solidFill>
          <a:ln/>
        </p:spPr>
      </p:sp>
      <p:pic>
        <p:nvPicPr>
          <p:cNvPr id="20" name="Image 2" descr="icons/bell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7408" y="3694176"/>
            <a:ext cx="201168" cy="20116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846320" y="3529584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Proactive, not just reactive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4846320" y="3858768"/>
            <a:ext cx="6537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Hub's notification bell surfaces changes before a user has to go looking — e.g., a new partner sharing, an annual re-confirmation.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4114800" y="4882896"/>
            <a:ext cx="7498080" cy="1325880"/>
          </a:xfrm>
          <a:prstGeom prst="roundRect">
            <a:avLst>
              <a:gd name="adj" fmla="val 6207"/>
            </a:avLst>
          </a:prstGeom>
          <a:solidFill>
            <a:srgbClr val="FDFBF8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315968" y="5084064"/>
            <a:ext cx="384048" cy="384048"/>
          </a:xfrm>
          <a:prstGeom prst="ellipse">
            <a:avLst/>
          </a:prstGeom>
          <a:solidFill>
            <a:srgbClr val="2F6FED"/>
          </a:solidFill>
          <a:ln/>
        </p:spPr>
      </p:sp>
      <p:pic>
        <p:nvPicPr>
          <p:cNvPr id="25" name="Image 3" descr="icons/moon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7408" y="5175504"/>
            <a:ext cx="201168" cy="20116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4846320" y="5010912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 mode proves the system, not just the screen</a:t>
            </a:r>
            <a:endParaRPr lang="en-US" sz="1350" dirty="0"/>
          </a:p>
        </p:txBody>
      </p:sp>
      <p:sp>
        <p:nvSpPr>
          <p:cNvPr id="27" name="Text 21"/>
          <p:cNvSpPr/>
          <p:nvPr/>
        </p:nvSpPr>
        <p:spPr>
          <a:xfrm>
            <a:off x="4846320" y="5340096"/>
            <a:ext cx="6537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Appearance toggle re-themes all 21 screens because the design is token-based, not one-off.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Zomato Privacy Hub  ·  DPDP Act, 2023 Redesign  ·  Prathiba P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23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SPOTLIGHT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Rights that resolve in hours, not tickets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Download, delete, a full sharing ledger, and a direct line to the Grievance Officer — all self-serve.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246120" cy="4434840"/>
          </a:xfrm>
          <a:prstGeom prst="roundRect">
            <a:avLst>
              <a:gd name="adj" fmla="val 2535"/>
            </a:avLst>
          </a:prstGeom>
          <a:solidFill>
            <a:srgbClr val="1F2933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240280"/>
            <a:ext cx="640080" cy="640080"/>
          </a:xfrm>
          <a:prstGeom prst="ellipse">
            <a:avLst/>
          </a:prstGeom>
          <a:solidFill>
            <a:srgbClr val="C22030"/>
          </a:solidFill>
          <a:ln/>
        </p:spPr>
      </p:sp>
      <p:pic>
        <p:nvPicPr>
          <p:cNvPr id="7" name="Image 0" descr="icons/downloa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2395728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06324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9BA3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SCREEN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22960" y="333756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15–20 — Ledger, Download, Delete, Timeline, Grievance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822960" y="4434840"/>
            <a:ext cx="2697480" cy="0"/>
          </a:xfrm>
          <a:prstGeom prst="line">
            <a:avLst/>
          </a:prstGeom>
          <a:noFill/>
          <a:ln w="12700">
            <a:solidFill>
              <a:srgbClr val="3A414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46177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9BA3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SLA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22960" y="4892040"/>
            <a:ext cx="2697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6DA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31-hour average rights-request resolution vs. the statutory 30-day ceiling — self-serve by design, not by heroics.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114800" y="1920240"/>
            <a:ext cx="7498080" cy="1325880"/>
          </a:xfrm>
          <a:prstGeom prst="roundRect">
            <a:avLst>
              <a:gd name="adj" fmla="val 6207"/>
            </a:avLst>
          </a:prstGeom>
          <a:solidFill>
            <a:srgbClr val="FDFBF8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315968" y="2121408"/>
            <a:ext cx="384048" cy="384048"/>
          </a:xfrm>
          <a:prstGeom prst="ellipse">
            <a:avLst/>
          </a:prstGeom>
          <a:solidFill>
            <a:srgbClr val="0E9F6E"/>
          </a:solidFill>
          <a:ln/>
        </p:spPr>
      </p:sp>
      <p:pic>
        <p:nvPicPr>
          <p:cNvPr id="15" name="Image 1" descr="icons/downloa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7408" y="2212848"/>
            <a:ext cx="201168" cy="20116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846320" y="2048256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&amp; Delete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4846320" y="2377440"/>
            <a:ext cx="6537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One-tap requests replace a support ticket, directly operationalising the Right to Access and Right to Erasure (Sec. 11–12).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4114800" y="3401568"/>
            <a:ext cx="7498080" cy="1325880"/>
          </a:xfrm>
          <a:prstGeom prst="roundRect">
            <a:avLst>
              <a:gd name="adj" fmla="val 6207"/>
            </a:avLst>
          </a:prstGeom>
          <a:solidFill>
            <a:srgbClr val="FDFBF8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315968" y="3602736"/>
            <a:ext cx="384048" cy="384048"/>
          </a:xfrm>
          <a:prstGeom prst="ellipse">
            <a:avLst/>
          </a:prstGeom>
          <a:solidFill>
            <a:srgbClr val="2F6FED"/>
          </a:solidFill>
          <a:ln/>
        </p:spPr>
      </p:sp>
      <p:pic>
        <p:nvPicPr>
          <p:cNvPr id="20" name="Image 2" descr="icons/history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7408" y="3694176"/>
            <a:ext cx="201168" cy="20116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846320" y="3529584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Sharing Ledger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4846320" y="3858768"/>
            <a:ext cx="6537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running, searchable log of every third-party disclosure — the same visibility a regulator would have in an audit, self-served.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4114800" y="4882896"/>
            <a:ext cx="7498080" cy="1325880"/>
          </a:xfrm>
          <a:prstGeom prst="roundRect">
            <a:avLst>
              <a:gd name="adj" fmla="val 6207"/>
            </a:avLst>
          </a:prstGeom>
          <a:solidFill>
            <a:srgbClr val="FDFBF8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315968" y="5084064"/>
            <a:ext cx="384048" cy="384048"/>
          </a:xfrm>
          <a:prstGeom prst="ellipse">
            <a:avLst/>
          </a:prstGeom>
          <a:solidFill>
            <a:srgbClr val="B5760A"/>
          </a:solidFill>
          <a:ln/>
        </p:spPr>
      </p:sp>
      <p:pic>
        <p:nvPicPr>
          <p:cNvPr id="25" name="Image 3" descr="icons/gavel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7408" y="5175504"/>
            <a:ext cx="201168" cy="20116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4846320" y="5010912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Grievance Redressal</a:t>
            </a:r>
            <a:endParaRPr lang="en-US" sz="1350" dirty="0"/>
          </a:p>
        </p:txBody>
      </p:sp>
      <p:sp>
        <p:nvSpPr>
          <p:cNvPr id="27" name="Text 21"/>
          <p:cNvSpPr/>
          <p:nvPr/>
        </p:nvSpPr>
        <p:spPr>
          <a:xfrm>
            <a:off x="4846320" y="5340096"/>
            <a:ext cx="6537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in-app access to a named Grievance Officer with a tracked reference number, satisfying Sec. 13 as a trust signal, not a buried PDF.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Zomato Privacy Hub  ·  DPDP Act, 2023 Redesign  ·  Prathiba P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23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MAPPING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screen maps to a named DPDP obligation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12 of the companion PRD has the full mapping; the highest-stakes rows are below.</a:t>
            </a:r>
            <a:endParaRPr lang="en-US" sz="12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1106424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3657600"/>
                <a:gridCol w="4023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DPDP requirement</a:t>
                      </a:r>
                      <a:endParaRPr lang="en-US" sz="1150" dirty="0"/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Product feature</a:t>
                      </a:r>
                      <a:endParaRPr lang="en-US" sz="1150" dirty="0"/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User benefit</a:t>
                      </a:r>
                      <a:endParaRPr lang="en-US" sz="1150" dirty="0"/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</a:rPr>
                        <a:t>Purpose-limited consent (Sec. 6)</a:t>
                      </a:r>
                      <a:endParaRPr lang="en-US" sz="1100" dirty="0"/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</a:rPr>
                        <a:t>Purpose-wise Consent</a:t>
                      </a:r>
                      <a:endParaRPr lang="en-US" sz="1100" dirty="0"/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E9F6E"/>
                          </a:solidFill>
                        </a:rPr>
                        <a:t>Can opt out of one purpose, keep the rest</a:t>
                      </a:r>
                      <a:endParaRPr lang="en-US" sz="1100" dirty="0"/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</a:rPr>
                        <a:t>Withdrawal as easy as consent (Sec. 6(4))</a:t>
                      </a:r>
                      <a:endParaRPr lang="en-US" sz="1100" dirty="0"/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</a:rPr>
                        <a:t>Manage Consent + Undo</a:t>
                      </a:r>
                      <a:endParaRPr lang="en-US" sz="1100" dirty="0"/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E9F6E"/>
                          </a:solidFill>
                        </a:rPr>
                        <a:t>Zero extra friction to say no vs. yes</a:t>
                      </a:r>
                      <a:endParaRPr lang="en-US" sz="1100" dirty="0"/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</a:rPr>
                        <a:t>Data minimization (Sec. 6)</a:t>
                      </a:r>
                      <a:endParaRPr lang="en-US" sz="1100" dirty="0"/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</a:rPr>
                        <a:t>Contextual Location + field-level sharing</a:t>
                      </a:r>
                      <a:endParaRPr lang="en-US" sz="1100" dirty="0"/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E9F6E"/>
                          </a:solidFill>
                        </a:rPr>
                        <a:t>Location/fields shared only when needed</a:t>
                      </a:r>
                      <a:endParaRPr lang="en-US" sz="1100" dirty="0"/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</a:rPr>
                        <a:t>Right to Access (Sec. 11)</a:t>
                      </a:r>
                      <a:endParaRPr lang="en-US" sz="1100" dirty="0"/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</a:rPr>
                        <a:t>Download My Data</a:t>
                      </a:r>
                      <a:endParaRPr lang="en-US" sz="1100" dirty="0"/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E9F6E"/>
                          </a:solidFill>
                        </a:rPr>
                        <a:t>Self-serve export, no ticket</a:t>
                      </a:r>
                      <a:endParaRPr lang="en-US" sz="1100" dirty="0"/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</a:rPr>
                        <a:t>Right to Erasure (Sec. 12)</a:t>
                      </a:r>
                      <a:endParaRPr lang="en-US" sz="1100" dirty="0"/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</a:rPr>
                        <a:t>Delete My Data</a:t>
                      </a:r>
                      <a:endParaRPr lang="en-US" sz="1100" dirty="0"/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E9F6E"/>
                          </a:solidFill>
                        </a:rPr>
                        <a:t>Self-serve deletion, tracked to completion</a:t>
                      </a:r>
                      <a:endParaRPr lang="en-US" sz="1100" dirty="0"/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</a:rPr>
                        <a:t>Grievance Redressal (Sec. 13)</a:t>
                      </a:r>
                      <a:endParaRPr lang="en-US" sz="1100" dirty="0"/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</a:rPr>
                        <a:t>Grievance Redressal screen</a:t>
                      </a:r>
                      <a:endParaRPr lang="en-US" sz="1100" dirty="0"/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E9F6E"/>
                          </a:solidFill>
                        </a:rPr>
                        <a:t>Direct line to named Grievance Officer</a:t>
                      </a:r>
                      <a:endParaRPr lang="en-US" sz="1100" dirty="0"/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2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172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mapping (11 rows, including children's-data provisions) is in the PRD, Section 12.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Zomato Privacy Hub  ·  DPDP Act, 2023 Redesign  ·  Prathiba P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F29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3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Consent Service, shared across the group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Event-driven backbone keeps Zomato, Blinkit and District on one system of record for consent.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2286000" cy="777240"/>
          </a:xfrm>
          <a:prstGeom prst="roundRect">
            <a:avLst>
              <a:gd name="adj" fmla="val 9412"/>
            </a:avLst>
          </a:prstGeom>
          <a:solidFill>
            <a:srgbClr val="2A313B"/>
          </a:solidFill>
          <a:ln/>
        </p:spPr>
      </p:sp>
      <p:pic>
        <p:nvPicPr>
          <p:cNvPr id="6" name="Image 0" descr="icons/mobil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2093976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89888" y="187452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Zomato App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108960" y="2263140"/>
            <a:ext cx="91440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4023360" y="1874520"/>
            <a:ext cx="2286000" cy="777240"/>
          </a:xfrm>
          <a:prstGeom prst="roundRect">
            <a:avLst>
              <a:gd name="adj" fmla="val 9412"/>
            </a:avLst>
          </a:prstGeom>
          <a:solidFill>
            <a:srgbClr val="2A313B"/>
          </a:solidFill>
          <a:ln/>
        </p:spPr>
      </p:sp>
      <p:pic>
        <p:nvPicPr>
          <p:cNvPr id="10" name="Image 1" descr="icons/serve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7952" y="2093976"/>
            <a:ext cx="32918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90288" y="187452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99516" y="3063240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2A313B"/>
          </a:solidFill>
          <a:ln/>
        </p:spPr>
      </p:sp>
      <p:pic>
        <p:nvPicPr>
          <p:cNvPr id="13" name="Image 2" descr="icons/user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9032" y="3191256"/>
            <a:ext cx="292608" cy="2926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99516" y="353872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1545336" y="2651760"/>
            <a:ext cx="0" cy="411480"/>
          </a:xfrm>
          <a:prstGeom prst="line">
            <a:avLst/>
          </a:prstGeom>
          <a:noFill/>
          <a:ln w="12700">
            <a:solidFill>
              <a:srgbClr val="4A515B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2519172" y="3063240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2A313B"/>
          </a:solidFill>
          <a:ln/>
        </p:spPr>
      </p:sp>
      <p:pic>
        <p:nvPicPr>
          <p:cNvPr id="17" name="Image 3" descr="icons/toggl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8688" y="3191256"/>
            <a:ext cx="292608" cy="29260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2519172" y="353872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Consent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3364992" y="2651760"/>
            <a:ext cx="0" cy="411480"/>
          </a:xfrm>
          <a:prstGeom prst="line">
            <a:avLst/>
          </a:prstGeom>
          <a:noFill/>
          <a:ln w="12700">
            <a:solidFill>
              <a:srgbClr val="4A515B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4338828" y="3063240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2A313B"/>
          </a:solidFill>
          <a:ln/>
        </p:spPr>
      </p:sp>
      <p:pic>
        <p:nvPicPr>
          <p:cNvPr id="21" name="Image 4" descr="icons/ey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8344" y="3191256"/>
            <a:ext cx="292608" cy="29260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338828" y="353872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</a:t>
            </a:r>
            <a:endParaRPr lang="en-US" sz="1050" dirty="0"/>
          </a:p>
        </p:txBody>
      </p:sp>
      <p:sp>
        <p:nvSpPr>
          <p:cNvPr id="23" name="Shape 16"/>
          <p:cNvSpPr/>
          <p:nvPr/>
        </p:nvSpPr>
        <p:spPr>
          <a:xfrm>
            <a:off x="5184648" y="2651760"/>
            <a:ext cx="0" cy="411480"/>
          </a:xfrm>
          <a:prstGeom prst="line">
            <a:avLst/>
          </a:prstGeom>
          <a:noFill/>
          <a:ln w="12700">
            <a:solidFill>
              <a:srgbClr val="4A515B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6158484" y="3063240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2A313B"/>
          </a:solidFill>
          <a:ln/>
        </p:spPr>
      </p:sp>
      <p:pic>
        <p:nvPicPr>
          <p:cNvPr id="25" name="Image 5" descr="icons/utensils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0" y="3191256"/>
            <a:ext cx="292608" cy="292608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158484" y="353872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</a:t>
            </a:r>
            <a:endParaRPr lang="en-US" sz="1050" dirty="0"/>
          </a:p>
        </p:txBody>
      </p:sp>
      <p:sp>
        <p:nvSpPr>
          <p:cNvPr id="27" name="Shape 19"/>
          <p:cNvSpPr/>
          <p:nvPr/>
        </p:nvSpPr>
        <p:spPr>
          <a:xfrm>
            <a:off x="7004304" y="2651760"/>
            <a:ext cx="0" cy="411480"/>
          </a:xfrm>
          <a:prstGeom prst="line">
            <a:avLst/>
          </a:prstGeom>
          <a:noFill/>
          <a:ln w="12700">
            <a:solidFill>
              <a:srgbClr val="4A515B"/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7978140" y="3063240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2A313B"/>
          </a:solidFill>
          <a:ln/>
        </p:spPr>
      </p:sp>
      <p:pic>
        <p:nvPicPr>
          <p:cNvPr id="29" name="Image 6" descr="icons/download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77656" y="3191256"/>
            <a:ext cx="292608" cy="292608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7978140" y="353872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Rights</a:t>
            </a:r>
            <a:endParaRPr lang="en-US" sz="1050" dirty="0"/>
          </a:p>
        </p:txBody>
      </p:sp>
      <p:sp>
        <p:nvSpPr>
          <p:cNvPr id="31" name="Shape 22"/>
          <p:cNvSpPr/>
          <p:nvPr/>
        </p:nvSpPr>
        <p:spPr>
          <a:xfrm>
            <a:off x="8823960" y="2651760"/>
            <a:ext cx="0" cy="411480"/>
          </a:xfrm>
          <a:prstGeom prst="line">
            <a:avLst/>
          </a:prstGeom>
          <a:noFill/>
          <a:ln w="12700">
            <a:solidFill>
              <a:srgbClr val="4A515B"/>
            </a:solidFill>
            <a:prstDash val="solid"/>
          </a:ln>
        </p:spPr>
      </p:sp>
      <p:sp>
        <p:nvSpPr>
          <p:cNvPr id="32" name="Shape 23"/>
          <p:cNvSpPr/>
          <p:nvPr/>
        </p:nvSpPr>
        <p:spPr>
          <a:xfrm>
            <a:off x="9797796" y="3063240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2A313B"/>
          </a:solidFill>
          <a:ln/>
        </p:spPr>
      </p:sp>
      <p:pic>
        <p:nvPicPr>
          <p:cNvPr id="33" name="Image 7" descr="icons/robot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97312" y="3191256"/>
            <a:ext cx="292608" cy="292608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9797796" y="353872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Assistant</a:t>
            </a:r>
            <a:endParaRPr lang="en-US" sz="1050" dirty="0"/>
          </a:p>
        </p:txBody>
      </p:sp>
      <p:sp>
        <p:nvSpPr>
          <p:cNvPr id="35" name="Shape 25"/>
          <p:cNvSpPr/>
          <p:nvPr/>
        </p:nvSpPr>
        <p:spPr>
          <a:xfrm>
            <a:off x="10643616" y="2651760"/>
            <a:ext cx="0" cy="411480"/>
          </a:xfrm>
          <a:prstGeom prst="line">
            <a:avLst/>
          </a:prstGeom>
          <a:noFill/>
          <a:ln w="12700">
            <a:solidFill>
              <a:srgbClr val="4A515B"/>
            </a:solidFill>
            <a:prstDash val="solid"/>
          </a:ln>
        </p:spPr>
      </p:sp>
      <p:sp>
        <p:nvSpPr>
          <p:cNvPr id="36" name="Shape 26"/>
          <p:cNvSpPr/>
          <p:nvPr/>
        </p:nvSpPr>
        <p:spPr>
          <a:xfrm>
            <a:off x="699516" y="4343400"/>
            <a:ext cx="10789920" cy="502920"/>
          </a:xfrm>
          <a:prstGeom prst="roundRect">
            <a:avLst>
              <a:gd name="adj" fmla="val 14545"/>
            </a:avLst>
          </a:prstGeom>
          <a:solidFill>
            <a:srgbClr val="C22030"/>
          </a:solidFill>
          <a:ln/>
        </p:spPr>
      </p:sp>
      <p:sp>
        <p:nvSpPr>
          <p:cNvPr id="37" name="Text 27"/>
          <p:cNvSpPr/>
          <p:nvPr/>
        </p:nvSpPr>
        <p:spPr>
          <a:xfrm>
            <a:off x="699516" y="434340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BUS  ·  consent.changed · order.* · rights.*</a:t>
            </a:r>
            <a:endParaRPr lang="en-US" sz="1150" dirty="0"/>
          </a:p>
        </p:txBody>
      </p:sp>
      <p:sp>
        <p:nvSpPr>
          <p:cNvPr id="38" name="Shape 28"/>
          <p:cNvSpPr/>
          <p:nvPr/>
        </p:nvSpPr>
        <p:spPr>
          <a:xfrm>
            <a:off x="1545336" y="3931920"/>
            <a:ext cx="0" cy="411480"/>
          </a:xfrm>
          <a:prstGeom prst="line">
            <a:avLst/>
          </a:prstGeom>
          <a:noFill/>
          <a:ln w="12700">
            <a:solidFill>
              <a:srgbClr val="4A515B"/>
            </a:solidFill>
            <a:prstDash val="solid"/>
          </a:ln>
        </p:spPr>
      </p:sp>
      <p:sp>
        <p:nvSpPr>
          <p:cNvPr id="39" name="Shape 29"/>
          <p:cNvSpPr/>
          <p:nvPr/>
        </p:nvSpPr>
        <p:spPr>
          <a:xfrm>
            <a:off x="3364992" y="3931920"/>
            <a:ext cx="0" cy="411480"/>
          </a:xfrm>
          <a:prstGeom prst="line">
            <a:avLst/>
          </a:prstGeom>
          <a:noFill/>
          <a:ln w="12700">
            <a:solidFill>
              <a:srgbClr val="4A515B"/>
            </a:solidFill>
            <a:prstDash val="solid"/>
          </a:ln>
        </p:spPr>
      </p:sp>
      <p:sp>
        <p:nvSpPr>
          <p:cNvPr id="40" name="Shape 30"/>
          <p:cNvSpPr/>
          <p:nvPr/>
        </p:nvSpPr>
        <p:spPr>
          <a:xfrm>
            <a:off x="5184648" y="3931920"/>
            <a:ext cx="0" cy="411480"/>
          </a:xfrm>
          <a:prstGeom prst="line">
            <a:avLst/>
          </a:prstGeom>
          <a:noFill/>
          <a:ln w="12700">
            <a:solidFill>
              <a:srgbClr val="4A515B"/>
            </a:solidFill>
            <a:prstDash val="solid"/>
          </a:ln>
        </p:spPr>
      </p:sp>
      <p:sp>
        <p:nvSpPr>
          <p:cNvPr id="41" name="Shape 31"/>
          <p:cNvSpPr/>
          <p:nvPr/>
        </p:nvSpPr>
        <p:spPr>
          <a:xfrm>
            <a:off x="7004304" y="3931920"/>
            <a:ext cx="0" cy="411480"/>
          </a:xfrm>
          <a:prstGeom prst="line">
            <a:avLst/>
          </a:prstGeom>
          <a:noFill/>
          <a:ln w="12700">
            <a:solidFill>
              <a:srgbClr val="4A515B"/>
            </a:solidFill>
            <a:prstDash val="solid"/>
          </a:ln>
        </p:spPr>
      </p:sp>
      <p:sp>
        <p:nvSpPr>
          <p:cNvPr id="42" name="Shape 32"/>
          <p:cNvSpPr/>
          <p:nvPr/>
        </p:nvSpPr>
        <p:spPr>
          <a:xfrm>
            <a:off x="8823960" y="3931920"/>
            <a:ext cx="0" cy="411480"/>
          </a:xfrm>
          <a:prstGeom prst="line">
            <a:avLst/>
          </a:prstGeom>
          <a:noFill/>
          <a:ln w="12700">
            <a:solidFill>
              <a:srgbClr val="4A515B"/>
            </a:solidFill>
            <a:prstDash val="solid"/>
          </a:ln>
        </p:spPr>
      </p:sp>
      <p:sp>
        <p:nvSpPr>
          <p:cNvPr id="43" name="Shape 33"/>
          <p:cNvSpPr/>
          <p:nvPr/>
        </p:nvSpPr>
        <p:spPr>
          <a:xfrm>
            <a:off x="10643616" y="3931920"/>
            <a:ext cx="0" cy="411480"/>
          </a:xfrm>
          <a:prstGeom prst="line">
            <a:avLst/>
          </a:prstGeom>
          <a:noFill/>
          <a:ln w="12700">
            <a:solidFill>
              <a:srgbClr val="4A515B"/>
            </a:solidFill>
            <a:prstDash val="solid"/>
          </a:ln>
        </p:spPr>
      </p:sp>
      <p:sp>
        <p:nvSpPr>
          <p:cNvPr id="44" name="Shape 34"/>
          <p:cNvSpPr/>
          <p:nvPr/>
        </p:nvSpPr>
        <p:spPr>
          <a:xfrm>
            <a:off x="1705356" y="5257800"/>
            <a:ext cx="2743200" cy="640080"/>
          </a:xfrm>
          <a:prstGeom prst="roundRect">
            <a:avLst>
              <a:gd name="adj" fmla="val 11429"/>
            </a:avLst>
          </a:prstGeom>
          <a:solidFill>
            <a:srgbClr val="2A313B"/>
          </a:solidFill>
          <a:ln/>
        </p:spPr>
      </p:sp>
      <p:pic>
        <p:nvPicPr>
          <p:cNvPr id="45" name="Image 8" descr="icons/database_whit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88236" y="5413248"/>
            <a:ext cx="310896" cy="310896"/>
          </a:xfrm>
          <a:prstGeom prst="rect">
            <a:avLst/>
          </a:prstGeom>
        </p:spPr>
      </p:pic>
      <p:sp>
        <p:nvSpPr>
          <p:cNvPr id="46" name="Text 35"/>
          <p:cNvSpPr/>
          <p:nvPr/>
        </p:nvSpPr>
        <p:spPr>
          <a:xfrm>
            <a:off x="2299716" y="52578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Consent &amp; Receipts</a:t>
            </a:r>
            <a:endParaRPr lang="en-US" sz="1150" dirty="0"/>
          </a:p>
        </p:txBody>
      </p:sp>
      <p:sp>
        <p:nvSpPr>
          <p:cNvPr id="47" name="Shape 36"/>
          <p:cNvSpPr/>
          <p:nvPr/>
        </p:nvSpPr>
        <p:spPr>
          <a:xfrm>
            <a:off x="3076956" y="4846320"/>
            <a:ext cx="0" cy="411480"/>
          </a:xfrm>
          <a:prstGeom prst="line">
            <a:avLst/>
          </a:prstGeom>
          <a:noFill/>
          <a:ln w="12700">
            <a:solidFill>
              <a:srgbClr val="4A515B"/>
            </a:solidFill>
            <a:prstDash val="solid"/>
          </a:ln>
        </p:spPr>
      </p:sp>
      <p:sp>
        <p:nvSpPr>
          <p:cNvPr id="48" name="Shape 37"/>
          <p:cNvSpPr/>
          <p:nvPr/>
        </p:nvSpPr>
        <p:spPr>
          <a:xfrm>
            <a:off x="4722876" y="5257800"/>
            <a:ext cx="2743200" cy="640080"/>
          </a:xfrm>
          <a:prstGeom prst="roundRect">
            <a:avLst>
              <a:gd name="adj" fmla="val 11429"/>
            </a:avLst>
          </a:prstGeom>
          <a:solidFill>
            <a:srgbClr val="2A313B"/>
          </a:solidFill>
          <a:ln/>
        </p:spPr>
      </p:sp>
      <p:pic>
        <p:nvPicPr>
          <p:cNvPr id="49" name="Image 9" descr="icons/database_whit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05756" y="5413248"/>
            <a:ext cx="310896" cy="310896"/>
          </a:xfrm>
          <a:prstGeom prst="rect">
            <a:avLst/>
          </a:prstGeom>
        </p:spPr>
      </p:pic>
      <p:sp>
        <p:nvSpPr>
          <p:cNvPr id="50" name="Text 38"/>
          <p:cNvSpPr/>
          <p:nvPr/>
        </p:nvSpPr>
        <p:spPr>
          <a:xfrm>
            <a:off x="5317236" y="52578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&amp; Sharing Ledger</a:t>
            </a:r>
            <a:endParaRPr lang="en-US" sz="1150" dirty="0"/>
          </a:p>
        </p:txBody>
      </p:sp>
      <p:sp>
        <p:nvSpPr>
          <p:cNvPr id="51" name="Shape 39"/>
          <p:cNvSpPr/>
          <p:nvPr/>
        </p:nvSpPr>
        <p:spPr>
          <a:xfrm>
            <a:off x="6094476" y="4846320"/>
            <a:ext cx="0" cy="411480"/>
          </a:xfrm>
          <a:prstGeom prst="line">
            <a:avLst/>
          </a:prstGeom>
          <a:noFill/>
          <a:ln w="12700">
            <a:solidFill>
              <a:srgbClr val="4A515B"/>
            </a:solidFill>
            <a:prstDash val="solid"/>
          </a:ln>
        </p:spPr>
      </p:sp>
      <p:sp>
        <p:nvSpPr>
          <p:cNvPr id="52" name="Shape 40"/>
          <p:cNvSpPr/>
          <p:nvPr/>
        </p:nvSpPr>
        <p:spPr>
          <a:xfrm>
            <a:off x="7740396" y="5257800"/>
            <a:ext cx="2743200" cy="640080"/>
          </a:xfrm>
          <a:prstGeom prst="roundRect">
            <a:avLst>
              <a:gd name="adj" fmla="val 11429"/>
            </a:avLst>
          </a:prstGeom>
          <a:solidFill>
            <a:srgbClr val="2A313B"/>
          </a:solidFill>
          <a:ln/>
        </p:spPr>
      </p:sp>
      <p:pic>
        <p:nvPicPr>
          <p:cNvPr id="53" name="Image 10" descr="icons/database_whit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23276" y="5413248"/>
            <a:ext cx="310896" cy="310896"/>
          </a:xfrm>
          <a:prstGeom prst="rect">
            <a:avLst/>
          </a:prstGeom>
        </p:spPr>
      </p:pic>
      <p:sp>
        <p:nvSpPr>
          <p:cNvPr id="54" name="Text 41"/>
          <p:cNvSpPr/>
          <p:nvPr/>
        </p:nvSpPr>
        <p:spPr>
          <a:xfrm>
            <a:off x="8334756" y="52578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Warehouse</a:t>
            </a:r>
            <a:endParaRPr lang="en-US" sz="1150" dirty="0"/>
          </a:p>
        </p:txBody>
      </p:sp>
      <p:sp>
        <p:nvSpPr>
          <p:cNvPr id="55" name="Shape 42"/>
          <p:cNvSpPr/>
          <p:nvPr/>
        </p:nvSpPr>
        <p:spPr>
          <a:xfrm>
            <a:off x="9111996" y="4846320"/>
            <a:ext cx="0" cy="411480"/>
          </a:xfrm>
          <a:prstGeom prst="line">
            <a:avLst/>
          </a:prstGeom>
          <a:noFill/>
          <a:ln w="12700">
            <a:solidFill>
              <a:srgbClr val="4A515B"/>
            </a:solidFill>
            <a:prstDash val="solid"/>
          </a:ln>
        </p:spPr>
      </p:sp>
      <p:sp>
        <p:nvSpPr>
          <p:cNvPr id="56" name="Text 43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Zomato Privacy Hub  ·  DPDP Act, 2023 Redesign  ·  Prathiba P</a:t>
            </a:r>
            <a:endParaRPr lang="en-US" sz="900" dirty="0"/>
          </a:p>
        </p:txBody>
      </p:sp>
      <p:sp>
        <p:nvSpPr>
          <p:cNvPr id="57" name="Text 44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23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 &amp; SUCCESS CRITERIA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North Star, four supporting KPIs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Star: share of active users with fully current, purpose-specific consent.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2514600" cy="1417320"/>
          </a:xfrm>
          <a:prstGeom prst="roundRect">
            <a:avLst>
              <a:gd name="adj" fmla="val 5806"/>
            </a:avLst>
          </a:prstGeom>
          <a:solidFill>
            <a:srgbClr val="FDFBF8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214884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E9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91.4%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40080" y="2880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 current consent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19272" y="2011680"/>
            <a:ext cx="2514600" cy="1417320"/>
          </a:xfrm>
          <a:prstGeom prst="roundRect">
            <a:avLst>
              <a:gd name="adj" fmla="val 5806"/>
            </a:avLst>
          </a:prstGeom>
          <a:solidFill>
            <a:srgbClr val="FDFBF8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19272" y="214884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96%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3410712" y="2880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Self-serve resolution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089904" y="2011680"/>
            <a:ext cx="2514600" cy="1417320"/>
          </a:xfrm>
          <a:prstGeom prst="roundRect">
            <a:avLst>
              <a:gd name="adj" fmla="val 5806"/>
            </a:avLst>
          </a:prstGeom>
          <a:solidFill>
            <a:srgbClr val="FDFBF8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089904" y="214884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B57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 hrs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6181344" y="2880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Avg. rights-request time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860536" y="2011680"/>
            <a:ext cx="2514600" cy="1417320"/>
          </a:xfrm>
          <a:prstGeom prst="roundRect">
            <a:avLst>
              <a:gd name="adj" fmla="val 5806"/>
            </a:avLst>
          </a:prstGeom>
          <a:solidFill>
            <a:srgbClr val="FDFBF8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860536" y="214884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E23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58%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8951976" y="2880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Personalization opt-in</a:t>
            </a:r>
            <a:endParaRPr lang="en-US" sz="115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548640" y="3703320"/>
          <a:ext cx="667512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Shape 15"/>
          <p:cNvSpPr/>
          <p:nvPr/>
        </p:nvSpPr>
        <p:spPr>
          <a:xfrm>
            <a:off x="7452360" y="3703320"/>
            <a:ext cx="4160520" cy="2651760"/>
          </a:xfrm>
          <a:prstGeom prst="roundRect">
            <a:avLst>
              <a:gd name="adj" fmla="val 3103"/>
            </a:avLst>
          </a:prstGeom>
          <a:solidFill>
            <a:srgbClr val="FDFBF8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7680960" y="3886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B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7680960" y="4206240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Marketing opt-in must not fall below pre-launch baseline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7680960" y="4864608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Order completion rate: no regression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7680960" y="5522976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Rights requests resolved within statutory window: 100%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Zomato Privacy Hub  ·  DPDP Act, 2023 Redesign  ·  Prathiba P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23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 THINKING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Valid Consent % dropped 15% overnight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structured investigation before reacting — the same rigor a Trust &amp; Safety incident would get.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566160" cy="4297680"/>
          </a:xfrm>
          <a:prstGeom prst="roundRect">
            <a:avLst>
              <a:gd name="adj" fmla="val 2308"/>
            </a:avLst>
          </a:prstGeom>
          <a:solidFill>
            <a:srgbClr val="FDFBF8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965960"/>
            <a:ext cx="3566160" cy="457200"/>
          </a:xfrm>
          <a:prstGeom prst="rect">
            <a:avLst/>
          </a:prstGeom>
          <a:solidFill>
            <a:srgbClr val="E23744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9659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Hypotheses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9808" y="2587752"/>
            <a:ext cx="316382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 release altered prompt copy or defaults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49808" y="3483864"/>
            <a:ext cx="316382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 low-completion channel spiked new signups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49808" y="4379976"/>
            <a:ext cx="316382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Consent Service write path failing silently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9808" y="5276088"/>
            <a:ext cx="316382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Scheduled annual re-consent hit a large cohort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97680" y="1965960"/>
            <a:ext cx="3566160" cy="4297680"/>
          </a:xfrm>
          <a:prstGeom prst="roundRect">
            <a:avLst>
              <a:gd name="adj" fmla="val 2308"/>
            </a:avLst>
          </a:prstGeom>
          <a:solidFill>
            <a:srgbClr val="FDFBF8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97680" y="1965960"/>
            <a:ext cx="3566160" cy="457200"/>
          </a:xfrm>
          <a:prstGeom prst="rect">
            <a:avLst/>
          </a:prstGeom>
          <a:solidFill>
            <a:srgbClr val="B5760A"/>
          </a:solidFill>
          <a:ln/>
        </p:spPr>
      </p:sp>
      <p:sp>
        <p:nvSpPr>
          <p:cNvPr id="14" name="Text 12"/>
          <p:cNvSpPr/>
          <p:nvPr/>
        </p:nvSpPr>
        <p:spPr>
          <a:xfrm>
            <a:off x="4297680" y="19659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Investigation (first 2 hrs)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498848" y="2587752"/>
            <a:ext cx="316382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Segment by app version, platform, channel, cohort age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498848" y="3483864"/>
            <a:ext cx="316382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Check write-success rate &amp; P99 latency for anomalies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498848" y="4379976"/>
            <a:ext cx="316382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Diff last 2 release notes against consent flows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498848" y="5276088"/>
            <a:ext cx="316382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Cross-check the re-consent scheduler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046720" y="1965960"/>
            <a:ext cx="3566160" cy="4297680"/>
          </a:xfrm>
          <a:prstGeom prst="roundRect">
            <a:avLst>
              <a:gd name="adj" fmla="val 2308"/>
            </a:avLst>
          </a:prstGeom>
          <a:solidFill>
            <a:srgbClr val="FDFBF8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46720" y="1965960"/>
            <a:ext cx="3566160" cy="457200"/>
          </a:xfrm>
          <a:prstGeom prst="rect">
            <a:avLst/>
          </a:prstGeom>
          <a:solidFill>
            <a:srgbClr val="0E9F6E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0" y="19659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47888" y="2587752"/>
            <a:ext cx="316382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Release regression → same-day rollback + backfill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47888" y="3483864"/>
            <a:ext cx="316382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Scheduled batch → monitor 72h, no action needed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47888" y="4379976"/>
            <a:ext cx="316382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Channel-driven → fix onboarding for that channel only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247888" y="5276088"/>
            <a:ext cx="316382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Always: postmortem within 1 week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Zomato Privacy Hub  ·  DPDP Act, 2023 Redesign  ·  Prathiba P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23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ROLLOUT STRATEGY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phases, each with its own kill switch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phase gate doubles as a rollback trigger — collected consent data is never discarded.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170432" y="2194560"/>
            <a:ext cx="512064" cy="512064"/>
          </a:xfrm>
          <a:prstGeom prst="ellipse">
            <a:avLst/>
          </a:prstGeom>
          <a:solidFill>
            <a:srgbClr val="5B6773"/>
          </a:solidFill>
          <a:ln/>
        </p:spPr>
      </p:sp>
      <p:sp>
        <p:nvSpPr>
          <p:cNvPr id="6" name="Text 4"/>
          <p:cNvSpPr/>
          <p:nvPr/>
        </p:nvSpPr>
        <p:spPr>
          <a:xfrm>
            <a:off x="1170432" y="21945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682496" y="2450592"/>
            <a:ext cx="1362456" cy="0"/>
          </a:xfrm>
          <a:prstGeom prst="line">
            <a:avLst/>
          </a:prstGeom>
          <a:noFill/>
          <a:ln w="19050">
            <a:solidFill>
              <a:srgbClr val="E2E5E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971800"/>
            <a:ext cx="1755648" cy="2651760"/>
          </a:xfrm>
          <a:prstGeom prst="roundRect">
            <a:avLst>
              <a:gd name="adj" fmla="val 4688"/>
            </a:avLst>
          </a:prstGeom>
          <a:solidFill>
            <a:srgbClr val="FDFBF8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76656" y="3127248"/>
            <a:ext cx="14996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validation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76656" y="3730752"/>
            <a:ext cx="149961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Counsel sign-off on consent text &amp; Grievance Officer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044952" y="2194560"/>
            <a:ext cx="512064" cy="512064"/>
          </a:xfrm>
          <a:prstGeom prst="ellipse">
            <a:avLst/>
          </a:prstGeom>
          <a:solidFill>
            <a:srgbClr val="E23744"/>
          </a:solidFill>
          <a:ln/>
        </p:spPr>
      </p:sp>
      <p:sp>
        <p:nvSpPr>
          <p:cNvPr id="12" name="Text 10"/>
          <p:cNvSpPr/>
          <p:nvPr/>
        </p:nvSpPr>
        <p:spPr>
          <a:xfrm>
            <a:off x="3044952" y="21945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557016" y="2450592"/>
            <a:ext cx="1362456" cy="0"/>
          </a:xfrm>
          <a:prstGeom prst="line">
            <a:avLst/>
          </a:prstGeom>
          <a:noFill/>
          <a:ln w="19050">
            <a:solidFill>
              <a:srgbClr val="E2E5E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23160" y="2971800"/>
            <a:ext cx="1755648" cy="2651760"/>
          </a:xfrm>
          <a:prstGeom prst="roundRect">
            <a:avLst>
              <a:gd name="adj" fmla="val 4688"/>
            </a:avLst>
          </a:prstGeom>
          <a:solidFill>
            <a:srgbClr val="FDFBF8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551176" y="3127248"/>
            <a:ext cx="14996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pilot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51176" y="3730752"/>
            <a:ext cx="149961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 dogfood, all 21 screens, synthetic data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919472" y="2194560"/>
            <a:ext cx="512064" cy="512064"/>
          </a:xfrm>
          <a:prstGeom prst="ellipse">
            <a:avLst/>
          </a:prstGeom>
          <a:solidFill>
            <a:srgbClr val="E23744"/>
          </a:solidFill>
          <a:ln/>
        </p:spPr>
      </p:sp>
      <p:sp>
        <p:nvSpPr>
          <p:cNvPr id="18" name="Text 16"/>
          <p:cNvSpPr/>
          <p:nvPr/>
        </p:nvSpPr>
        <p:spPr>
          <a:xfrm>
            <a:off x="4919472" y="21945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31536" y="2450592"/>
            <a:ext cx="1362456" cy="0"/>
          </a:xfrm>
          <a:prstGeom prst="line">
            <a:avLst/>
          </a:prstGeom>
          <a:noFill/>
          <a:ln w="19050">
            <a:solidFill>
              <a:srgbClr val="E2E5E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97680" y="2971800"/>
            <a:ext cx="1755648" cy="2651760"/>
          </a:xfrm>
          <a:prstGeom prst="roundRect">
            <a:avLst>
              <a:gd name="adj" fmla="val 4688"/>
            </a:avLst>
          </a:prstGeom>
          <a:solidFill>
            <a:srgbClr val="FDFBF8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425696" y="3127248"/>
            <a:ext cx="14996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pilot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425696" y="3730752"/>
            <a:ext cx="149961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 of new signups, 1 metro, full self-serve rights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793992" y="2194560"/>
            <a:ext cx="512064" cy="512064"/>
          </a:xfrm>
          <a:prstGeom prst="ellipse">
            <a:avLst/>
          </a:prstGeom>
          <a:solidFill>
            <a:srgbClr val="E23744"/>
          </a:solidFill>
          <a:ln/>
        </p:spPr>
      </p:sp>
      <p:sp>
        <p:nvSpPr>
          <p:cNvPr id="24" name="Text 22"/>
          <p:cNvSpPr/>
          <p:nvPr/>
        </p:nvSpPr>
        <p:spPr>
          <a:xfrm>
            <a:off x="6793992" y="21945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306056" y="2450592"/>
            <a:ext cx="1362456" cy="0"/>
          </a:xfrm>
          <a:prstGeom prst="line">
            <a:avLst/>
          </a:prstGeom>
          <a:noFill/>
          <a:ln w="19050">
            <a:solidFill>
              <a:srgbClr val="E2E5E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72200" y="2971800"/>
            <a:ext cx="1755648" cy="2651760"/>
          </a:xfrm>
          <a:prstGeom prst="roundRect">
            <a:avLst>
              <a:gd name="adj" fmla="val 4688"/>
            </a:avLst>
          </a:prstGeom>
          <a:solidFill>
            <a:srgbClr val="FDFBF8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300216" y="3127248"/>
            <a:ext cx="14996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rollout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300216" y="3730752"/>
            <a:ext cx="149961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 → 50% → 100% over 4 weeks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668512" y="2194560"/>
            <a:ext cx="512064" cy="512064"/>
          </a:xfrm>
          <a:prstGeom prst="ellipse">
            <a:avLst/>
          </a:prstGeom>
          <a:solidFill>
            <a:srgbClr val="E23744"/>
          </a:solidFill>
          <a:ln/>
        </p:spPr>
      </p:sp>
      <p:sp>
        <p:nvSpPr>
          <p:cNvPr id="30" name="Text 28"/>
          <p:cNvSpPr/>
          <p:nvPr/>
        </p:nvSpPr>
        <p:spPr>
          <a:xfrm>
            <a:off x="8668512" y="21945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9180576" y="2450592"/>
            <a:ext cx="1362456" cy="0"/>
          </a:xfrm>
          <a:prstGeom prst="line">
            <a:avLst/>
          </a:prstGeom>
          <a:noFill/>
          <a:ln w="19050">
            <a:solidFill>
              <a:srgbClr val="E2E5E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046720" y="2971800"/>
            <a:ext cx="1755648" cy="2651760"/>
          </a:xfrm>
          <a:prstGeom prst="roundRect">
            <a:avLst>
              <a:gd name="adj" fmla="val 4688"/>
            </a:avLst>
          </a:prstGeom>
          <a:solidFill>
            <a:srgbClr val="FDFBF8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8174736" y="3127248"/>
            <a:ext cx="14996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Existing-user migration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174736" y="3730752"/>
            <a:ext cx="149961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Grace-period re-consent banner, 60-day window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0543032" y="2194560"/>
            <a:ext cx="512064" cy="512064"/>
          </a:xfrm>
          <a:prstGeom prst="ellipse">
            <a:avLst/>
          </a:prstGeom>
          <a:solidFill>
            <a:srgbClr val="E23744"/>
          </a:solidFill>
          <a:ln/>
        </p:spPr>
      </p:sp>
      <p:sp>
        <p:nvSpPr>
          <p:cNvPr id="36" name="Text 34"/>
          <p:cNvSpPr/>
          <p:nvPr/>
        </p:nvSpPr>
        <p:spPr>
          <a:xfrm>
            <a:off x="10543032" y="21945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9921240" y="2971800"/>
            <a:ext cx="1755648" cy="2651760"/>
          </a:xfrm>
          <a:prstGeom prst="roundRect">
            <a:avLst>
              <a:gd name="adj" fmla="val 4688"/>
            </a:avLst>
          </a:prstGeom>
          <a:solidFill>
            <a:srgbClr val="FDFBF8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10049256" y="3127248"/>
            <a:ext cx="14996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expansion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0049256" y="3730752"/>
            <a:ext cx="149961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 Consent Service to Blinkit &amp; District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Zomato Privacy Hub  ·  DPDP Act, 2023 Redesign  ·  Prathiba P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23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 &amp; TRADE-OFFS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could go wrong, and the mitigation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94960" cy="1417320"/>
          </a:xfrm>
          <a:prstGeom prst="roundRect">
            <a:avLst>
              <a:gd name="adj" fmla="val 5806"/>
            </a:avLst>
          </a:prstGeom>
          <a:solidFill>
            <a:srgbClr val="FDFBF8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874520"/>
            <a:ext cx="73152" cy="1417320"/>
          </a:xfrm>
          <a:prstGeom prst="rect">
            <a:avLst/>
          </a:prstGeom>
          <a:solidFill>
            <a:srgbClr val="E23744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1168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Granular consent adds signup friction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0E9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Mitigation: </a:t>
            </a:r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Progressive onboarding cards keep first-run to 3 taps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0" y="1874520"/>
            <a:ext cx="5394960" cy="1417320"/>
          </a:xfrm>
          <a:prstGeom prst="roundRect">
            <a:avLst>
              <a:gd name="adj" fmla="val 5806"/>
            </a:avLst>
          </a:prstGeom>
          <a:solidFill>
            <a:srgbClr val="FDFBF8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17920" y="1874520"/>
            <a:ext cx="73152" cy="1417320"/>
          </a:xfrm>
          <a:prstGeom prst="rect">
            <a:avLst/>
          </a:prstGeom>
          <a:solidFill>
            <a:srgbClr val="B5760A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201168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Field-level sharing needs partner API changes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92240" y="256032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0E9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Mitigation: </a:t>
            </a:r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Server-side filtering — no partner API contract change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447288"/>
            <a:ext cx="5394960" cy="1417320"/>
          </a:xfrm>
          <a:prstGeom prst="roundRect">
            <a:avLst>
              <a:gd name="adj" fmla="val 5806"/>
            </a:avLst>
          </a:prstGeom>
          <a:solidFill>
            <a:srgbClr val="FDFBF8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447288"/>
            <a:ext cx="73152" cy="1417320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58444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Self-serve deletion could be abused mid-dispute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2960" y="4133088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0E9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Mitigation: </a:t>
            </a:r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Erasure queues behind any open order or refund hold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3447288"/>
            <a:ext cx="5394960" cy="1417320"/>
          </a:xfrm>
          <a:prstGeom prst="roundRect">
            <a:avLst>
              <a:gd name="adj" fmla="val 5806"/>
            </a:avLst>
          </a:prstGeom>
          <a:solidFill>
            <a:srgbClr val="FDFBF8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3447288"/>
            <a:ext cx="73152" cy="1417320"/>
          </a:xfrm>
          <a:prstGeom prst="rect">
            <a:avLst/>
          </a:prstGeom>
          <a:solidFill>
            <a:srgbClr val="0E9F6E"/>
          </a:solidFill>
          <a:ln/>
        </p:spPr>
      </p:sp>
      <p:sp>
        <p:nvSpPr>
          <p:cNvPr id="18" name="Text 16"/>
          <p:cNvSpPr/>
          <p:nvPr/>
        </p:nvSpPr>
        <p:spPr>
          <a:xfrm>
            <a:off x="6492240" y="358444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Migration reads as “asking again for no reason”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92240" y="4133088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0E9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Mitigation: </a:t>
            </a:r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Banner frames it as new control, single confirm for unchanged purposes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5020056"/>
            <a:ext cx="5394960" cy="1417320"/>
          </a:xfrm>
          <a:prstGeom prst="roundRect">
            <a:avLst>
              <a:gd name="adj" fmla="val 5806"/>
            </a:avLst>
          </a:prstGeom>
          <a:solidFill>
            <a:srgbClr val="FDFBF8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5020056"/>
            <a:ext cx="73152" cy="1417320"/>
          </a:xfrm>
          <a:prstGeom prst="rect">
            <a:avLst/>
          </a:prstGeom>
          <a:solidFill>
            <a:srgbClr val="C22030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5157216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Consent Service is a single point of failure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22960" y="5705856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0E9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Mitigation: </a:t>
            </a:r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 read replicas + cached last-known-good state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17920" y="5020056"/>
            <a:ext cx="5394960" cy="1417320"/>
          </a:xfrm>
          <a:prstGeom prst="roundRect">
            <a:avLst>
              <a:gd name="adj" fmla="val 5806"/>
            </a:avLst>
          </a:prstGeom>
          <a:solidFill>
            <a:srgbClr val="FDFBF8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17920" y="5020056"/>
            <a:ext cx="73152" cy="1417320"/>
          </a:xfrm>
          <a:prstGeom prst="rect">
            <a:avLst/>
          </a:prstGeom>
          <a:solidFill>
            <a:srgbClr val="5B6773"/>
          </a:solidFill>
          <a:ln/>
        </p:spPr>
      </p:sp>
      <p:sp>
        <p:nvSpPr>
          <p:cNvPr id="26" name="Text 24"/>
          <p:cNvSpPr/>
          <p:nvPr/>
        </p:nvSpPr>
        <p:spPr>
          <a:xfrm>
            <a:off x="6492240" y="5157216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Assistant could hallucinate a sharing claim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492240" y="5705856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0E9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Mitigation: </a:t>
            </a:r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Template-only answers grounded in queried account state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Zomato Privacy Hub  ·  DPDP Act, 2023 Redesign  ·  Prathiba P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F29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3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24-MONTH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Commitments, not promises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Visible in-app under “What's Next,” so the roadmap is a product surface, not a press release.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417320" y="2148840"/>
            <a:ext cx="0" cy="4315968"/>
          </a:xfrm>
          <a:prstGeom prst="line">
            <a:avLst/>
          </a:prstGeom>
          <a:noFill/>
          <a:ln w="25400">
            <a:solidFill>
              <a:srgbClr val="3A414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34440" y="2011680"/>
            <a:ext cx="365760" cy="365760"/>
          </a:xfrm>
          <a:prstGeom prst="ellipse">
            <a:avLst/>
          </a:prstGeom>
          <a:solidFill>
            <a:srgbClr val="E23744"/>
          </a:solidFill>
          <a:ln/>
        </p:spPr>
      </p:sp>
      <p:sp>
        <p:nvSpPr>
          <p:cNvPr id="7" name="Text 5"/>
          <p:cNvSpPr/>
          <p:nvPr/>
        </p:nvSpPr>
        <p:spPr>
          <a:xfrm>
            <a:off x="1234440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965960" y="194767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434840" y="1947672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7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Purpose-wise consent, onboarding, self-serve download/delete, grievance redressal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234440" y="2761488"/>
            <a:ext cx="365760" cy="365760"/>
          </a:xfrm>
          <a:prstGeom prst="ellipse">
            <a:avLst/>
          </a:prstGeom>
          <a:solidFill>
            <a:srgbClr val="E23744"/>
          </a:solidFill>
          <a:ln/>
        </p:spPr>
      </p:sp>
      <p:sp>
        <p:nvSpPr>
          <p:cNvPr id="11" name="Text 9"/>
          <p:cNvSpPr/>
          <p:nvPr/>
        </p:nvSpPr>
        <p:spPr>
          <a:xfrm>
            <a:off x="1234440" y="27614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965960" y="26974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Transparency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434840" y="269748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7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Data Flow Map, Nutrition Label, Sharing Ledger, Consent Timeline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1234440" y="3511296"/>
            <a:ext cx="365760" cy="365760"/>
          </a:xfrm>
          <a:prstGeom prst="ellipse">
            <a:avLst/>
          </a:prstGeom>
          <a:solidFill>
            <a:srgbClr val="E23744"/>
          </a:solidFill>
          <a:ln/>
        </p:spPr>
      </p:sp>
      <p:sp>
        <p:nvSpPr>
          <p:cNvPr id="15" name="Text 13"/>
          <p:cNvSpPr/>
          <p:nvPr/>
        </p:nvSpPr>
        <p:spPr>
          <a:xfrm>
            <a:off x="1234440" y="3511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965960" y="344728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434840" y="3447288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7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Dashboard sub-scores, AI Privacy Assistant v1, notifications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1234440" y="4261104"/>
            <a:ext cx="365760" cy="365760"/>
          </a:xfrm>
          <a:prstGeom prst="ellipse">
            <a:avLst/>
          </a:prstGeom>
          <a:solidFill>
            <a:srgbClr val="E23744"/>
          </a:solidFill>
          <a:ln/>
        </p:spPr>
      </p:sp>
      <p:sp>
        <p:nvSpPr>
          <p:cNvPr id="19" name="Text 17"/>
          <p:cNvSpPr/>
          <p:nvPr/>
        </p:nvSpPr>
        <p:spPr>
          <a:xfrm>
            <a:off x="1234440" y="4261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965960" y="419709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unification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434840" y="4197096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7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consent shared (with permission) across Zomato, Blinkit, District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234440" y="5010912"/>
            <a:ext cx="365760" cy="365760"/>
          </a:xfrm>
          <a:prstGeom prst="ellipse">
            <a:avLst/>
          </a:prstGeom>
          <a:solidFill>
            <a:srgbClr val="E23744"/>
          </a:solidFill>
          <a:ln/>
        </p:spPr>
      </p:sp>
      <p:sp>
        <p:nvSpPr>
          <p:cNvPr id="23" name="Text 21"/>
          <p:cNvSpPr/>
          <p:nvPr/>
        </p:nvSpPr>
        <p:spPr>
          <a:xfrm>
            <a:off x="1234440" y="50109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Q5–Q6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965960" y="4946904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Protection for minors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4434840" y="4946904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7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Verifiable parental consent for shared/family accounts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234440" y="5760720"/>
            <a:ext cx="365760" cy="365760"/>
          </a:xfrm>
          <a:prstGeom prst="ellipse">
            <a:avLst/>
          </a:prstGeom>
          <a:solidFill>
            <a:srgbClr val="E23744"/>
          </a:solidFill>
          <a:ln/>
        </p:spPr>
      </p:sp>
      <p:sp>
        <p:nvSpPr>
          <p:cNvPr id="27" name="Text 25"/>
          <p:cNvSpPr/>
          <p:nvPr/>
        </p:nvSpPr>
        <p:spPr>
          <a:xfrm>
            <a:off x="1234440" y="5760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Q7–Q8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965960" y="569671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Privacy-preserving AI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4434840" y="5696712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7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On-device recommendation scoring, AI Copilot v2, public transparency reports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Zomato Privacy Hub  ·  DPDP Act, 2023 Redesign  ·  Prathiba P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23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solution wins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FDFBF8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11680"/>
            <a:ext cx="502920" cy="502920"/>
          </a:xfrm>
          <a:prstGeom prst="ellipse">
            <a:avLst/>
          </a:prstGeom>
          <a:solidFill>
            <a:srgbClr val="0E9F6E"/>
          </a:solidFill>
          <a:ln/>
        </p:spPr>
      </p:sp>
      <p:pic>
        <p:nvPicPr>
          <p:cNvPr id="6" name="Image 0" descr="icons/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148840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6517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trust it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77240" y="30175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claim is checkable in-app, in real time — not asserted in an unread policy.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297680" y="1783080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FDFBF8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26280" y="2011680"/>
            <a:ext cx="502920" cy="502920"/>
          </a:xfrm>
          <a:prstGeom prst="ellipse">
            <a:avLst/>
          </a:prstGeom>
          <a:solidFill>
            <a:srgbClr val="2F6FED"/>
          </a:solidFill>
          <a:ln/>
        </p:spPr>
      </p:sp>
      <p:pic>
        <p:nvPicPr>
          <p:cNvPr id="11" name="Image 1" descr="icons/char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2148840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26280" y="26517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Zomato benefits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526280" y="30175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informed opt-in improves personalization and marketing reach.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046720" y="1783080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FDFBF8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75320" y="2011680"/>
            <a:ext cx="502920" cy="502920"/>
          </a:xfrm>
          <a:prstGeom prst="ellipse">
            <a:avLst/>
          </a:prstGeom>
          <a:solidFill>
            <a:srgbClr val="B5760A"/>
          </a:solidFill>
          <a:ln/>
        </p:spPr>
      </p:sp>
      <p:pic>
        <p:nvPicPr>
          <p:cNvPr id="16" name="Image 2" descr="icons/server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2148840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75320" y="26517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Engineers can build it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275320" y="30175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Consent Service and one Audit stream power every screen — no bespoke data model per feature.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3931920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FDFBF8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4160520"/>
            <a:ext cx="502920" cy="502920"/>
          </a:xfrm>
          <a:prstGeom prst="ellipse">
            <a:avLst/>
          </a:prstGeom>
          <a:solidFill>
            <a:srgbClr val="E23744"/>
          </a:solidFill>
          <a:ln/>
        </p:spPr>
      </p:sp>
      <p:pic>
        <p:nvPicPr>
          <p:cNvPr id="21" name="Image 3" descr="icons/gavel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297680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77240" y="4800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approves it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77240" y="51663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screen maps to a named DPDP section, closing real gaps.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297680" y="3931920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FDFBF8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26280" y="4160520"/>
            <a:ext cx="502920" cy="502920"/>
          </a:xfrm>
          <a:prstGeom prst="ellipse">
            <a:avLst/>
          </a:prstGeom>
          <a:solidFill>
            <a:srgbClr val="C22030"/>
          </a:solidFill>
          <a:ln/>
        </p:spPr>
      </p:sp>
      <p:pic>
        <p:nvPicPr>
          <p:cNvPr id="26" name="Image 4" descr="icons/bullsey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4297680"/>
            <a:ext cx="237744" cy="23774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26280" y="4800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Executives approve it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526280" y="51663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Support-cost reduction and growth upside pay for the build within measurable quarters.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046720" y="3931920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FDFBF8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275320" y="4160520"/>
            <a:ext cx="502920" cy="502920"/>
          </a:xfrm>
          <a:prstGeom prst="ellipse">
            <a:avLst/>
          </a:prstGeom>
          <a:solidFill>
            <a:srgbClr val="1F2933"/>
          </a:solidFill>
          <a:ln/>
        </p:spPr>
      </p:sp>
      <p:pic>
        <p:nvPicPr>
          <p:cNvPr id="31" name="Image 5" descr="icons/shield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480" y="4297680"/>
            <a:ext cx="237744" cy="23774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275320" y="4800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differentiates Zomato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8275320" y="51663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major Indian consumer app exposes a live data-flow map or a per-order nutrition label today.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Zomato Privacy Hub  ·  DPDP Act, 2023 Redesign  ·  Prathiba P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Zomato Privacy Hub — DPDP Redesign</dc:title>
  <dc:subject>PptxGenJS Presentation</dc:subject>
  <dc:creator>Prathiba P</dc:creator>
  <cp:lastModifiedBy>Prathiba P</cp:lastModifiedBy>
  <cp:revision>1</cp:revision>
  <dcterms:created xsi:type="dcterms:W3CDTF">2026-07-05T04:18:49Z</dcterms:created>
  <dcterms:modified xsi:type="dcterms:W3CDTF">2026-07-05T04:18:49Z</dcterms:modified>
</cp:coreProperties>
</file>