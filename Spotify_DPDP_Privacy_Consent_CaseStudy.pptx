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CHR %</c:v>
                </c:pt>
              </c:strCache>
            </c:strRef>
          </c:tx>
          <c:spPr>
            <a:solidFill>
              <a:srgbClr val="1DB954"/>
            </a:solidFill>
            <a:ln w="31750" cap="flat">
              <a:solidFill>
                <a:srgbClr val="1DB9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DB954"/>
              </a:solidFill>
              <a:ln w="9525" cap="flat">
                <a:solidFill>
                  <a:srgbClr val="1DB9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61</c:v>
                </c:pt>
                <c:pt idx="1">
                  <c:v>68</c:v>
                </c:pt>
                <c:pt idx="2">
                  <c:v>74</c:v>
                </c:pt>
                <c:pt idx="3">
                  <c:v>71</c:v>
                </c:pt>
                <c:pt idx="4">
                  <c:v>77</c:v>
                </c:pt>
                <c:pt idx="5">
                  <c:v>79</c:v>
                </c:pt>
                <c:pt idx="6">
                  <c:v>81</c:v>
                </c:pt>
                <c:pt idx="7">
                  <c:v>65</c:v>
                </c:pt>
                <c:pt idx="8">
                  <c:v>74</c:v>
                </c:pt>
                <c:pt idx="9">
                  <c:v>80</c:v>
                </c:pt>
                <c:pt idx="10">
                  <c:v>84</c:v>
                </c:pt>
                <c:pt idx="11">
                  <c:v>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2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27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A2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27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reframing consent as a product surface, not a legal checkbox. Anchor on the ₹250 Cr number and the single-tap bundled consent to make the risk visceral. State assumptions explicitly since this is a public case study without access to Spotify's real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why the child persona is fundamentally different: DPDP treats anyone under 18 as a child requiring verifiable parental consent, so Kabir cannot be a decision-maker at all — the product must design the parent (Meera) as the consent owner on his behalf.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straightforward gap analysis. The recurring theme across every row is bundling: purposes are merged and consent is captured once, upfront, instead of being granular and renewable — the core DPDP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maps 1:1 to a DPDP clause: granular toggles = purpose limitation, minimised defaults = data minimisation, download/delete = data principal rights, parental flow = Section 9 children's data protection. Rejected alternative: a single 'privacy score' slider — too opaque and itself a dark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this is a journey map, not a wireframe flow — steps 4-6 are optional, revisited states, not sequential gates. The one non-negotiable gate is step 5, parental verification, which blocks any data collection beyond core playback for a minor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 is deliberately a compliance-and-trust metric, not an engagement metric — this keeps the team honest that a high opt-in rate achieved via dark patterns would not move this number if consent later gets challenged as invalid. Guardrails ensure the privacy work doesn't quietly tank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elimination, not guessing: start broad (technical vs external vs segment), narrow with data, and only then propose an action — resist the urge to jump straight to 'let's add a re-consent nudge' before root-causing.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 data throughout. Point out the W8 dip mirrors the diagnostic scenario on the previous slide — dashboards like this are exactly how that investigation would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experiment note explicitly — this answers the brief's specific question about which compliance elements can't be safely A/B tested. Beta phase is opt-in, not silent, since consent UX itself needs to be trustworthy even during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the north star of the whole project: consent as a trust product, not a legal patch. Be ready to defend the OFF-by-default decision — it's the single most consequential trade-off in the deck and the one interviewers will probe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 · SLIDE 1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Is Spotify's Weakest Skip Button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area: onboarding permissions &amp; ongoing personalisation consent for Indian users, under the DPDP Act, 2023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4297680"/>
          </a:xfrm>
          <a:prstGeom prst="roundRect">
            <a:avLst>
              <a:gd name="adj" fmla="val 191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310896" cy="310896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622" y="2689982"/>
            <a:ext cx="143012" cy="143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57860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exposure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penalties reach up to ₹250 Cr per instance; India is Spotify's 2nd-largest market by MAU.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520440"/>
            <a:ext cx="310896" cy="310896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22" y="3604382"/>
            <a:ext cx="143012" cy="143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49300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erosion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flow bundles personalisation, ads and analytics into one all-or-nothing “Allow” tap at signup.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68680" y="4434840"/>
            <a:ext cx="310896" cy="310896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22" y="4518782"/>
            <a:ext cx="143012" cy="1430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40740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data gap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Plan and Spotify Kids collect listening + voice data from minors without verifiable parental consent.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68680" y="5349240"/>
            <a:ext cx="310896" cy="310896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22" y="5433182"/>
            <a:ext cx="143012" cy="1430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32180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opportunity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trustworthy, granular consent layer can become a retention and premium-conversion lever, not just a compliance tax.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269480" y="1920240"/>
            <a:ext cx="4370832" cy="1965960"/>
          </a:xfrm>
          <a:prstGeom prst="roundRect">
            <a:avLst>
              <a:gd name="adj" fmla="val 418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54380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RISK, TODAY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5438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₹250 Cr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7543800" y="29443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penalty per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non-compliance instance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960120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tap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9601200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consent for personalisation + ads + analytics, combined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269480" y="4069080"/>
            <a:ext cx="4370832" cy="2148840"/>
          </a:xfrm>
          <a:prstGeom prst="roundRect">
            <a:avLst>
              <a:gd name="adj" fmla="val 383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543800" y="4233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ASSUMPTIONS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543800" y="452628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DPDP text + MeitY draft rules used; no NDA/internal Spotify data referenced.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Spotify's current India flow is modelled on its public onboarding — a single bundled consent screen.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“Significant Data Fiduciary” obligations (DPO, audits) assumed to apply given Spotify's scale.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People, Four Very Different Consent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24912" cy="4709160"/>
          </a:xfrm>
          <a:prstGeom prst="roundRect">
            <a:avLst>
              <a:gd name="adj" fmla="val 302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28216"/>
            <a:ext cx="502920" cy="50292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84" y="1864004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Aditi, 27 — Adult free+premium user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2552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Effortless Discover Weekly; hates re-authenticating.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PAIN POINT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8096" y="433425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know mic access powers voice search, not eavesdropping.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8096" y="51755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JOB-TO-BE-DONE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" y="5413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 me enjoy personalised music without babysitting settings.”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38144" y="1508760"/>
            <a:ext cx="2724912" cy="4709160"/>
          </a:xfrm>
          <a:prstGeom prst="roundRect">
            <a:avLst>
              <a:gd name="adj" fmla="val 302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0" y="1728216"/>
            <a:ext cx="502920" cy="50292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388" y="1864004"/>
            <a:ext cx="231343" cy="23134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Rehan, 16 — Teen user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57600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657600" y="32552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Independence; wants his own account, not a kid's one.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657600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PAIN POINT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657600" y="433425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personalisation feels invasive; unsure what parents can see.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657600" y="51755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JOB-TO-BE-DONE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657600" y="5413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“Give me real controls, not a watered-down app.”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327648" y="1508760"/>
            <a:ext cx="2724912" cy="4709160"/>
          </a:xfrm>
          <a:prstGeom prst="roundRect">
            <a:avLst>
              <a:gd name="adj" fmla="val 302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47104" y="1728216"/>
            <a:ext cx="502920" cy="50292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92" y="1864004"/>
            <a:ext cx="231343" cy="23134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47104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Meera, 41 — Parent, Family Plan owner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547104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547104" y="32552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music for her 9-year-old without micromanaging.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47104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PAIN POINT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6547104" y="433425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what data her child's listening generates.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547104" y="51755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JOB-TO-BE-DONE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547104" y="5413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 me approve once and trust the defaults after.”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9217152" y="1508760"/>
            <a:ext cx="2724912" cy="4709160"/>
          </a:xfrm>
          <a:prstGeom prst="roundRect">
            <a:avLst>
              <a:gd name="adj" fmla="val 302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9436608" y="1728216"/>
            <a:ext cx="502920" cy="50292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396" y="1864004"/>
            <a:ext cx="231343" cy="23134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436608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Kabir, 9 — Child, Spotify Kids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436608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9436608" y="32552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big colourful icons and hear favourite songs.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436608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PAIN POINT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9436608" y="433425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meaningfully consent; needs zero decision friction.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9436608" y="51755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JOB-TO-BE-DONE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9436608" y="5413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play the song when I tap it.”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Today's Flow Against DPDP Expectations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663440"/>
                <a:gridCol w="41148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B954"/>
                          </a:solidFill>
                        </a:rPr>
                        <a:t>Journey step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B954"/>
                          </a:solidFill>
                        </a:rPr>
                        <a:t>Current treatment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B954"/>
                          </a:solidFill>
                        </a:rPr>
                        <a:t>DPDP gap / friction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 creation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Email/phone + social login; no age gate beyond a self-declared birth year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No verifiable age-check → minors can pass as adults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Personalisation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Bundled into “Agree &amp; Continue” at signup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Fails purpose limitation — one consent covers many purposes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Requested opportunistically for local charts / concerts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Purpose shown late, after permission already granted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Microphone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Used for voice search &amp; Car Thing; framed vaguely as “voice features”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Consent notice doesn't name the specific purpose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Advertising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Free-tier ad personalisation is on by default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No easy “reject” equal in prominence to “accept”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 sharing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Shared with ad partners / analytics SDKs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No visible register of who data is shared with, or why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Children (Family/Kids)</a:t>
                      </a:r>
                      <a:endParaRPr lang="en-US" sz="10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Parent creates plan; child profile inherits data collection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No verifiable parental consent event captured or logged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Privacy &amp; Consent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native surface inside Settings that makes consent granular, reversible and legible — without adding steps to first play.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21024" cy="2103120"/>
          </a:xfrm>
          <a:prstGeom prst="roundRect">
            <a:avLst>
              <a:gd name="adj" fmla="val 391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06824" y="1874520"/>
            <a:ext cx="3621024" cy="2103120"/>
          </a:xfrm>
          <a:prstGeom prst="roundRect">
            <a:avLst>
              <a:gd name="adj" fmla="val 391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65008" y="1874520"/>
            <a:ext cx="3621024" cy="2103120"/>
          </a:xfrm>
          <a:prstGeom prst="roundRect">
            <a:avLst>
              <a:gd name="adj" fmla="val 391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4160520"/>
            <a:ext cx="3621024" cy="2103120"/>
          </a:xfrm>
          <a:prstGeom prst="roundRect">
            <a:avLst>
              <a:gd name="adj" fmla="val 391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06824" y="4160520"/>
            <a:ext cx="3621024" cy="2103120"/>
          </a:xfrm>
          <a:prstGeom prst="roundRect">
            <a:avLst>
              <a:gd name="adj" fmla="val 391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65008" y="4160520"/>
            <a:ext cx="3621024" cy="2103120"/>
          </a:xfrm>
          <a:prstGeom prst="roundRect">
            <a:avLst>
              <a:gd name="adj" fmla="val 391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2112264"/>
            <a:ext cx="457200" cy="45720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235708"/>
            <a:ext cx="210312" cy="2103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" y="2679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purpose toggles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3081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Personalisation, analytics, ads &amp; location each get an independent switch — purpose limitation by design.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44568" y="2112264"/>
            <a:ext cx="457200" cy="45720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235708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44568" y="2679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history &amp; renewal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44568" y="3081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grant/withdrawal is timestamped; consent auto-expires and re-prompts after 12 months.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302752" y="2112264"/>
            <a:ext cx="457200" cy="45720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2235708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02752" y="2679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minimisation defaults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02752" y="3081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Non-essential toggles ship OFF; only playback-critical data is on by default.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6384" y="4398264"/>
            <a:ext cx="457200" cy="45720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4521708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6384" y="4965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my data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86384" y="5367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export of listening history, playlists &amp; inferred taste profile within 72 hrs.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44568" y="4398264"/>
            <a:ext cx="457200" cy="45720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4521708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44568" y="4965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data / account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44568" y="5367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erasure with a clear retention-vs-legal-hold explanation, honouring the right to erasure.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302752" y="4398264"/>
            <a:ext cx="457200" cy="45720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196" y="4521708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4965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parental consent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02752" y="5367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+ light ID check before any minor's profile can collect data beyond core playback.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Consent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578608"/>
            <a:ext cx="10332720" cy="0"/>
          </a:xfrm>
          <a:prstGeom prst="line">
            <a:avLst/>
          </a:prstGeom>
          <a:noFill/>
          <a:ln w="254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194560"/>
            <a:ext cx="768096" cy="768096"/>
          </a:xfrm>
          <a:prstGeom prst="ellipse">
            <a:avLst/>
          </a:prstGeom>
          <a:solidFill>
            <a:srgbClr val="1DB9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738" y="2401946"/>
            <a:ext cx="353324" cy="3533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190195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0" y="3099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34381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up; core playback works with zero optional data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96896" y="2194560"/>
            <a:ext cx="768096" cy="768096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282" y="2401946"/>
            <a:ext cx="353324" cy="3533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96896" y="190195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066544" y="3099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consent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66544" y="34381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One-screen toggles, plain-language purposes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63440" y="2194560"/>
            <a:ext cx="768096" cy="768096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826" y="2401946"/>
            <a:ext cx="353324" cy="3533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190195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133088" y="3099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133088" y="34381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Recs improve live as toggles turn 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29984" y="2194560"/>
            <a:ext cx="768096" cy="768096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370" y="2401946"/>
            <a:ext cx="353324" cy="3533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29984" y="190195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199632" y="3099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anytime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199632" y="34381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Hub in Settings, always one tap away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8796528" y="2194560"/>
            <a:ext cx="768096" cy="768096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3914" y="2401946"/>
            <a:ext cx="353324" cy="3533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96528" y="190195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266176" y="3099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verifies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266176" y="34381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+ ID check unlocks child profile features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10863072" y="2194560"/>
            <a:ext cx="768096" cy="768096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0458" y="2401946"/>
            <a:ext cx="353324" cy="3533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863072" y="190195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0332720" y="30998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 / delete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332720" y="34381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off or erase — effective within 72 hrs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5518404"/>
            <a:ext cx="210312" cy="21031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17320" y="528523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collection never blocks first play. Only step 4 (Manage) and step 6 (Withdraw/Delete) are user-initiated — the rest happen inline, in context, with music already playing in the background.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132A1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DB9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7940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36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544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Health Rate (CHR)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1600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MAUs in India with valid, current, purpose-level consent on record (not expired, not stale after a feature change)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3621024" cy="233172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8803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metrics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246120"/>
            <a:ext cx="31638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completion rate (started → finished)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time-to-consent decision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rights fulfilment rate (download/delete SLA met)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06824" y="2697480"/>
            <a:ext cx="3621024" cy="233172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35424" y="28803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metrics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35424" y="3246120"/>
            <a:ext cx="31638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/ D28 retention (must not regress)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conversion rate (must not regress)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65008" y="2697480"/>
            <a:ext cx="3621024" cy="233172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93608" y="28803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Output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93608" y="3246120"/>
            <a:ext cx="31638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Hub visits, toggle interactions, prompt impressions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CHR, withdrawal rate, complaint volume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5212080"/>
            <a:ext cx="11109960" cy="1005840"/>
          </a:xfrm>
          <a:prstGeom prst="roundRect">
            <a:avLst>
              <a:gd name="adj" fmla="val 818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48640" y="5349240"/>
            <a:ext cx="2777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605272"/>
            <a:ext cx="27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85% within 90 days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26130" y="5349240"/>
            <a:ext cx="2777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completion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326130" y="5605272"/>
            <a:ext cx="27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92%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03620" y="5349240"/>
            <a:ext cx="2777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SLA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03620" y="5605272"/>
            <a:ext cx="27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72 hrs, 99% of requests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881110" y="5349240"/>
            <a:ext cx="2777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881110" y="5605272"/>
            <a:ext cx="27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0.05% of MAU / month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 Drops 15% in Week 3 — Now What?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release shipped. Walking the hypothesis tree before touching the roadmap.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21024" cy="2423160"/>
          </a:xfrm>
          <a:prstGeom prst="roundRect">
            <a:avLst>
              <a:gd name="adj" fmla="val 339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984248"/>
            <a:ext cx="420624" cy="420624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64" y="2097816"/>
            <a:ext cx="193487" cy="193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03911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technical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" y="2560320"/>
            <a:ext cx="3182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Consent-expiry job mis-fired, flagging valid grants as stale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dependent SDK update silently reset local toggle state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app version shipped a broken re-consent prompt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306824" y="1783080"/>
            <a:ext cx="3621024" cy="2423160"/>
          </a:xfrm>
          <a:prstGeom prst="roundRect">
            <a:avLst>
              <a:gd name="adj" fmla="val 339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984248"/>
            <a:ext cx="420624" cy="420624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848" y="2097816"/>
            <a:ext cx="193487" cy="1934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84064" y="203911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/ policy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26280" y="2560320"/>
            <a:ext cx="3182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MeitY published draft rules tightening a definition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cycle on a data-breach elsewhere spooked users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OS-level privacy prompt (iOS/Android) now double-gates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8065008" y="1783080"/>
            <a:ext cx="3621024" cy="2423160"/>
          </a:xfrm>
          <a:prstGeom prst="roundRect">
            <a:avLst>
              <a:gd name="adj" fmla="val 339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84464" y="1984248"/>
            <a:ext cx="420624" cy="420624"/>
          </a:xfrm>
          <a:prstGeom prst="ellipse">
            <a:avLst/>
          </a:prstGeom>
          <a:solidFill>
            <a:srgbClr val="132A1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032" y="2097816"/>
            <a:ext cx="193487" cy="1934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42248" y="203911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Segment-specific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84464" y="2560320"/>
            <a:ext cx="3182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concentrated in one OS, region or age band?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New-user cohort vs existing-user re-consent cohort?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vs Premium — different prompt surfaces?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48640" y="4434840"/>
            <a:ext cx="11109960" cy="1783080"/>
          </a:xfrm>
          <a:prstGeom prst="roundRect">
            <a:avLst>
              <a:gd name="adj" fmla="val 4615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4786884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&amp; ACTION PLAN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463040" y="502920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Slice CHR by platform, app version, country, cohort (new vs renewal) in the consent-events funnel table.</a:t>
            </a:r>
            <a:endParaRPr lang="en-US" sz="10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the consent-expiry cron logs and toggle-write success rate around the app version that shipped in the window.</a:t>
            </a:r>
            <a:endParaRPr lang="en-US" sz="10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Pull support-ticket and app-store review themes for the same window to rule out a UX regression.</a:t>
            </a:r>
            <a:endParaRPr lang="en-US" sz="10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If isolated to one version/segment → hotfix + forced re-sync. If broad → pause any dependent personalisation rollout and communicate proactively.</a:t>
            </a:r>
            <a:endParaRPr lang="en-US" sz="102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Consent Health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HEALTH RATE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86.4%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+2.1 pts WoW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COMPLETION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20440" y="1801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2219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 pts WoW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SLA MET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09360" y="1801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2219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15400" y="141732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COMPLAINTS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098280" y="1801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98280" y="22219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-0.01 pts WoW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5623560" cy="2606040"/>
          </a:xfrm>
          <a:prstGeom prst="roundRect">
            <a:avLst>
              <a:gd name="adj" fmla="val 315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2788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 — 12 WEEK TREND</a:t>
            </a:r>
            <a:endParaRPr lang="en-US" sz="9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77240" y="3063240"/>
          <a:ext cx="5166360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309360" y="265176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537960" y="2788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— THIS WEEK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090672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Segment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CHR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Withdrawal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Android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84.9%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1.8%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iOS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88.6%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1.1%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Age 18-24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79.2%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2.4%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Age 35+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91.0%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0.7%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90.5%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0.9%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Free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82.1%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2.2%</a:t>
                      </a:r>
                      <a:endParaRPr lang="en-US" sz="9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548640" y="544068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77240" y="5605272"/>
            <a:ext cx="384048" cy="384048"/>
          </a:xfrm>
          <a:prstGeom prst="ellipse">
            <a:avLst/>
          </a:prstGeom>
          <a:solidFill>
            <a:srgbClr val="1DB954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33" y="5708965"/>
            <a:ext cx="176662" cy="17666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80160" y="560527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Android + Free + 18-24 is the weakest segment — points to a prompt/placement issue in the free-tier upgrade nudges, not a policy or legal gap.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 &amp; Risk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88920" y="14630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14630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69480" y="14630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132A1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09760" y="146304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627632"/>
            <a:ext cx="365760" cy="365760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1627632"/>
            <a:ext cx="365760" cy="365760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1627632"/>
            <a:ext cx="365760" cy="365760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52360" y="1627632"/>
            <a:ext cx="365760" cy="365760"/>
          </a:xfrm>
          <a:prstGeom prst="ellipse">
            <a:avLst/>
          </a:prstGeom>
          <a:solidFill>
            <a:srgbClr val="1F1F1F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1627632"/>
            <a:ext cx="365760" cy="365760"/>
          </a:xfrm>
          <a:prstGeom prst="ellipse">
            <a:avLst/>
          </a:prstGeom>
          <a:solidFill>
            <a:srgbClr val="1F1F1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726387"/>
            <a:ext cx="168250" cy="16825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555" y="1726387"/>
            <a:ext cx="168250" cy="16825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395" y="1726387"/>
            <a:ext cx="168250" cy="16825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835" y="1726387"/>
            <a:ext cx="168250" cy="16825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115" y="1726387"/>
            <a:ext cx="168250" cy="1682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3232" y="20848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Dogfood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713232" y="23774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wks · internal Spotify India employees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2679192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2953512" y="20848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+ legal sign-off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2953512" y="23774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wk · DPO &amp; compliance review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919472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193792" y="20848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193792" y="23774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wks · 5% India users, opt-in cohort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159752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434072" y="20848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rollout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7434072" y="23774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India · staged by platform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400032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9674352" y="20848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template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9674352" y="23774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Hub for GDPR/CCPA markets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48640" y="30632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note: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consent gates (parental verification, purpose-limitation defaults) are not A/B tested — they're compliance floors. We A/B test the </a:t>
            </a:r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surrounding UX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only: copy, prompt timing, and visual hierarchy of the Hub entry point.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109960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1188720"/>
                <a:gridCol w="118872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Risk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Likelihood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Impact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B954"/>
                          </a:solidFill>
                        </a:rPr>
                        <a:t>Mitigation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Consent-step friction drops premium conversion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Med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Progressive disclosure; no gate before first play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Engineering: retrofitting legacy SDK data flows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Med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Phase by data category; ship minimisation first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Parental verification abandonment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Med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OTP-first, ID check only as fallback, not default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Users mass-withdraw analytics consent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0A868"/>
                          </a:solidFill>
                        </a:rPr>
                        <a:t>Med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B3B3"/>
                          </a:solidFill>
                        </a:rPr>
                        <a:t>Explain value exchange in plain language, in-context</a:t>
                      </a:r>
                      <a:endParaRPr lang="en-US" sz="9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</a:tbl>
          </a:graphicData>
        </a:graphic>
      </p:graphicFrame>
      <p:sp>
        <p:nvSpPr>
          <p:cNvPr id="36" name="Text 28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Decisions, Trade-offs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PRODUCT DECISIONS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Settings-native Hub, not a modal takeover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consent discoverable and revisitable, instead of a one-time interruption users forget existed.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OFF for everything non-essential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 a lower initial personalisation rate for consent that is actually valid under DPDP's data-minimisation principle.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OTP-first parental verification, ID check as fallback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pure self-declaration (not verifiable) and mandatory ID-upload-only (too much friction, drops legitimate parents).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64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ROADMAP, NEXT 2 QUARTERS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— Consent Hub GA in India, parental verification, data export/delete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— Consent-aware recommendation engine (respects per-purpose opt-outs in real time)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— Extend Hub template to EU (GDPR) and US-state markets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3886200"/>
            <a:ext cx="5486400" cy="2423160"/>
          </a:xfrm>
          <a:prstGeom prst="roundRect">
            <a:avLst>
              <a:gd name="adj" fmla="val 339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4087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TALKING 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43891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not just show a cookie-style banner?” → banners satisfy notice, not purpose limitation or revocability — DPDP needs both.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you protect conversion?” → nothing blocks first play; only Manage/Delete are user-initiated.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you know consent is still valid?” → CHR + 12-month auto-expiry make staleness measurable, not assumed.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PRIVACY CASE STUDY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x DPDP Act 2023 — Privacy &amp; Consent Experience</dc:title>
  <dc:subject>PptxGenJS Presentation</dc:subject>
  <dc:creator>Product Thinking Case Study</dc:creator>
  <cp:lastModifiedBy>Product Thinking Case Study</cp:lastModifiedBy>
  <cp:revision>1</cp:revision>
  <dcterms:created xsi:type="dcterms:W3CDTF">2026-07-03T17:40:55Z</dcterms:created>
  <dcterms:modified xsi:type="dcterms:W3CDTF">2026-07-03T17:40:55Z</dcterms:modified>
</cp:coreProperties>
</file>