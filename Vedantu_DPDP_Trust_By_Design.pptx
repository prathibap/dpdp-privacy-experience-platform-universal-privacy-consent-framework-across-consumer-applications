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Consent Coverage %</c:v>
                </c:pt>
              </c:strCache>
            </c:strRef>
          </c:tx>
          <c:spPr>
            <a:solidFill>
              <a:srgbClr val="FF6300"/>
            </a:solidFill>
            <a:ln w="31750" cap="flat">
              <a:solidFill>
                <a:srgbClr val="FF63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F6300"/>
              </a:solidFill>
              <a:ln w="9525" cap="flat">
                <a:solidFill>
                  <a:srgbClr val="FF63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61</c:v>
                </c:pt>
                <c:pt idx="1">
                  <c:v>68</c:v>
                </c:pt>
                <c:pt idx="2">
                  <c:v>74</c:v>
                </c:pt>
                <c:pt idx="3">
                  <c:v>77</c:v>
                </c:pt>
                <c:pt idx="4">
                  <c:v>81</c:v>
                </c:pt>
                <c:pt idx="5">
                  <c:v>85</c:v>
                </c:pt>
                <c:pt idx="6">
                  <c:v>88</c:v>
                </c:pt>
                <c:pt idx="7">
                  <c:v>91.4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2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E6E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C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A2C57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2A2C57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17320"/>
            <a:ext cx="685800" cy="685800"/>
          </a:xfrm>
          <a:prstGeom prst="ellipse">
            <a:avLst/>
          </a:prstGeom>
          <a:solidFill>
            <a:srgbClr val="2A2C57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" y="1595628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THINKING DECK  ·  DPDP ACT, 2023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265176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by Design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7947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Redesigning Vedantu's data &amp; consent experience so DPDP compliance</a:t>
            </a:r>
            <a:endParaRPr lang="en-US" sz="15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becomes a reason students, parents, and teachers trust the platform more.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8C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— Product Management Intern Assignment  |  Vedantu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PROBLEM STATEMENT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at Vedantu is a single checkbox — but a third of its users are children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48640" cy="54864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726" y="1742846"/>
            <a:ext cx="263347" cy="26334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572768"/>
            <a:ext cx="9875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bundles ToS, privacy, and marketing consent into one "Accept &amp; Continue" tap — no distinction between an 18-year-old JEE aspirant and a 13-year-old signing up with a parent's phone.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5358384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68680" y="264261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2935224"/>
            <a:ext cx="49011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Sec. 9 requires verifiable parental consent before processing a child's data (any user &lt;18) — Vedantu's core demographic.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2514600"/>
            <a:ext cx="5358384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391656" y="2642616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391656" y="2935224"/>
            <a:ext cx="49011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 up to ₹250 Cr per instance; procurement teams at schools now ask for DPDP compliance letters before onboarding.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4471416"/>
            <a:ext cx="5358384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68680" y="4599432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IMPACT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868680" y="4892040"/>
            <a:ext cx="49011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the fee-payers. A 2024 LocalCircles survey found 76% of parents want visibility into what ed-tech apps do with their child's data.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63056" y="4471416"/>
            <a:ext cx="5358384" cy="1792224"/>
          </a:xfrm>
          <a:prstGeom prst="roundRect">
            <a:avLst>
              <a:gd name="adj" fmla="val 45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391656" y="4599432"/>
            <a:ext cx="4901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IMPACT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391656" y="4892040"/>
            <a:ext cx="4901184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Camera/mic capture during live classes, attendance, and AI-analytics on minors are all "significant data fiduciary"-grade processing.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USER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parent decides trust. The student decides friction tolerance.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FFEDDD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" y="191383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Priya, 41 — The Parent (Primary)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55448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Fee-payer, non-technical, protective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25603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know exactly what's collected during her son's live classes, and be able to say no.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consent buried in a ToS she never reads; no idea camera stays on or recordings are stored.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JTBD: "When my child joins a class, I want visible control, so I can trust Vedantu with him."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508760"/>
            <a:ext cx="5303520" cy="4160520"/>
          </a:xfrm>
          <a:prstGeom prst="roundRect">
            <a:avLst>
              <a:gd name="adj" fmla="val 1978"/>
            </a:avLst>
          </a:prstGeom>
          <a:solidFill>
            <a:srgbClr val="E9E9F4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17830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2999" y="1913839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Aarav, 15 — The Student (Secondary)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7132320" y="208483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Digitally fluent, low patience for friction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492240" y="25603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join class in one tap; doesn't want to wait on a parent for every routine action.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point: today, permission prompts (camera/mic) feel like a generic OS popup, not a Vedantu one.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JTBD: "When I open a class, I want it to just work, without re-asking my parent each time."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CURRENT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Heuristic walkthrough: where today's flow breaks DPDP and breaks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881360" cy="384048"/>
          </a:xfrm>
          <a:prstGeom prst="rect">
            <a:avLst/>
          </a:prstGeom>
          <a:solidFill>
            <a:srgbClr val="1B1C39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 STEP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2971800" y="1600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TODAY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001000" y="160020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/ TRUST GAP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1984248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9842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71800" y="1984248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collected, but no branch logic for &lt;18 → no parental consent captured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01000" y="1984248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9 gap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2642616"/>
            <a:ext cx="10881360" cy="658368"/>
          </a:xfrm>
          <a:prstGeom prst="rect">
            <a:avLst/>
          </a:prstGeom>
          <a:solidFill>
            <a:srgbClr val="F4F4FA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642616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71800" y="2642616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Camera/mic requested by the OS only, no in-app purpose shown first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001000" y="2642616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not "informed"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3300984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300984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971800" y="3300984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push + email marketing bundled with essential class alerts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001000" y="3300984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purpose limitation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59352"/>
            <a:ext cx="10881360" cy="658368"/>
          </a:xfrm>
          <a:prstGeom prst="rect">
            <a:avLst/>
          </a:prstGeom>
          <a:solidFill>
            <a:srgbClr val="F4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959352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rights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971800" y="395935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Deletion/export only via emailing support@vedantu.com, no SLA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8001000" y="39593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Sec. 11–13 gap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108813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1772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971800" y="4617720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recommendations use activity data with no visible opt-out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8001000" y="4617720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granular control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PROPOSED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Privacy Hub: one place to see, control, and revoke every permission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57200" cy="45720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1947672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Age-Gated Onboarding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branches &lt;18 users into OTP-based parent verification before any class or AI feature activates.</a:t>
            </a:r>
            <a:endParaRPr lang="en-US" sz="108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28800"/>
            <a:ext cx="457200" cy="45720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1947672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Contextual Consent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72000" y="2834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Camera/mic explained and requested at first live-class join — not buried at signup — with a plain-language "why."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828800"/>
            <a:ext cx="457200" cy="45720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1947672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75320" y="2468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History Log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275320" y="28346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grant/revoke is timestamped and visible to both student and parent — the audit trail DPDP Sec. 8 expects.</a:t>
            </a:r>
            <a:endParaRPr lang="en-US" sz="108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389120"/>
            <a:ext cx="457200" cy="45720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507992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6868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One-Tap Data Export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53949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download of profile, attendance, and analytics data as a structured file — no support ticket needed.</a:t>
            </a:r>
            <a:endParaRPr lang="en-US" sz="108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389120"/>
            <a:ext cx="457200" cy="45720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90872" y="4507992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Self-Serve Deletion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72000" y="53949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request triggers a 7-day grace window (recoverable), then irreversible purge with confirmation receipt.</a:t>
            </a:r>
            <a:endParaRPr lang="en-US" sz="108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389120"/>
            <a:ext cx="457200" cy="45720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4192" y="4507992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275320" y="50292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Granular Toggles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275320" y="539496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switches for marketing comms, learning analytics, and AI recommendations — decoupled from essential alerts.</a:t>
            </a:r>
            <a:endParaRPr lang="en-US" sz="1080" dirty="0"/>
          </a:p>
        </p:txBody>
      </p:sp>
      <p:sp>
        <p:nvSpPr>
          <p:cNvPr id="34" name="Text 2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METRICS &amp; SUCCESS CRITERIA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North Star: the share of accounts with valid, current DPDP consent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91840" cy="2011680"/>
          </a:xfrm>
          <a:prstGeom prst="roundRect">
            <a:avLst>
              <a:gd name="adj" fmla="val 4091"/>
            </a:avLst>
          </a:prstGeom>
          <a:solidFill>
            <a:srgbClr val="1B1C39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STAR METRIC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Valid</a:t>
            </a:r>
            <a:endParaRPr lang="en-US" sz="2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Consent Coverage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50" dirty="0">
                <a:solidFill>
                  <a:srgbClr val="C7C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active accounts with current, verifiable, DPDP-valid consent on file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160520" y="1554480"/>
            <a:ext cx="7360920" cy="384048"/>
          </a:xfrm>
          <a:prstGeom prst="roundRect">
            <a:avLst>
              <a:gd name="adj" fmla="val 21429"/>
            </a:avLst>
          </a:prstGeom>
          <a:solidFill>
            <a:srgbClr val="F4F4FA"/>
          </a:solidFill>
          <a:ln/>
        </p:spPr>
      </p:sp>
      <p:sp>
        <p:nvSpPr>
          <p:cNvPr id="9" name="Text 7"/>
          <p:cNvSpPr/>
          <p:nvPr/>
        </p:nvSpPr>
        <p:spPr>
          <a:xfrm>
            <a:off x="4343400" y="15544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623560" y="1554480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verification completion rate (target 85%+ within 24h)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60520" y="2029968"/>
            <a:ext cx="736092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202996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623560" y="2029968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Data-rights request resolution time (export/delete, target &lt;72h)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60520" y="2505456"/>
            <a:ext cx="7360920" cy="384048"/>
          </a:xfrm>
          <a:prstGeom prst="roundRect">
            <a:avLst>
              <a:gd name="adj" fmla="val 21429"/>
            </a:avLst>
          </a:prstGeom>
          <a:solidFill>
            <a:srgbClr val="F4F4FA"/>
          </a:solidFill>
          <a:ln/>
        </p:spPr>
      </p:sp>
      <p:sp>
        <p:nvSpPr>
          <p:cNvPr id="15" name="Text 13"/>
          <p:cNvSpPr/>
          <p:nvPr/>
        </p:nvSpPr>
        <p:spPr>
          <a:xfrm>
            <a:off x="4343400" y="250545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SUPPORTING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623560" y="2505456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 opt-in rate for analytics &amp; marketing (baseline vs. post-launch)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60520" y="2980944"/>
            <a:ext cx="7360920" cy="384048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343400" y="298094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623560" y="2980944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completion rate — must not drop more than 4pp vs. baseline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3456432"/>
            <a:ext cx="7360920" cy="384048"/>
          </a:xfrm>
          <a:prstGeom prst="roundRect">
            <a:avLst>
              <a:gd name="adj" fmla="val 21429"/>
            </a:avLst>
          </a:prstGeom>
          <a:solidFill>
            <a:srgbClr val="F4F4FA"/>
          </a:solidFill>
          <a:ln/>
        </p:spPr>
      </p:sp>
      <p:sp>
        <p:nvSpPr>
          <p:cNvPr id="21" name="Text 19"/>
          <p:cNvSpPr/>
          <p:nvPr/>
        </p:nvSpPr>
        <p:spPr>
          <a:xfrm>
            <a:off x="4343400" y="345643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623560" y="3456432"/>
            <a:ext cx="5715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 live-class join rate — verification friction must not suppress activation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160520"/>
            <a:ext cx="3505200" cy="1417320"/>
          </a:xfrm>
          <a:prstGeom prst="roundRect">
            <a:avLst>
              <a:gd name="adj" fmla="val 5806"/>
            </a:avLst>
          </a:prstGeom>
          <a:solidFill>
            <a:srgbClr val="FFEDDD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9768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68680" y="46177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new &lt;18 signups complete parent verification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328160" y="4160520"/>
            <a:ext cx="3505200" cy="1417320"/>
          </a:xfrm>
          <a:prstGeom prst="roundRect">
            <a:avLst>
              <a:gd name="adj" fmla="val 5806"/>
            </a:avLst>
          </a:prstGeom>
          <a:solidFill>
            <a:srgbClr val="FFEDDD"/>
          </a:solidFill>
          <a:ln/>
        </p:spPr>
      </p:sp>
      <p:sp>
        <p:nvSpPr>
          <p:cNvPr id="28" name="Text 26"/>
          <p:cNvSpPr/>
          <p:nvPr/>
        </p:nvSpPr>
        <p:spPr>
          <a:xfrm>
            <a:off x="4556760" y="429768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Days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556760" y="46177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Hub adoption ≥40% of MAU; deletion SLA &lt;72h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16240" y="4160520"/>
            <a:ext cx="3505200" cy="1417320"/>
          </a:xfrm>
          <a:prstGeom prst="roundRect">
            <a:avLst>
              <a:gd name="adj" fmla="val 5806"/>
            </a:avLst>
          </a:prstGeom>
          <a:solidFill>
            <a:srgbClr val="FFEDDD"/>
          </a:solidFill>
          <a:ln/>
        </p:spPr>
      </p:sp>
      <p:sp>
        <p:nvSpPr>
          <p:cNvPr id="31" name="Text 29"/>
          <p:cNvSpPr/>
          <p:nvPr/>
        </p:nvSpPr>
        <p:spPr>
          <a:xfrm>
            <a:off x="8244840" y="4297680"/>
            <a:ext cx="304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Year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8244840" y="4617720"/>
            <a:ext cx="3048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≥95% consent coverage; zero DPDP-related support escalations to legal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DIAGNOSTIC THINKING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consent coverage drops 15% three weeks post-launch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TREE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25831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320040" cy="320040"/>
          </a:xfrm>
          <a:prstGeom prst="ellipse">
            <a:avLst/>
          </a:prstGeom>
          <a:solidFill>
            <a:srgbClr val="FF630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friction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2217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delivery failing for a telco/region → parents abandon mid-flow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06140" y="1828800"/>
            <a:ext cx="25831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89020" y="2011680"/>
            <a:ext cx="320040" cy="320040"/>
          </a:xfrm>
          <a:prstGeom prst="ellipse">
            <a:avLst/>
          </a:prstGeom>
          <a:solidFill>
            <a:srgbClr val="FF6300"/>
          </a:solidFill>
          <a:ln/>
        </p:spPr>
      </p:sp>
      <p:sp>
        <p:nvSpPr>
          <p:cNvPr id="12" name="Text 10"/>
          <p:cNvSpPr/>
          <p:nvPr/>
        </p:nvSpPr>
        <p:spPr>
          <a:xfrm>
            <a:off x="358902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9020" y="242316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UX confusion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589020" y="2770632"/>
            <a:ext cx="2217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consent copy misread as optional → parents skip or decline unintentionally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828800"/>
            <a:ext cx="25831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55080" y="2011680"/>
            <a:ext cx="320040" cy="320040"/>
          </a:xfrm>
          <a:prstGeom prst="ellipse">
            <a:avLst/>
          </a:prstGeom>
          <a:solidFill>
            <a:srgbClr val="FF6300"/>
          </a:solidFill>
          <a:ln/>
        </p:spPr>
      </p:sp>
      <p:sp>
        <p:nvSpPr>
          <p:cNvPr id="17" name="Text 15"/>
          <p:cNvSpPr/>
          <p:nvPr/>
        </p:nvSpPr>
        <p:spPr>
          <a:xfrm>
            <a:off x="635508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42316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Instrumentation bug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55080" y="2770632"/>
            <a:ext cx="2217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Consent-granted event not firing correctly after a recent release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938260" y="1828800"/>
            <a:ext cx="2583180" cy="160020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21140" y="2011680"/>
            <a:ext cx="320040" cy="320040"/>
          </a:xfrm>
          <a:prstGeom prst="ellipse">
            <a:avLst/>
          </a:prstGeom>
          <a:solidFill>
            <a:srgbClr val="FF6300"/>
          </a:solidFill>
          <a:ln/>
        </p:spPr>
      </p:sp>
      <p:sp>
        <p:nvSpPr>
          <p:cNvPr id="22" name="Text 20"/>
          <p:cNvSpPr/>
          <p:nvPr/>
        </p:nvSpPr>
        <p:spPr>
          <a:xfrm>
            <a:off x="9121140" y="20116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121140" y="2423160"/>
            <a:ext cx="22174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 factor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121140" y="2770632"/>
            <a:ext cx="22174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exam season → lower new-signup volume skews the ratio, not true decline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703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PLAN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023360"/>
            <a:ext cx="10515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funnel by step (DOB entry → OTP sent → OTP verified → consent recorded), segmented by telco, city tier, and device OS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cohort: users who signed up before vs. after the release that introduced the new flow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support-ticket tags mentioning "OTP" / "verification" for a spike correlated with the drop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root cause is OTP delivery: fail over to email-link verification for the affected segment within 24h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DASHBOARD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Monitoring consent health at a glance (mock data)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83180" cy="960120"/>
          </a:xfrm>
          <a:prstGeom prst="roundRect">
            <a:avLst>
              <a:gd name="adj" fmla="val 8571"/>
            </a:avLst>
          </a:prstGeom>
          <a:solidFill>
            <a:srgbClr val="1B1C39"/>
          </a:solidFill>
          <a:ln/>
        </p:spPr>
      </p:sp>
      <p:sp>
        <p:nvSpPr>
          <p:cNvPr id="5" name="Text 3"/>
          <p:cNvSpPr/>
          <p:nvPr/>
        </p:nvSpPr>
        <p:spPr>
          <a:xfrm>
            <a:off x="804672" y="1618488"/>
            <a:ext cx="2253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COVERAGE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04672" y="1856232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91.4%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04672" y="2221992"/>
            <a:ext cx="2253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+3.2pp vs last wk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3406140" y="1508760"/>
            <a:ext cx="2583180" cy="960120"/>
          </a:xfrm>
          <a:prstGeom prst="roundRect">
            <a:avLst>
              <a:gd name="adj" fmla="val 8571"/>
            </a:avLst>
          </a:prstGeom>
          <a:solidFill>
            <a:srgbClr val="1B1C39"/>
          </a:solidFill>
          <a:ln/>
        </p:spPr>
      </p:sp>
      <p:sp>
        <p:nvSpPr>
          <p:cNvPr id="9" name="Text 7"/>
          <p:cNvSpPr/>
          <p:nvPr/>
        </p:nvSpPr>
        <p:spPr>
          <a:xfrm>
            <a:off x="3570732" y="1618488"/>
            <a:ext cx="2253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VERIFICATION RATE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570732" y="1856232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84.7%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570732" y="2221992"/>
            <a:ext cx="2253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+1.1pp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508760"/>
            <a:ext cx="2583180" cy="960120"/>
          </a:xfrm>
          <a:prstGeom prst="roundRect">
            <a:avLst>
              <a:gd name="adj" fmla="val 8571"/>
            </a:avLst>
          </a:prstGeom>
          <a:solidFill>
            <a:srgbClr val="1B1C39"/>
          </a:solidFill>
          <a:ln/>
        </p:spPr>
      </p:sp>
      <p:sp>
        <p:nvSpPr>
          <p:cNvPr id="13" name="Text 11"/>
          <p:cNvSpPr/>
          <p:nvPr/>
        </p:nvSpPr>
        <p:spPr>
          <a:xfrm>
            <a:off x="6336792" y="1618488"/>
            <a:ext cx="2253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RIGHTS SLA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336792" y="1856232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 hrs avg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36792" y="2221992"/>
            <a:ext cx="2253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&lt;72h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8938260" y="1508760"/>
            <a:ext cx="2583180" cy="960120"/>
          </a:xfrm>
          <a:prstGeom prst="roundRect">
            <a:avLst>
              <a:gd name="adj" fmla="val 8571"/>
            </a:avLst>
          </a:prstGeom>
          <a:solidFill>
            <a:srgbClr val="1B1C39"/>
          </a:solidFill>
          <a:ln/>
        </p:spPr>
      </p:sp>
      <p:sp>
        <p:nvSpPr>
          <p:cNvPr id="17" name="Text 15"/>
          <p:cNvSpPr/>
          <p:nvPr/>
        </p:nvSpPr>
        <p:spPr>
          <a:xfrm>
            <a:off x="9102852" y="1618488"/>
            <a:ext cx="22539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50" kern="0" dirty="0">
                <a:solidFill>
                  <a:srgbClr val="9A9A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DELETION REQUESTS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9102852" y="1856232"/>
            <a:ext cx="22539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102852" y="2221992"/>
            <a:ext cx="22539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 vs last wk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40080" y="2651760"/>
            <a:ext cx="6492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27614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COVERAGE — 8 WEEK TREND</a:t>
            </a:r>
            <a:endParaRPr lang="en-US" sz="95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77240" y="3035808"/>
          <a:ext cx="6217920" cy="1417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Shape 20"/>
          <p:cNvSpPr/>
          <p:nvPr/>
        </p:nvSpPr>
        <p:spPr>
          <a:xfrm>
            <a:off x="7315200" y="2651760"/>
            <a:ext cx="4206240" cy="192024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7543800" y="27614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 — BY AGE BAND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7543800" y="31089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13–15 yrs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9784080" y="31089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7543800" y="3538728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16–17 yrs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9784080" y="35387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93%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7543800" y="3968496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yrs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9784080" y="396849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640080" y="4800600"/>
            <a:ext cx="10881360" cy="1554480"/>
          </a:xfrm>
          <a:prstGeom prst="roundRect">
            <a:avLst>
              <a:gd name="adj" fmla="val 5294"/>
            </a:avLst>
          </a:prstGeom>
          <a:solidFill>
            <a:srgbClr val="F4F4FA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32" name="Text 29"/>
          <p:cNvSpPr/>
          <p:nvPr/>
        </p:nvSpPr>
        <p:spPr>
          <a:xfrm>
            <a:off x="868680" y="4937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FUNNEL  ·  ATTENDANCE, PARENT VERIFICATION &amp; SUPPORT LOAD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868680" y="5303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2200" dirty="0"/>
          </a:p>
        </p:txBody>
      </p:sp>
      <p:sp>
        <p:nvSpPr>
          <p:cNvPr id="34" name="Text 31"/>
          <p:cNvSpPr/>
          <p:nvPr/>
        </p:nvSpPr>
        <p:spPr>
          <a:xfrm>
            <a:off x="868680" y="58064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Started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2953512" y="5303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2200" dirty="0"/>
          </a:p>
        </p:txBody>
      </p:sp>
      <p:sp>
        <p:nvSpPr>
          <p:cNvPr id="36" name="Text 33"/>
          <p:cNvSpPr/>
          <p:nvPr/>
        </p:nvSpPr>
        <p:spPr>
          <a:xfrm>
            <a:off x="2953512" y="58064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 / Age Gate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5038344" y="5303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2200" dirty="0"/>
          </a:p>
        </p:txBody>
      </p:sp>
      <p:sp>
        <p:nvSpPr>
          <p:cNvPr id="38" name="Text 35"/>
          <p:cNvSpPr/>
          <p:nvPr/>
        </p:nvSpPr>
        <p:spPr>
          <a:xfrm>
            <a:off x="5038344" y="58064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OTP Sent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7123176" y="5303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85%</a:t>
            </a:r>
            <a:endParaRPr lang="en-US" sz="2200" dirty="0"/>
          </a:p>
        </p:txBody>
      </p:sp>
      <p:sp>
        <p:nvSpPr>
          <p:cNvPr id="40" name="Text 37"/>
          <p:cNvSpPr/>
          <p:nvPr/>
        </p:nvSpPr>
        <p:spPr>
          <a:xfrm>
            <a:off x="7123176" y="58064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Verified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9208008" y="5303520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83%</a:t>
            </a:r>
            <a:endParaRPr lang="en-US" sz="2200" dirty="0"/>
          </a:p>
        </p:txBody>
      </p:sp>
      <p:sp>
        <p:nvSpPr>
          <p:cNvPr id="42" name="Text 39"/>
          <p:cNvSpPr/>
          <p:nvPr/>
        </p:nvSpPr>
        <p:spPr>
          <a:xfrm>
            <a:off x="9208008" y="5806440"/>
            <a:ext cx="1901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 Recorded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10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ROLLOUT PLAN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rollout — with a hard line on what never gets A/B tested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583180" cy="2148840"/>
          </a:xfrm>
          <a:prstGeom prst="roundRect">
            <a:avLst>
              <a:gd name="adj" fmla="val 3830"/>
            </a:avLst>
          </a:prstGeom>
          <a:solidFill>
            <a:srgbClr val="FFEDDD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2217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Legal + Dogfood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22174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DPDP counsel signs off consent copy &amp; retention logic; internal team tests full flow end-to-end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3406140" y="1600200"/>
            <a:ext cx="2583180" cy="2148840"/>
          </a:xfrm>
          <a:prstGeom prst="roundRect">
            <a:avLst>
              <a:gd name="adj" fmla="val 3830"/>
            </a:avLst>
          </a:prstGeom>
          <a:solidFill>
            <a:srgbClr val="E9E9F4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89020" y="1764792"/>
            <a:ext cx="2217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89020" y="20116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5% New-Signup Beta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89020" y="2560320"/>
            <a:ext cx="22174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users only, one geography; monitor OTP delivery, verification rate, support volume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172200" y="1600200"/>
            <a:ext cx="2583180" cy="2148840"/>
          </a:xfrm>
          <a:prstGeom prst="roundRect">
            <a:avLst>
              <a:gd name="adj" fmla="val 3830"/>
            </a:avLst>
          </a:prstGeom>
          <a:solidFill>
            <a:srgbClr val="FFEDDD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55080" y="1764792"/>
            <a:ext cx="2217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5080" y="20116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Gradual Rollout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355080" y="2560320"/>
            <a:ext cx="22174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100% of new signups; begin scheduled re-consent prompts for existing &lt;18 accounts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8938260" y="1600200"/>
            <a:ext cx="2583180" cy="2148840"/>
          </a:xfrm>
          <a:prstGeom prst="roundRect">
            <a:avLst>
              <a:gd name="adj" fmla="val 3830"/>
            </a:avLst>
          </a:prstGeom>
          <a:solidFill>
            <a:srgbClr val="E9E9F4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21140" y="1764792"/>
            <a:ext cx="22174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21140" y="2011680"/>
            <a:ext cx="22174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Migration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121140" y="2560320"/>
            <a:ext cx="22174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existing accounts re-verified; legacy bundled-consent flow retired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40080" y="3977640"/>
            <a:ext cx="10881360" cy="2148840"/>
          </a:xfrm>
          <a:prstGeom prst="roundRect">
            <a:avLst>
              <a:gd name="adj" fmla="val 3830"/>
            </a:avLst>
          </a:prstGeom>
          <a:solidFill>
            <a:srgbClr val="1B1C39"/>
          </a:solidFill>
          <a:ln/>
        </p:spPr>
      </p:sp>
      <p:sp>
        <p:nvSpPr>
          <p:cNvPr id="21" name="Shape 19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2A2C57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9439" y="4336999"/>
            <a:ext cx="241402" cy="24140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42336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A/B TESTED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508760" y="4599432"/>
            <a:ext cx="9784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parental consent is required for &lt;18 accounts — this is a legal obligation, not a growth lever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a deletion/export request gets executed — every valid request is honored, no experiment arms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D8D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disclosures (what data, why, retention period) — copy tone can be tested, the facts disclosed cannot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6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RISKS &amp; TRADE-OFFS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21792"/>
            <a:ext cx="10881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1C3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trading away — and the edge cases we're accepting risk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28800"/>
            <a:ext cx="411480" cy="41148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5665" y="1935785"/>
            <a:ext cx="197510" cy="19751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56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68680" y="24688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verification adds a step → likely 3-4pp dip in signup conversion in the first month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4340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1828800"/>
            <a:ext cx="411480" cy="41148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985" y="1935785"/>
            <a:ext cx="197510" cy="19751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856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572000" y="24688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Backfilling re-consent for ~10M existing accounts without mass logout or support-ticket spikes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46720" y="160020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75320" y="1828800"/>
            <a:ext cx="411480" cy="41148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305" y="1935785"/>
            <a:ext cx="197510" cy="19751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69680" y="18562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DEVICES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275320" y="246888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Siblings sharing one parent-verified device could bypass individual consent tracking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16052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389120"/>
            <a:ext cx="411480" cy="41148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5665" y="4496105"/>
            <a:ext cx="197510" cy="19751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4416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868680" y="5029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MeitY's DPDP Rules (draft, Jan 2025) may finalize stricter parent-verification standards post-launch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43400" y="416052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389120"/>
            <a:ext cx="411480" cy="41148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78985" y="4496105"/>
            <a:ext cx="197510" cy="19751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4416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0" y="5029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OTP-based verification assumes parent has an active, checked mobile number — not true for all households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046720" y="4160520"/>
            <a:ext cx="3474720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B1C39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275320" y="4389120"/>
            <a:ext cx="411480" cy="411480"/>
          </a:xfrm>
          <a:prstGeom prst="ellipse">
            <a:avLst/>
          </a:prstGeom>
          <a:solidFill>
            <a:srgbClr val="FFEDDD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305" y="4496105"/>
            <a:ext cx="197510" cy="19751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69680" y="44165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B1C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CASE</a:t>
            </a:r>
            <a:endParaRPr lang="en-US" sz="1050" dirty="0"/>
          </a:p>
        </p:txBody>
      </p:sp>
      <p:sp>
        <p:nvSpPr>
          <p:cNvPr id="33" name="Text 25"/>
          <p:cNvSpPr/>
          <p:nvPr/>
        </p:nvSpPr>
        <p:spPr>
          <a:xfrm>
            <a:off x="8275320" y="5029200"/>
            <a:ext cx="30175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2727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who are also parents of student-users need role-aware consent, not a single account model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0972800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640080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E6E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VEDANTU · TRUST BY DESIGN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Vedantu — Trust by Design: DPDP-Aligned Data &amp; Consent Experience</dc:title>
  <dc:subject>PptxGenJS Presentation</dc:subject>
  <dc:creator>Product Management Intern Candidate</dc:creator>
  <cp:lastModifiedBy>Product Management Intern Candidate</cp:lastModifiedBy>
  <cp:revision>1</cp:revision>
  <dcterms:created xsi:type="dcterms:W3CDTF">2026-07-02T18:08:28Z</dcterms:created>
  <dcterms:modified xsi:type="dcterms:W3CDTF">2026-07-02T18:08:28Z</dcterms:modified>
</cp:coreProperties>
</file>