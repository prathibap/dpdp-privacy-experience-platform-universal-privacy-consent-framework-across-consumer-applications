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7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VCCR %</c:v>
                </c:pt>
              </c:strCache>
            </c:strRef>
          </c:tx>
          <c:spPr>
            <a:ln w="31750" cap="flat">
              <a:solidFill>
                <a:srgbClr val="00C2A8"/>
              </a:solidFill>
              <a:prstDash val="solid"/>
              <a:round/>
            </a:ln>
            <a:effectLst/>
          </c:spPr>
          <c:marker>
            <c:symbol val="circle"/>
            <c:size val="5"/>
            <c:spPr>
              <a:solidFill>
                <a:srgbClr val="00C2A8"/>
              </a:solidFill>
              <a:ln w="9525" cap="flat">
                <a:solidFill>
                  <a:srgbClr val="00C2A8"/>
                </a:solidFill>
                <a:prstDash val="solid"/>
                <a:round/>
              </a:ln>
              <a:effectLst/>
            </c:spPr>
          </c:marke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78</c:v>
                </c:pt>
                <c:pt idx="1">
                  <c:v>84</c:v>
                </c:pt>
                <c:pt idx="2">
                  <c:v>88</c:v>
                </c:pt>
                <c:pt idx="3">
                  <c:v>90</c:v>
                </c:pt>
                <c:pt idx="4">
                  <c:v>76</c:v>
                </c:pt>
                <c:pt idx="5">
                  <c:v>79</c:v>
                </c:pt>
                <c:pt idx="6">
                  <c:v>87</c:v>
                </c:pt>
                <c:pt idx="7">
                  <c:v>91</c:v>
                </c:pt>
              </c:numCache>
            </c:numRef>
          </c:val>
          <c:smooth val="0"/>
          <c:extLst>
            <c:ext xmlns:c16="http://schemas.microsoft.com/office/drawing/2014/chart" uri="{C3380CC4-5D6E-409C-BE32-E72D297353CC}">
              <c16:uniqueId val="{00000000-B3E9-4EC1-8EAE-70844D06CB6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1200" b="0" i="0" u="none" strike="noStrike">
                <a:solidFill>
                  <a:srgbClr val="9A9A9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2A2C"/>
              </a:solidFill>
              <a:prstDash val="solid"/>
              <a:round/>
            </a:ln>
          </c:spPr>
        </c:majorGridlines>
        <c:numFmt formatCode="General" sourceLinked="0"/>
        <c:majorTickMark val="out"/>
        <c:minorTickMark val="none"/>
        <c:tickLblPos val="nextTo"/>
        <c:spPr>
          <a:ln w="12700" cap="flat">
            <a:solidFill>
              <a:srgbClr val="3A3A3C"/>
            </a:solidFill>
            <a:prstDash val="solid"/>
            <a:round/>
          </a:ln>
        </c:spPr>
        <c:txPr>
          <a:bodyPr/>
          <a:lstStyle/>
          <a:p>
            <a:pPr>
              <a:defRPr sz="1200" b="0" i="0" u="none" strike="noStrike">
                <a:solidFill>
                  <a:srgbClr val="9A9A9E"/>
                </a:solidFill>
                <a:latin typeface="Arial"/>
              </a:defRPr>
            </a:pPr>
            <a:endParaRPr lang="en-US"/>
          </a:p>
        </c:txPr>
        <c:crossAx val="2094734554"/>
        <c:crosses val="autoZero"/>
        <c:crossBetween val="between"/>
      </c:valAx>
      <c:spPr>
        <a:solidFill>
          <a:srgbClr val="1B1B1D"/>
        </a:solidFill>
        <a:ln>
          <a:noFill/>
        </a:ln>
        <a:effectLst/>
      </c:spPr>
    </c:plotArea>
    <c:plotVisOnly val="1"/>
    <c:dispBlanksAs val="span"/>
    <c:showDLblsOverMax val="1"/>
  </c:chart>
  <c:spPr>
    <a:solidFill>
      <a:srgbClr val="1B1B1D"/>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Users (000s)</c:v>
                </c:pt>
              </c:strCache>
            </c:strRef>
          </c:tx>
          <c:spPr>
            <a:solidFill>
              <a:srgbClr val="00C2A8"/>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Notice
shown</c:v>
                </c:pt>
                <c:pt idx="1">
                  <c:v>Customize
opened</c:v>
                </c:pt>
                <c:pt idx="2">
                  <c:v>Saved</c:v>
                </c:pt>
                <c:pt idx="3">
                  <c:v>Active</c:v>
                </c:pt>
              </c:strCache>
            </c:strRef>
          </c:cat>
          <c:val>
            <c:numRef>
              <c:f>Sheet1!$B$2:$B$5</c:f>
              <c:numCache>
                <c:formatCode>General</c:formatCode>
                <c:ptCount val="4"/>
                <c:pt idx="0">
                  <c:v>100</c:v>
                </c:pt>
                <c:pt idx="1">
                  <c:v>61</c:v>
                </c:pt>
                <c:pt idx="2">
                  <c:v>54</c:v>
                </c:pt>
                <c:pt idx="3">
                  <c:v>51</c:v>
                </c:pt>
              </c:numCache>
            </c:numRef>
          </c:val>
          <c:extLst>
            <c:ext xmlns:c16="http://schemas.microsoft.com/office/drawing/2014/chart" uri="{C3380CC4-5D6E-409C-BE32-E72D297353CC}">
              <c16:uniqueId val="{00000000-A42F-435B-889F-C40452CB3F0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1200" b="0" i="0" u="none" strike="noStrike">
                <a:solidFill>
                  <a:srgbClr val="9A9A9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2A2C"/>
              </a:solidFill>
              <a:prstDash val="solid"/>
              <a:round/>
            </a:ln>
          </c:spPr>
        </c:majorGridlines>
        <c:numFmt formatCode="General" sourceLinked="0"/>
        <c:majorTickMark val="out"/>
        <c:minorTickMark val="none"/>
        <c:tickLblPos val="nextTo"/>
        <c:spPr>
          <a:ln w="12700" cap="flat">
            <a:solidFill>
              <a:srgbClr val="3A3A3C"/>
            </a:solidFill>
            <a:prstDash val="solid"/>
            <a:round/>
          </a:ln>
        </c:spPr>
        <c:txPr>
          <a:bodyPr/>
          <a:lstStyle/>
          <a:p>
            <a:pPr>
              <a:defRPr sz="1200" b="0" i="0" u="none" strike="noStrike">
                <a:solidFill>
                  <a:srgbClr val="9A9A9E"/>
                </a:solidFill>
                <a:latin typeface="Arial"/>
              </a:defRPr>
            </a:pPr>
            <a:endParaRPr lang="en-US"/>
          </a:p>
        </c:txPr>
        <c:crossAx val="2094734554"/>
        <c:crosses val="autoZero"/>
        <c:crossBetween val="between"/>
      </c:valAx>
      <c:spPr>
        <a:solidFill>
          <a:srgbClr val="1B1B1D"/>
        </a:solidFill>
        <a:ln>
          <a:noFill/>
        </a:ln>
        <a:effectLst/>
      </c:spPr>
    </c:plotArea>
    <c:plotVisOnly val="1"/>
    <c:dispBlanksAs val="span"/>
    <c:showDLblsOverMax val="1"/>
  </c:chart>
  <c:spPr>
    <a:solidFill>
      <a:srgbClr val="1B1B1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9826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problem: Uber's consent is bundled and buried, not granular or reversible. This is the thread that ties every later slide together — notice, consent, withdrawal, and rights are all the same underlying gap. State scope explicitly: rider app, India, and that I deliberately picked ONE high-impact area rather than redesigning everything, because that's what a real PM would do under a deadline.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 represents Uber's urban, digitally-literate rider — the segment most likely to notice bundled consent and most likely to churn or complain if trust breaks. She's also a proxy for two adjacent groups I call out later as phase-2 scope: parents booking for teens, and safety-conscious solo women riders who rely on trip-sharing. Her JTBD is the north star for the whole solution: invisible when it's working, controllable when she wants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UX audit, compressed to one table so it reads fast in an interview. Each row is a real dark-pattern category: pre-ticked/bundled consent, buried withdrawal, upfront over-collection, and low-discoverability rights. I'm deliberately mapping each gap to the specific DPDP principle it violates, not just listing 'bad UX' — that's the difference between a UX critique and a PM compliance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is deliberately simple (1-5) so I can defend each number on the spot. The key defensible claim: A is chosen not because it's the biggest idea, but because it's the highest-leverage single surface — it touches Notice, Consent, Withdrawal and Rights simultaneously, which is rare for one feature. B and C aren't rejected, they're sequenced — that's a portfolio signal of roadmap thinking, not just single-feature thinking.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card ties to a named DPDP principle — that pairing is the whole point of this slide. Two callouts if asked: (1) the contextual just-in-time prompt for 'share live location for this ride' replaces the old always-allow prompt at signup — permission moves to the moment of relevance. (2) Children's/family accounts are flagged as Phase 2 because verifiable parental consent needs its own age-gating and guardian-verification flow, which is a bigger lift than this scope allows.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VCCR is deliberately a coverage metric, not an accept-rate metric — I don't want to optimise for 'more people clicked accept', I want 'more people have an accurate, current, purpose-level record', which is neutral on whether they said yes or no to each purpose. Guardrails exist because a consent redesign that tanks booking conversion isn't a win even if compliance improves — that tension is intentional and I address the trade-off explicitly on the risks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here matters more than any single hypothesis: instrumentation first (cheapest to rule out), then segment by cohort, then correlate with external events. I'd genuinely check #1 before anything else in real life — most 'metric drops' are pipeline bugs, not product problems, and it's a fast, low-ego check.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data, clearly labelled as such. The point of this slide isn't the numbers — it's showing I know what a health dashboard needs: one headline trend, one funnel to see where drop-off happens, and at least one segmentation cut to catch a localized problem (here, Delhi NCR and Android both flagged below target) before it becomes a company-wide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trade-off I'm most willing to defend: we knowingly accept a small, capped, monitored conversion risk in exchange for durable trust and compliance safety — and we hard-block the one dark pattern that would erase that trade-off, which is denying service to users who decline non-essential consent. If asked 'why not just keep bundled consent and accept the compliance risk,' the answer is that DPDP enforcement risk plus repeated trust erosion compounds, while the conversion cost here is small, capped, and reversible.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C"/>
        </a:solidFill>
        <a:effectLst/>
      </p:bgPr>
    </p:bg>
    <p:spTree>
      <p:nvGrpSpPr>
        <p:cNvPr id="1" name=""/>
        <p:cNvGrpSpPr/>
        <p:nvPr/>
      </p:nvGrpSpPr>
      <p:grpSpPr>
        <a:xfrm>
          <a:off x="0" y="0"/>
          <a:ext cx="0" cy="0"/>
          <a:chOff x="0" y="0"/>
          <a:chExt cx="0" cy="0"/>
        </a:xfrm>
      </p:grpSpPr>
      <p:sp>
        <p:nvSpPr>
          <p:cNvPr id="2" name="Shape 0"/>
          <p:cNvSpPr/>
          <p:nvPr/>
        </p:nvSpPr>
        <p:spPr>
          <a:xfrm>
            <a:off x="9784080" y="-2103120"/>
            <a:ext cx="5486400" cy="5486400"/>
          </a:xfrm>
          <a:prstGeom prst="ellipse">
            <a:avLst/>
          </a:prstGeom>
          <a:solidFill>
            <a:srgbClr val="00806E">
              <a:alpha val="22000"/>
            </a:srgbClr>
          </a:solidFill>
          <a:ln/>
        </p:spPr>
        <p:txBody>
          <a:bodyPr/>
          <a:lstStyle/>
          <a:p>
            <a:endParaRPr lang="en-IN"/>
          </a:p>
        </p:txBody>
      </p:sp>
      <p:sp>
        <p:nvSpPr>
          <p:cNvPr id="3" name="Text 1"/>
          <p:cNvSpPr/>
          <p:nvPr/>
        </p:nvSpPr>
        <p:spPr>
          <a:xfrm>
            <a:off x="640080" y="502920"/>
            <a:ext cx="7315200" cy="365760"/>
          </a:xfrm>
          <a:prstGeom prst="rect">
            <a:avLst/>
          </a:prstGeom>
          <a:noFill/>
          <a:ln/>
        </p:spPr>
        <p:txBody>
          <a:bodyPr wrap="square" rtlCol="0" anchor="ctr"/>
          <a:lstStyle/>
          <a:p>
            <a:pPr marL="0" indent="0">
              <a:buNone/>
            </a:pPr>
            <a:r>
              <a:rPr lang="en-US" sz="1200" b="1" kern="0" spc="300" dirty="0">
                <a:solidFill>
                  <a:srgbClr val="00C2A8"/>
                </a:solidFill>
                <a:latin typeface="Calibri" pitchFamily="34" charset="0"/>
                <a:ea typeface="Calibri" pitchFamily="34" charset="-122"/>
                <a:cs typeface="Calibri" pitchFamily="34" charset="-120"/>
              </a:rPr>
              <a:t>PRODUCT THINKING CASE STUDY</a:t>
            </a:r>
            <a:endParaRPr lang="en-US" sz="1200" dirty="0"/>
          </a:p>
        </p:txBody>
      </p:sp>
      <p:sp>
        <p:nvSpPr>
          <p:cNvPr id="4" name="Text 2"/>
          <p:cNvSpPr/>
          <p:nvPr/>
        </p:nvSpPr>
        <p:spPr>
          <a:xfrm>
            <a:off x="594360" y="960120"/>
            <a:ext cx="1051560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Consent, Uncomplicated</a:t>
            </a:r>
            <a:endParaRPr lang="en-US" sz="4600" dirty="0"/>
          </a:p>
        </p:txBody>
      </p:sp>
      <p:sp>
        <p:nvSpPr>
          <p:cNvPr id="5" name="Text 3"/>
          <p:cNvSpPr/>
          <p:nvPr/>
        </p:nvSpPr>
        <p:spPr>
          <a:xfrm>
            <a:off x="640080" y="2057400"/>
            <a:ext cx="9875520" cy="548640"/>
          </a:xfrm>
          <a:prstGeom prst="rect">
            <a:avLst/>
          </a:prstGeom>
          <a:noFill/>
          <a:ln/>
        </p:spPr>
        <p:txBody>
          <a:bodyPr wrap="square" rtlCol="0" anchor="ctr"/>
          <a:lstStyle/>
          <a:p>
            <a:pPr marL="0" indent="0">
              <a:buNone/>
            </a:pPr>
            <a:r>
              <a:rPr lang="en-US" sz="1700" i="1" dirty="0">
                <a:solidFill>
                  <a:srgbClr val="D6D6D4"/>
                </a:solidFill>
                <a:latin typeface="Calibri" pitchFamily="34" charset="0"/>
                <a:ea typeface="Calibri" pitchFamily="34" charset="-122"/>
                <a:cs typeface="Calibri" pitchFamily="34" charset="-120"/>
              </a:rPr>
              <a:t>Redesigning Uber's consent &amp; personal-data experience for India's DPDP Act, 2023</a:t>
            </a:r>
            <a:endParaRPr lang="en-US" sz="1700" dirty="0"/>
          </a:p>
        </p:txBody>
      </p:sp>
      <p:sp>
        <p:nvSpPr>
          <p:cNvPr id="6" name="Shape 4"/>
          <p:cNvSpPr/>
          <p:nvPr/>
        </p:nvSpPr>
        <p:spPr>
          <a:xfrm>
            <a:off x="640080" y="2880360"/>
            <a:ext cx="10881360" cy="2331720"/>
          </a:xfrm>
          <a:prstGeom prst="roundRect">
            <a:avLst>
              <a:gd name="adj" fmla="val 3137"/>
            </a:avLst>
          </a:prstGeom>
          <a:solidFill>
            <a:srgbClr val="1B1B1D"/>
          </a:solidFill>
          <a:ln/>
          <a:effectLst>
            <a:outerShdw blurRad="101600" dist="38100" dir="2700000" algn="bl" rotWithShape="0">
              <a:srgbClr val="000000">
                <a:alpha val="12000"/>
              </a:srgbClr>
            </a:outerShdw>
          </a:effectLst>
        </p:spPr>
        <p:txBody>
          <a:bodyPr/>
          <a:lstStyle/>
          <a:p>
            <a:endParaRPr lang="en-IN"/>
          </a:p>
        </p:txBody>
      </p:sp>
      <p:sp>
        <p:nvSpPr>
          <p:cNvPr id="7" name="Text 5"/>
          <p:cNvSpPr/>
          <p:nvPr/>
        </p:nvSpPr>
        <p:spPr>
          <a:xfrm>
            <a:off x="960120" y="3108960"/>
            <a:ext cx="5486400" cy="320040"/>
          </a:xfrm>
          <a:prstGeom prst="rect">
            <a:avLst/>
          </a:prstGeom>
          <a:noFill/>
          <a:ln/>
        </p:spPr>
        <p:txBody>
          <a:bodyPr wrap="square" rtlCol="0" anchor="ctr"/>
          <a:lstStyle/>
          <a:p>
            <a:pPr marL="0" indent="0">
              <a:buNone/>
            </a:pPr>
            <a:r>
              <a:rPr lang="en-US" sz="1100" b="1" kern="0" spc="200" dirty="0">
                <a:solidFill>
                  <a:srgbClr val="00C2A8"/>
                </a:solidFill>
                <a:latin typeface="Calibri" pitchFamily="34" charset="0"/>
                <a:ea typeface="Calibri" pitchFamily="34" charset="-122"/>
                <a:cs typeface="Calibri" pitchFamily="34" charset="-120"/>
              </a:rPr>
              <a:t>PROBLEM STATEMENT</a:t>
            </a:r>
            <a:endParaRPr lang="en-US" sz="1100" dirty="0"/>
          </a:p>
        </p:txBody>
      </p:sp>
      <p:sp>
        <p:nvSpPr>
          <p:cNvPr id="8" name="Text 6"/>
          <p:cNvSpPr/>
          <p:nvPr/>
        </p:nvSpPr>
        <p:spPr>
          <a:xfrm>
            <a:off x="960120" y="3474720"/>
            <a:ext cx="10241280" cy="1371600"/>
          </a:xfrm>
          <a:prstGeom prst="rect">
            <a:avLst/>
          </a:prstGeom>
          <a:noFill/>
          <a:ln/>
        </p:spPr>
        <p:txBody>
          <a:bodyPr wrap="square" rtlCol="0" anchor="ctr"/>
          <a:lstStyle/>
          <a:p>
            <a:pPr marL="0" indent="0">
              <a:lnSpc>
                <a:spcPct val="125000"/>
              </a:lnSpc>
              <a:buNone/>
            </a:pPr>
            <a:r>
              <a:rPr lang="en-US" sz="1550" dirty="0">
                <a:solidFill>
                  <a:srgbClr val="F7F7F5"/>
                </a:solidFill>
                <a:latin typeface="Calibri" pitchFamily="34" charset="0"/>
                <a:ea typeface="Calibri" pitchFamily="34" charset="-122"/>
                <a:cs typeface="Calibri" pitchFamily="34" charset="-120"/>
              </a:rPr>
              <a:t>Uber asks riders for one bundled, all-or-nothing consent at signup, then keeps collecting location, contacts, and usage data indefinitely — with no itemised notice, no purpose-level control, and no self-serve way to withdraw consent or exercise data rights. This creates legal exposure under DPDP and quietly erodes rider trust.</a:t>
            </a:r>
            <a:endParaRPr lang="en-US" sz="1550" dirty="0"/>
          </a:p>
        </p:txBody>
      </p:sp>
      <p:sp>
        <p:nvSpPr>
          <p:cNvPr id="9" name="Text 7"/>
          <p:cNvSpPr/>
          <p:nvPr/>
        </p:nvSpPr>
        <p:spPr>
          <a:xfrm>
            <a:off x="960120" y="4892040"/>
            <a:ext cx="10058400" cy="274320"/>
          </a:xfrm>
          <a:prstGeom prst="rect">
            <a:avLst/>
          </a:prstGeom>
          <a:noFill/>
          <a:ln/>
        </p:spPr>
        <p:txBody>
          <a:bodyPr wrap="square" rtlCol="0" anchor="ctr"/>
          <a:lstStyle/>
          <a:p>
            <a:pPr marL="0" indent="0">
              <a:buNone/>
            </a:pPr>
            <a:r>
              <a:rPr lang="en-US" sz="1100" i="1" dirty="0">
                <a:solidFill>
                  <a:srgbClr val="9A9A9E"/>
                </a:solidFill>
                <a:latin typeface="Calibri" pitchFamily="34" charset="0"/>
                <a:ea typeface="Calibri" pitchFamily="34" charset="-122"/>
                <a:cs typeface="Calibri" pitchFamily="34" charset="-120"/>
              </a:rPr>
              <a:t>Focus: Uber India, rider app  •  Scope: Consent experience + self-serve data rights</a:t>
            </a:r>
            <a:endParaRPr lang="en-US" sz="1100" dirty="0"/>
          </a:p>
        </p:txBody>
      </p:sp>
      <p:sp>
        <p:nvSpPr>
          <p:cNvPr id="10" name="Text 8"/>
          <p:cNvSpPr/>
          <p:nvPr/>
        </p:nvSpPr>
        <p:spPr>
          <a:xfrm>
            <a:off x="640080" y="6309360"/>
            <a:ext cx="7315200" cy="274320"/>
          </a:xfrm>
          <a:prstGeom prst="rect">
            <a:avLst/>
          </a:prstGeom>
          <a:noFill/>
          <a:ln/>
        </p:spPr>
        <p:txBody>
          <a:bodyPr wrap="square" rtlCol="0" anchor="ctr"/>
          <a:lstStyle/>
          <a:p>
            <a:pPr marL="0" indent="0">
              <a:buNone/>
            </a:pPr>
            <a:r>
              <a:rPr lang="en-US" sz="1000" dirty="0">
                <a:solidFill>
                  <a:srgbClr val="9A9A9E"/>
                </a:solidFill>
                <a:latin typeface="Calibri" pitchFamily="34" charset="0"/>
                <a:ea typeface="Calibri" pitchFamily="34" charset="-122"/>
                <a:cs typeface="Calibri" pitchFamily="34" charset="-120"/>
              </a:rPr>
              <a:t>PM Intern Case Study for Vedantu  •  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3000" b="1" dirty="0">
                <a:solidFill>
                  <a:srgbClr val="0B0B0C"/>
                </a:solidFill>
                <a:latin typeface="Cambria" pitchFamily="34" charset="0"/>
                <a:ea typeface="Cambria" pitchFamily="34" charset="-122"/>
                <a:cs typeface="Cambria" pitchFamily="34" charset="-120"/>
              </a:rPr>
              <a:t>The User</a:t>
            </a:r>
            <a:endParaRPr lang="en-US" sz="3000" dirty="0"/>
          </a:p>
        </p:txBody>
      </p:sp>
      <p:sp>
        <p:nvSpPr>
          <p:cNvPr id="3" name="Text 1"/>
          <p:cNvSpPr/>
          <p:nvPr/>
        </p:nvSpPr>
        <p:spPr>
          <a:xfrm>
            <a:off x="640080" y="960120"/>
            <a:ext cx="8229600" cy="365760"/>
          </a:xfrm>
          <a:prstGeom prst="rect">
            <a:avLst/>
          </a:prstGeom>
          <a:noFill/>
          <a:ln/>
        </p:spPr>
        <p:txBody>
          <a:bodyPr wrap="square" rtlCol="0" anchor="ctr"/>
          <a:lstStyle/>
          <a:p>
            <a:pPr marL="0" indent="0">
              <a:buNone/>
            </a:pPr>
            <a:r>
              <a:rPr lang="en-US" sz="1350" i="1" dirty="0">
                <a:solidFill>
                  <a:srgbClr val="6B6B70"/>
                </a:solidFill>
                <a:latin typeface="Calibri" pitchFamily="34" charset="0"/>
                <a:ea typeface="Calibri" pitchFamily="34" charset="-122"/>
                <a:cs typeface="Calibri" pitchFamily="34" charset="-120"/>
              </a:rPr>
              <a:t>Who is at stake, and why this problem matters to her</a:t>
            </a:r>
            <a:endParaRPr lang="en-US" sz="1350" dirty="0"/>
          </a:p>
        </p:txBody>
      </p:sp>
      <p:sp>
        <p:nvSpPr>
          <p:cNvPr id="4" name="Shape 2"/>
          <p:cNvSpPr/>
          <p:nvPr/>
        </p:nvSpPr>
        <p:spPr>
          <a:xfrm>
            <a:off x="640080" y="1508760"/>
            <a:ext cx="3749040" cy="4754880"/>
          </a:xfrm>
          <a:prstGeom prst="roundRect">
            <a:avLst>
              <a:gd name="adj" fmla="val 2195"/>
            </a:avLst>
          </a:prstGeom>
          <a:solidFill>
            <a:srgbClr val="0B0B0C"/>
          </a:solidFill>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1234440" y="1810512"/>
            <a:ext cx="822960" cy="822960"/>
          </a:xfrm>
          <a:prstGeom prst="ellipse">
            <a:avLst/>
          </a:prstGeom>
          <a:solidFill>
            <a:srgbClr val="00C2A8"/>
          </a:solidFill>
          <a:ln/>
        </p:spPr>
        <p:txBody>
          <a:bodyPr/>
          <a:lstStyle/>
          <a:p>
            <a:endParaRPr lang="en-IN"/>
          </a:p>
        </p:txBody>
      </p:sp>
      <p:sp>
        <p:nvSpPr>
          <p:cNvPr id="6" name="Text 4"/>
          <p:cNvSpPr/>
          <p:nvPr/>
        </p:nvSpPr>
        <p:spPr>
          <a:xfrm>
            <a:off x="1234440" y="1810512"/>
            <a:ext cx="822960" cy="822960"/>
          </a:xfrm>
          <a:prstGeom prst="rect">
            <a:avLst/>
          </a:prstGeom>
          <a:noFill/>
          <a:ln/>
        </p:spPr>
        <p:txBody>
          <a:bodyPr wrap="square" lIns="0" tIns="0" rIns="0" bIns="0" rtlCol="0" anchor="ctr"/>
          <a:lstStyle/>
          <a:p>
            <a:pPr marL="0" indent="0" algn="ctr">
              <a:buNone/>
            </a:pPr>
            <a:r>
              <a:rPr lang="en-US" sz="2200" b="1" dirty="0">
                <a:solidFill>
                  <a:srgbClr val="0B0B0C"/>
                </a:solidFill>
                <a:latin typeface="Cambria" pitchFamily="34" charset="0"/>
                <a:ea typeface="Cambria" pitchFamily="34" charset="-122"/>
                <a:cs typeface="Cambria" pitchFamily="34" charset="-120"/>
              </a:rPr>
              <a:t>AR</a:t>
            </a:r>
            <a:endParaRPr lang="en-US" sz="2200" dirty="0"/>
          </a:p>
        </p:txBody>
      </p:sp>
      <p:sp>
        <p:nvSpPr>
          <p:cNvPr id="7" name="Text 5"/>
          <p:cNvSpPr/>
          <p:nvPr/>
        </p:nvSpPr>
        <p:spPr>
          <a:xfrm>
            <a:off x="2194560" y="1828800"/>
            <a:ext cx="201168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Ananya Rao, 27</a:t>
            </a:r>
            <a:endParaRPr lang="en-US" sz="1600" dirty="0"/>
          </a:p>
        </p:txBody>
      </p:sp>
      <p:sp>
        <p:nvSpPr>
          <p:cNvPr id="8" name="Text 6"/>
          <p:cNvSpPr/>
          <p:nvPr/>
        </p:nvSpPr>
        <p:spPr>
          <a:xfrm>
            <a:off x="2194560" y="2148840"/>
            <a:ext cx="2103120" cy="320040"/>
          </a:xfrm>
          <a:prstGeom prst="rect">
            <a:avLst/>
          </a:prstGeom>
          <a:noFill/>
          <a:ln/>
        </p:spPr>
        <p:txBody>
          <a:bodyPr wrap="square" lIns="0" tIns="0" rIns="0" bIns="0" rtlCol="0" anchor="ctr"/>
          <a:lstStyle/>
          <a:p>
            <a:pPr marL="0" indent="0">
              <a:buNone/>
            </a:pPr>
            <a:r>
              <a:rPr lang="en-US" sz="1100" dirty="0">
                <a:solidFill>
                  <a:srgbClr val="00C2A8"/>
                </a:solidFill>
                <a:latin typeface="Calibri" pitchFamily="34" charset="0"/>
                <a:ea typeface="Calibri" pitchFamily="34" charset="-122"/>
                <a:cs typeface="Calibri" pitchFamily="34" charset="-120"/>
              </a:rPr>
              <a:t>Marketing Exec, Bengaluru</a:t>
            </a:r>
            <a:endParaRPr lang="en-US" sz="1100" dirty="0"/>
          </a:p>
        </p:txBody>
      </p:sp>
      <p:sp>
        <p:nvSpPr>
          <p:cNvPr id="9" name="Text 7"/>
          <p:cNvSpPr/>
          <p:nvPr/>
        </p:nvSpPr>
        <p:spPr>
          <a:xfrm>
            <a:off x="1234440" y="2880360"/>
            <a:ext cx="2880360" cy="822960"/>
          </a:xfrm>
          <a:prstGeom prst="rect">
            <a:avLst/>
          </a:prstGeom>
          <a:noFill/>
          <a:ln/>
        </p:spPr>
        <p:txBody>
          <a:bodyPr wrap="square" rtlCol="0" anchor="ctr"/>
          <a:lstStyle/>
          <a:p>
            <a:pPr marL="0" indent="0">
              <a:lnSpc>
                <a:spcPct val="120000"/>
              </a:lnSpc>
              <a:buNone/>
            </a:pPr>
            <a:r>
              <a:rPr lang="en-US" sz="1150" dirty="0">
                <a:solidFill>
                  <a:srgbClr val="D6D6D4"/>
                </a:solidFill>
                <a:latin typeface="Calibri" pitchFamily="34" charset="0"/>
                <a:ea typeface="Calibri" pitchFamily="34" charset="-122"/>
                <a:cs typeface="Calibri" pitchFamily="34" charset="-120"/>
              </a:rPr>
              <a:t>8–10 Uber rides/week — commute, client meetings, occasional night rides with live trip-sharing to family.</a:t>
            </a:r>
            <a:endParaRPr lang="en-US" sz="1150" dirty="0"/>
          </a:p>
        </p:txBody>
      </p:sp>
      <p:sp>
        <p:nvSpPr>
          <p:cNvPr id="10" name="Text 8"/>
          <p:cNvSpPr/>
          <p:nvPr/>
        </p:nvSpPr>
        <p:spPr>
          <a:xfrm>
            <a:off x="1234440" y="3749040"/>
            <a:ext cx="2743200" cy="274320"/>
          </a:xfrm>
          <a:prstGeom prst="rect">
            <a:avLst/>
          </a:prstGeom>
          <a:noFill/>
          <a:ln/>
        </p:spPr>
        <p:txBody>
          <a:bodyPr wrap="square" rtlCol="0" anchor="ctr"/>
          <a:lstStyle/>
          <a:p>
            <a:pPr marL="0" indent="0">
              <a:buNone/>
            </a:pPr>
            <a:r>
              <a:rPr lang="en-US" sz="1000" b="1" kern="0" spc="200" dirty="0">
                <a:solidFill>
                  <a:srgbClr val="00C2A8"/>
                </a:solidFill>
                <a:latin typeface="Calibri" pitchFamily="34" charset="0"/>
                <a:ea typeface="Calibri" pitchFamily="34" charset="-122"/>
                <a:cs typeface="Calibri" pitchFamily="34" charset="-120"/>
              </a:rPr>
              <a:t>JOBS-TO-BE-DONE</a:t>
            </a:r>
            <a:endParaRPr lang="en-US" sz="1000" dirty="0"/>
          </a:p>
        </p:txBody>
      </p:sp>
      <p:sp>
        <p:nvSpPr>
          <p:cNvPr id="11" name="Text 9"/>
          <p:cNvSpPr/>
          <p:nvPr/>
        </p:nvSpPr>
        <p:spPr>
          <a:xfrm>
            <a:off x="1234440" y="4041648"/>
            <a:ext cx="2880360" cy="960120"/>
          </a:xfrm>
          <a:prstGeom prst="rect">
            <a:avLst/>
          </a:prstGeom>
          <a:noFill/>
          <a:ln/>
        </p:spPr>
        <p:txBody>
          <a:bodyPr wrap="square" rtlCol="0" anchor="ctr"/>
          <a:lstStyle/>
          <a:p>
            <a:pPr marL="0" indent="0">
              <a:lnSpc>
                <a:spcPct val="120000"/>
              </a:lnSpc>
              <a:buNone/>
            </a:pPr>
            <a:r>
              <a:rPr lang="en-US" sz="1250" i="1" dirty="0">
                <a:solidFill>
                  <a:srgbClr val="FFFFFF"/>
                </a:solidFill>
                <a:latin typeface="Cambria" pitchFamily="34" charset="0"/>
                <a:ea typeface="Cambria" pitchFamily="34" charset="-122"/>
                <a:cs typeface="Cambria" pitchFamily="34" charset="-120"/>
              </a:rPr>
              <a:t>“When I book a ride, let me trust that only what this trip needs is being used — so I never have to think about my data.”</a:t>
            </a:r>
            <a:endParaRPr lang="en-US" sz="1250" dirty="0"/>
          </a:p>
        </p:txBody>
      </p:sp>
      <p:sp>
        <p:nvSpPr>
          <p:cNvPr id="12" name="Text 10"/>
          <p:cNvSpPr/>
          <p:nvPr/>
        </p:nvSpPr>
        <p:spPr>
          <a:xfrm>
            <a:off x="1234440" y="5120640"/>
            <a:ext cx="2743200" cy="274320"/>
          </a:xfrm>
          <a:prstGeom prst="rect">
            <a:avLst/>
          </a:prstGeom>
          <a:noFill/>
          <a:ln/>
        </p:spPr>
        <p:txBody>
          <a:bodyPr wrap="square" rtlCol="0" anchor="ctr"/>
          <a:lstStyle/>
          <a:p>
            <a:pPr marL="0" indent="0">
              <a:buNone/>
            </a:pPr>
            <a:r>
              <a:rPr lang="en-US" sz="1000" b="1" kern="0" spc="200" dirty="0">
                <a:solidFill>
                  <a:srgbClr val="00C2A8"/>
                </a:solidFill>
                <a:latin typeface="Calibri" pitchFamily="34" charset="0"/>
                <a:ea typeface="Calibri" pitchFamily="34" charset="-122"/>
                <a:cs typeface="Calibri" pitchFamily="34" charset="-120"/>
              </a:rPr>
              <a:t>MOTIVATION</a:t>
            </a:r>
            <a:endParaRPr lang="en-US" sz="1000" dirty="0"/>
          </a:p>
        </p:txBody>
      </p:sp>
      <p:sp>
        <p:nvSpPr>
          <p:cNvPr id="13" name="Text 11"/>
          <p:cNvSpPr/>
          <p:nvPr/>
        </p:nvSpPr>
        <p:spPr>
          <a:xfrm>
            <a:off x="1234440" y="5413248"/>
            <a:ext cx="2880360" cy="685800"/>
          </a:xfrm>
          <a:prstGeom prst="rect">
            <a:avLst/>
          </a:prstGeom>
          <a:noFill/>
          <a:ln/>
        </p:spPr>
        <p:txBody>
          <a:bodyPr wrap="square" rtlCol="0" anchor="ctr"/>
          <a:lstStyle/>
          <a:p>
            <a:pPr marL="0" indent="0">
              <a:lnSpc>
                <a:spcPct val="120000"/>
              </a:lnSpc>
              <a:buNone/>
            </a:pPr>
            <a:r>
              <a:rPr lang="en-US" sz="1150" dirty="0">
                <a:solidFill>
                  <a:srgbClr val="D6D6D4"/>
                </a:solidFill>
                <a:latin typeface="Calibri" pitchFamily="34" charset="0"/>
                <a:ea typeface="Calibri" pitchFamily="34" charset="-122"/>
                <a:cs typeface="Calibri" pitchFamily="34" charset="-120"/>
              </a:rPr>
              <a:t>Time-poor, moderately privacy-aware after recent breach headlines in India — wants control, not more forms.</a:t>
            </a:r>
            <a:endParaRPr lang="en-US" sz="1150" dirty="0"/>
          </a:p>
        </p:txBody>
      </p:sp>
      <p:sp>
        <p:nvSpPr>
          <p:cNvPr id="14" name="Text 12"/>
          <p:cNvSpPr/>
          <p:nvPr/>
        </p:nvSpPr>
        <p:spPr>
          <a:xfrm>
            <a:off x="4709160" y="1600200"/>
            <a:ext cx="6400800" cy="320040"/>
          </a:xfrm>
          <a:prstGeom prst="rect">
            <a:avLst/>
          </a:prstGeom>
          <a:noFill/>
          <a:ln/>
        </p:spPr>
        <p:txBody>
          <a:bodyPr wrap="square" rtlCol="0" anchor="ctr"/>
          <a:lstStyle/>
          <a:p>
            <a:pPr marL="0" indent="0">
              <a:buNone/>
            </a:pPr>
            <a:r>
              <a:rPr lang="en-US" sz="1200" b="1" kern="0" spc="150" dirty="0">
                <a:solidFill>
                  <a:srgbClr val="0B0B0C"/>
                </a:solidFill>
                <a:latin typeface="Calibri" pitchFamily="34" charset="0"/>
                <a:ea typeface="Calibri" pitchFamily="34" charset="-122"/>
                <a:cs typeface="Calibri" pitchFamily="34" charset="-120"/>
              </a:rPr>
              <a:t>PAIN POINTS TODAY</a:t>
            </a:r>
            <a:endParaRPr lang="en-US" sz="1200" dirty="0"/>
          </a:p>
        </p:txBody>
      </p:sp>
      <p:sp>
        <p:nvSpPr>
          <p:cNvPr id="15" name="Shape 13"/>
          <p:cNvSpPr/>
          <p:nvPr/>
        </p:nvSpPr>
        <p:spPr>
          <a:xfrm>
            <a:off x="4709160" y="1965960"/>
            <a:ext cx="6812280" cy="1024128"/>
          </a:xfrm>
          <a:prstGeom prst="roundRect">
            <a:avLst>
              <a:gd name="adj" fmla="val 6250"/>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16" name="Image 0" descr="preencoded.png"/>
          <p:cNvPicPr>
            <a:picLocks noChangeAspect="1"/>
          </p:cNvPicPr>
          <p:nvPr/>
        </p:nvPicPr>
        <p:blipFill>
          <a:blip r:embed="rId3"/>
          <a:stretch>
            <a:fillRect/>
          </a:stretch>
        </p:blipFill>
        <p:spPr>
          <a:xfrm>
            <a:off x="4910328" y="2267712"/>
            <a:ext cx="420624" cy="420624"/>
          </a:xfrm>
          <a:prstGeom prst="rect">
            <a:avLst/>
          </a:prstGeom>
        </p:spPr>
      </p:pic>
      <p:sp>
        <p:nvSpPr>
          <p:cNvPr id="17" name="Text 14"/>
          <p:cNvSpPr/>
          <p:nvPr/>
        </p:nvSpPr>
        <p:spPr>
          <a:xfrm>
            <a:off x="5532120" y="2084832"/>
            <a:ext cx="5806440" cy="320040"/>
          </a:xfrm>
          <a:prstGeom prst="rect">
            <a:avLst/>
          </a:prstGeom>
          <a:noFill/>
          <a:ln/>
        </p:spPr>
        <p:txBody>
          <a:bodyPr wrap="square" lIns="0" tIns="0" rIns="0" bIns="0" rtlCol="0" anchor="ctr"/>
          <a:lstStyle/>
          <a:p>
            <a:pPr marL="0" indent="0">
              <a:buNone/>
            </a:pPr>
            <a:r>
              <a:rPr lang="en-US" sz="1300" b="1" dirty="0">
                <a:solidFill>
                  <a:srgbClr val="0B0B0C"/>
                </a:solidFill>
                <a:latin typeface="Calibri" pitchFamily="34" charset="0"/>
                <a:ea typeface="Calibri" pitchFamily="34" charset="-122"/>
                <a:cs typeface="Calibri" pitchFamily="34" charset="-120"/>
              </a:rPr>
              <a:t>Doesn't remember agreeing to anything</a:t>
            </a:r>
            <a:endParaRPr lang="en-US" sz="1300" dirty="0"/>
          </a:p>
        </p:txBody>
      </p:sp>
      <p:sp>
        <p:nvSpPr>
          <p:cNvPr id="18" name="Text 15"/>
          <p:cNvSpPr/>
          <p:nvPr/>
        </p:nvSpPr>
        <p:spPr>
          <a:xfrm>
            <a:off x="5532120" y="2404872"/>
            <a:ext cx="5806440" cy="530352"/>
          </a:xfrm>
          <a:prstGeom prst="rect">
            <a:avLst/>
          </a:prstGeom>
          <a:noFill/>
          <a:ln/>
        </p:spPr>
        <p:txBody>
          <a:bodyPr wrap="square" lIns="0" tIns="0" rIns="0" bIns="0" rtlCol="0" anchor="ctr"/>
          <a:lstStyle/>
          <a:p>
            <a:pPr marL="0" indent="0">
              <a:lnSpc>
                <a:spcPct val="110000"/>
              </a:lnSpc>
              <a:buNone/>
            </a:pPr>
            <a:r>
              <a:rPr lang="en-US" sz="1050" dirty="0">
                <a:solidFill>
                  <a:srgbClr val="6B6B70"/>
                </a:solidFill>
                <a:latin typeface="Calibri" pitchFamily="34" charset="0"/>
                <a:ea typeface="Calibri" pitchFamily="34" charset="-122"/>
                <a:cs typeface="Calibri" pitchFamily="34" charset="-120"/>
              </a:rPr>
              <a:t>One bundled “Accept All” checkbox at signup, written in legal language, covers every future data use.</a:t>
            </a:r>
            <a:endParaRPr lang="en-US" sz="1050" dirty="0"/>
          </a:p>
        </p:txBody>
      </p:sp>
      <p:sp>
        <p:nvSpPr>
          <p:cNvPr id="19" name="Shape 16"/>
          <p:cNvSpPr/>
          <p:nvPr/>
        </p:nvSpPr>
        <p:spPr>
          <a:xfrm>
            <a:off x="4709160" y="3136392"/>
            <a:ext cx="6812280" cy="1024128"/>
          </a:xfrm>
          <a:prstGeom prst="roundRect">
            <a:avLst>
              <a:gd name="adj" fmla="val 6250"/>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20" name="Image 1" descr="preencoded.png"/>
          <p:cNvPicPr>
            <a:picLocks noChangeAspect="1"/>
          </p:cNvPicPr>
          <p:nvPr/>
        </p:nvPicPr>
        <p:blipFill>
          <a:blip r:embed="rId4"/>
          <a:stretch>
            <a:fillRect/>
          </a:stretch>
        </p:blipFill>
        <p:spPr>
          <a:xfrm>
            <a:off x="4910328" y="3438144"/>
            <a:ext cx="420624" cy="420624"/>
          </a:xfrm>
          <a:prstGeom prst="rect">
            <a:avLst/>
          </a:prstGeom>
        </p:spPr>
      </p:pic>
      <p:sp>
        <p:nvSpPr>
          <p:cNvPr id="21" name="Text 17"/>
          <p:cNvSpPr/>
          <p:nvPr/>
        </p:nvSpPr>
        <p:spPr>
          <a:xfrm>
            <a:off x="5532120" y="3255264"/>
            <a:ext cx="5806440" cy="320040"/>
          </a:xfrm>
          <a:prstGeom prst="rect">
            <a:avLst/>
          </a:prstGeom>
          <a:noFill/>
          <a:ln/>
        </p:spPr>
        <p:txBody>
          <a:bodyPr wrap="square" lIns="0" tIns="0" rIns="0" bIns="0" rtlCol="0" anchor="ctr"/>
          <a:lstStyle/>
          <a:p>
            <a:pPr marL="0" indent="0">
              <a:buNone/>
            </a:pPr>
            <a:r>
              <a:rPr lang="en-US" sz="1300" b="1" dirty="0">
                <a:solidFill>
                  <a:srgbClr val="0B0B0C"/>
                </a:solidFill>
                <a:latin typeface="Calibri" pitchFamily="34" charset="0"/>
                <a:ea typeface="Calibri" pitchFamily="34" charset="-122"/>
                <a:cs typeface="Calibri" pitchFamily="34" charset="-120"/>
              </a:rPr>
              <a:t>Unsure if she's still being tracked</a:t>
            </a:r>
            <a:endParaRPr lang="en-US" sz="1300" dirty="0"/>
          </a:p>
        </p:txBody>
      </p:sp>
      <p:sp>
        <p:nvSpPr>
          <p:cNvPr id="22" name="Text 18"/>
          <p:cNvSpPr/>
          <p:nvPr/>
        </p:nvSpPr>
        <p:spPr>
          <a:xfrm>
            <a:off x="5532120" y="3575304"/>
            <a:ext cx="5806440" cy="530352"/>
          </a:xfrm>
          <a:prstGeom prst="rect">
            <a:avLst/>
          </a:prstGeom>
          <a:noFill/>
          <a:ln/>
        </p:spPr>
        <p:txBody>
          <a:bodyPr wrap="square" lIns="0" tIns="0" rIns="0" bIns="0" rtlCol="0" anchor="ctr"/>
          <a:lstStyle/>
          <a:p>
            <a:pPr marL="0" indent="0">
              <a:lnSpc>
                <a:spcPct val="110000"/>
              </a:lnSpc>
              <a:buNone/>
            </a:pPr>
            <a:r>
              <a:rPr lang="en-US" sz="1050" dirty="0">
                <a:solidFill>
                  <a:srgbClr val="6B6B70"/>
                </a:solidFill>
                <a:latin typeface="Calibri" pitchFamily="34" charset="0"/>
                <a:ea typeface="Calibri" pitchFamily="34" charset="-122"/>
                <a:cs typeface="Calibri" pitchFamily="34" charset="-120"/>
              </a:rPr>
              <a:t>No indicator shows whether background location is active after a trip ends.</a:t>
            </a:r>
            <a:endParaRPr lang="en-US" sz="1050" dirty="0"/>
          </a:p>
        </p:txBody>
      </p:sp>
      <p:sp>
        <p:nvSpPr>
          <p:cNvPr id="23" name="Shape 19"/>
          <p:cNvSpPr/>
          <p:nvPr/>
        </p:nvSpPr>
        <p:spPr>
          <a:xfrm>
            <a:off x="4709160" y="4306824"/>
            <a:ext cx="6812280" cy="1024128"/>
          </a:xfrm>
          <a:prstGeom prst="roundRect">
            <a:avLst>
              <a:gd name="adj" fmla="val 6250"/>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24" name="Image 2" descr="preencoded.png"/>
          <p:cNvPicPr>
            <a:picLocks noChangeAspect="1"/>
          </p:cNvPicPr>
          <p:nvPr/>
        </p:nvPicPr>
        <p:blipFill>
          <a:blip r:embed="rId5"/>
          <a:stretch>
            <a:fillRect/>
          </a:stretch>
        </p:blipFill>
        <p:spPr>
          <a:xfrm>
            <a:off x="4910328" y="4608576"/>
            <a:ext cx="420624" cy="420624"/>
          </a:xfrm>
          <a:prstGeom prst="rect">
            <a:avLst/>
          </a:prstGeom>
        </p:spPr>
      </p:pic>
      <p:sp>
        <p:nvSpPr>
          <p:cNvPr id="25" name="Text 20"/>
          <p:cNvSpPr/>
          <p:nvPr/>
        </p:nvSpPr>
        <p:spPr>
          <a:xfrm>
            <a:off x="5532120" y="4425696"/>
            <a:ext cx="5806440" cy="320040"/>
          </a:xfrm>
          <a:prstGeom prst="rect">
            <a:avLst/>
          </a:prstGeom>
          <a:noFill/>
          <a:ln/>
        </p:spPr>
        <p:txBody>
          <a:bodyPr wrap="square" lIns="0" tIns="0" rIns="0" bIns="0" rtlCol="0" anchor="ctr"/>
          <a:lstStyle/>
          <a:p>
            <a:pPr marL="0" indent="0">
              <a:buNone/>
            </a:pPr>
            <a:r>
              <a:rPr lang="en-US" sz="1300" b="1" dirty="0">
                <a:solidFill>
                  <a:srgbClr val="0B0B0C"/>
                </a:solidFill>
                <a:latin typeface="Calibri" pitchFamily="34" charset="0"/>
                <a:ea typeface="Calibri" pitchFamily="34" charset="-122"/>
                <a:cs typeface="Calibri" pitchFamily="34" charset="-120"/>
              </a:rPr>
              <a:t>Contacts access felt unrelated to a ride</a:t>
            </a:r>
            <a:endParaRPr lang="en-US" sz="1300" dirty="0"/>
          </a:p>
        </p:txBody>
      </p:sp>
      <p:sp>
        <p:nvSpPr>
          <p:cNvPr id="26" name="Text 21"/>
          <p:cNvSpPr/>
          <p:nvPr/>
        </p:nvSpPr>
        <p:spPr>
          <a:xfrm>
            <a:off x="5532120" y="4745736"/>
            <a:ext cx="5806440" cy="530352"/>
          </a:xfrm>
          <a:prstGeom prst="rect">
            <a:avLst/>
          </a:prstGeom>
          <a:noFill/>
          <a:ln/>
        </p:spPr>
        <p:txBody>
          <a:bodyPr wrap="square" lIns="0" tIns="0" rIns="0" bIns="0" rtlCol="0" anchor="ctr"/>
          <a:lstStyle/>
          <a:p>
            <a:pPr marL="0" indent="0">
              <a:lnSpc>
                <a:spcPct val="110000"/>
              </a:lnSpc>
              <a:buNone/>
            </a:pPr>
            <a:r>
              <a:rPr lang="en-US" sz="1050" dirty="0">
                <a:solidFill>
                  <a:srgbClr val="6B6B70"/>
                </a:solidFill>
                <a:latin typeface="Calibri" pitchFamily="34" charset="0"/>
                <a:ea typeface="Calibri" pitchFamily="34" charset="-122"/>
                <a:cs typeface="Calibri" pitchFamily="34" charset="-120"/>
              </a:rPr>
              <a:t>Asked to share contacts for “SOS trusted contacts” bundled with unrelated permissions.</a:t>
            </a:r>
            <a:endParaRPr lang="en-US" sz="1050" dirty="0"/>
          </a:p>
        </p:txBody>
      </p:sp>
      <p:sp>
        <p:nvSpPr>
          <p:cNvPr id="27" name="Shape 22"/>
          <p:cNvSpPr/>
          <p:nvPr/>
        </p:nvSpPr>
        <p:spPr>
          <a:xfrm>
            <a:off x="4709160" y="5477256"/>
            <a:ext cx="6812280" cy="1024128"/>
          </a:xfrm>
          <a:prstGeom prst="roundRect">
            <a:avLst>
              <a:gd name="adj" fmla="val 6250"/>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28" name="Image 3" descr="preencoded.png"/>
          <p:cNvPicPr>
            <a:picLocks noChangeAspect="1"/>
          </p:cNvPicPr>
          <p:nvPr/>
        </p:nvPicPr>
        <p:blipFill>
          <a:blip r:embed="rId6"/>
          <a:stretch>
            <a:fillRect/>
          </a:stretch>
        </p:blipFill>
        <p:spPr>
          <a:xfrm>
            <a:off x="4910328" y="5779008"/>
            <a:ext cx="420624" cy="420624"/>
          </a:xfrm>
          <a:prstGeom prst="rect">
            <a:avLst/>
          </a:prstGeom>
        </p:spPr>
      </p:pic>
      <p:sp>
        <p:nvSpPr>
          <p:cNvPr id="29" name="Text 23"/>
          <p:cNvSpPr/>
          <p:nvPr/>
        </p:nvSpPr>
        <p:spPr>
          <a:xfrm>
            <a:off x="5532120" y="5596128"/>
            <a:ext cx="5806440" cy="320040"/>
          </a:xfrm>
          <a:prstGeom prst="rect">
            <a:avLst/>
          </a:prstGeom>
          <a:noFill/>
          <a:ln/>
        </p:spPr>
        <p:txBody>
          <a:bodyPr wrap="square" lIns="0" tIns="0" rIns="0" bIns="0" rtlCol="0" anchor="ctr"/>
          <a:lstStyle/>
          <a:p>
            <a:pPr marL="0" indent="0">
              <a:buNone/>
            </a:pPr>
            <a:r>
              <a:rPr lang="en-US" sz="1300" b="1" dirty="0">
                <a:solidFill>
                  <a:srgbClr val="0B0B0C"/>
                </a:solidFill>
                <a:latin typeface="Calibri" pitchFamily="34" charset="0"/>
                <a:ea typeface="Calibri" pitchFamily="34" charset="-122"/>
                <a:cs typeface="Calibri" pitchFamily="34" charset="-120"/>
              </a:rPr>
              <a:t>Deleting old data feels impossible</a:t>
            </a:r>
            <a:endParaRPr lang="en-US" sz="1300" dirty="0"/>
          </a:p>
        </p:txBody>
      </p:sp>
      <p:sp>
        <p:nvSpPr>
          <p:cNvPr id="30" name="Text 24"/>
          <p:cNvSpPr/>
          <p:nvPr/>
        </p:nvSpPr>
        <p:spPr>
          <a:xfrm>
            <a:off x="5532120" y="5916168"/>
            <a:ext cx="5806440" cy="530352"/>
          </a:xfrm>
          <a:prstGeom prst="rect">
            <a:avLst/>
          </a:prstGeom>
          <a:noFill/>
          <a:ln/>
        </p:spPr>
        <p:txBody>
          <a:bodyPr wrap="square" lIns="0" tIns="0" rIns="0" bIns="0" rtlCol="0" anchor="ctr"/>
          <a:lstStyle/>
          <a:p>
            <a:pPr marL="0" indent="0">
              <a:lnSpc>
                <a:spcPct val="110000"/>
              </a:lnSpc>
              <a:buNone/>
            </a:pPr>
            <a:r>
              <a:rPr lang="en-US" sz="1050" dirty="0">
                <a:solidFill>
                  <a:srgbClr val="6B6B70"/>
                </a:solidFill>
                <a:latin typeface="Calibri" pitchFamily="34" charset="0"/>
                <a:ea typeface="Calibri" pitchFamily="34" charset="-122"/>
                <a:cs typeface="Calibri" pitchFamily="34" charset="-120"/>
              </a:rPr>
              <a:t>Account/data deletion is buried five-plus taps deep in Settings, with no confirmation of what gets removed.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rtlCol="0" anchor="ctr"/>
          <a:lstStyle/>
          <a:p>
            <a:pPr marL="0" indent="0">
              <a:buNone/>
            </a:pPr>
            <a:r>
              <a:rPr lang="en-US" sz="2700" b="1" dirty="0">
                <a:solidFill>
                  <a:srgbClr val="0B0B0C"/>
                </a:solidFill>
                <a:latin typeface="Cambria" pitchFamily="34" charset="0"/>
                <a:ea typeface="Cambria" pitchFamily="34" charset="-122"/>
                <a:cs typeface="Cambria" pitchFamily="34" charset="-120"/>
              </a:rPr>
              <a:t>Current Experience — Where It Falls Short</a:t>
            </a:r>
            <a:endParaRPr lang="en-US" sz="2700" dirty="0"/>
          </a:p>
        </p:txBody>
      </p:sp>
      <p:sp>
        <p:nvSpPr>
          <p:cNvPr id="3" name="Text 1"/>
          <p:cNvSpPr/>
          <p:nvPr/>
        </p:nvSpPr>
        <p:spPr>
          <a:xfrm>
            <a:off x="640080" y="987552"/>
            <a:ext cx="8229600" cy="320040"/>
          </a:xfrm>
          <a:prstGeom prst="rect">
            <a:avLst/>
          </a:prstGeom>
          <a:noFill/>
          <a:ln/>
        </p:spPr>
        <p:txBody>
          <a:bodyPr wrap="square" rtlCol="0" anchor="ctr"/>
          <a:lstStyle/>
          <a:p>
            <a:pPr marL="0" indent="0">
              <a:buNone/>
            </a:pPr>
            <a:r>
              <a:rPr lang="en-US" sz="1300" i="1" dirty="0">
                <a:solidFill>
                  <a:srgbClr val="6B6B70"/>
                </a:solidFill>
                <a:latin typeface="Calibri" pitchFamily="34" charset="0"/>
                <a:ea typeface="Calibri" pitchFamily="34" charset="-122"/>
                <a:cs typeface="Calibri" pitchFamily="34" charset="-120"/>
              </a:rPr>
              <a:t>Journey today, mapped against what DPDP actually requires</a:t>
            </a:r>
            <a:endParaRPr lang="en-US" sz="1300" dirty="0"/>
          </a:p>
        </p:txBody>
      </p:sp>
      <p:sp>
        <p:nvSpPr>
          <p:cNvPr id="4" name="Shape 2"/>
          <p:cNvSpPr/>
          <p:nvPr/>
        </p:nvSpPr>
        <p:spPr>
          <a:xfrm>
            <a:off x="640080" y="1508760"/>
            <a:ext cx="1084217" cy="868680"/>
          </a:xfrm>
          <a:prstGeom prst="roundRect">
            <a:avLst>
              <a:gd name="adj" fmla="val 6316"/>
            </a:avLst>
          </a:prstGeom>
          <a:solidFill>
            <a:srgbClr val="EFEFEC"/>
          </a:solidFill>
          <a:ln/>
        </p:spPr>
        <p:txBody>
          <a:bodyPr/>
          <a:lstStyle/>
          <a:p>
            <a:endParaRPr lang="en-IN"/>
          </a:p>
        </p:txBody>
      </p:sp>
      <p:sp>
        <p:nvSpPr>
          <p:cNvPr id="5" name="Text 3"/>
          <p:cNvSpPr/>
          <p:nvPr/>
        </p:nvSpPr>
        <p:spPr>
          <a:xfrm>
            <a:off x="640080"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Signup +</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Phone OTP</a:t>
            </a:r>
            <a:endParaRPr lang="en-US" sz="950" dirty="0"/>
          </a:p>
        </p:txBody>
      </p:sp>
      <p:sp>
        <p:nvSpPr>
          <p:cNvPr id="6" name="Text 4"/>
          <p:cNvSpPr/>
          <p:nvPr/>
        </p:nvSpPr>
        <p:spPr>
          <a:xfrm>
            <a:off x="1724297" y="1508760"/>
            <a:ext cx="548640" cy="868680"/>
          </a:xfrm>
          <a:prstGeom prst="rect">
            <a:avLst/>
          </a:prstGeom>
          <a:noFill/>
          <a:ln/>
        </p:spPr>
        <p:txBody>
          <a:bodyPr wrap="square" lIns="0" tIns="0" rIns="0" bIns="0" rtlCol="0" anchor="ctr"/>
          <a:lstStyle/>
          <a:p>
            <a:pPr marL="0" indent="0" algn="ctr">
              <a:buNone/>
            </a:pPr>
            <a:r>
              <a:rPr lang="en-US" sz="1600" dirty="0">
                <a:solidFill>
                  <a:srgbClr val="9A9A9E"/>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272937" y="1508760"/>
            <a:ext cx="1084217" cy="868680"/>
          </a:xfrm>
          <a:prstGeom prst="roundRect">
            <a:avLst>
              <a:gd name="adj" fmla="val 6316"/>
            </a:avLst>
          </a:prstGeom>
          <a:solidFill>
            <a:srgbClr val="E8A33D"/>
          </a:solidFill>
          <a:ln/>
        </p:spPr>
        <p:txBody>
          <a:bodyPr/>
          <a:lstStyle/>
          <a:p>
            <a:endParaRPr lang="en-IN"/>
          </a:p>
        </p:txBody>
      </p:sp>
      <p:sp>
        <p:nvSpPr>
          <p:cNvPr id="8" name="Text 6"/>
          <p:cNvSpPr/>
          <p:nvPr/>
        </p:nvSpPr>
        <p:spPr>
          <a:xfrm>
            <a:off x="2272937"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Accept All</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(1 checkbox)</a:t>
            </a:r>
            <a:endParaRPr lang="en-US" sz="950" dirty="0"/>
          </a:p>
        </p:txBody>
      </p:sp>
      <p:sp>
        <p:nvSpPr>
          <p:cNvPr id="9" name="Text 7"/>
          <p:cNvSpPr/>
          <p:nvPr/>
        </p:nvSpPr>
        <p:spPr>
          <a:xfrm>
            <a:off x="3357154" y="1508760"/>
            <a:ext cx="548640" cy="868680"/>
          </a:xfrm>
          <a:prstGeom prst="rect">
            <a:avLst/>
          </a:prstGeom>
          <a:noFill/>
          <a:ln/>
        </p:spPr>
        <p:txBody>
          <a:bodyPr wrap="square" lIns="0" tIns="0" rIns="0" bIns="0" rtlCol="0" anchor="ctr"/>
          <a:lstStyle/>
          <a:p>
            <a:pPr marL="0" indent="0" algn="ctr">
              <a:buNone/>
            </a:pPr>
            <a:r>
              <a:rPr lang="en-US" sz="1600" dirty="0">
                <a:solidFill>
                  <a:srgbClr val="9A9A9E"/>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905794" y="1508760"/>
            <a:ext cx="1084217" cy="868680"/>
          </a:xfrm>
          <a:prstGeom prst="roundRect">
            <a:avLst>
              <a:gd name="adj" fmla="val 6316"/>
            </a:avLst>
          </a:prstGeom>
          <a:solidFill>
            <a:srgbClr val="EFEFEC"/>
          </a:solidFill>
          <a:ln/>
        </p:spPr>
        <p:txBody>
          <a:bodyPr/>
          <a:lstStyle/>
          <a:p>
            <a:endParaRPr lang="en-IN"/>
          </a:p>
        </p:txBody>
      </p:sp>
      <p:sp>
        <p:nvSpPr>
          <p:cNvPr id="11" name="Text 9"/>
          <p:cNvSpPr/>
          <p:nvPr/>
        </p:nvSpPr>
        <p:spPr>
          <a:xfrm>
            <a:off x="3905794"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“Always Allow”</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location prompt</a:t>
            </a:r>
            <a:endParaRPr lang="en-US" sz="950" dirty="0"/>
          </a:p>
        </p:txBody>
      </p:sp>
      <p:sp>
        <p:nvSpPr>
          <p:cNvPr id="12" name="Text 10"/>
          <p:cNvSpPr/>
          <p:nvPr/>
        </p:nvSpPr>
        <p:spPr>
          <a:xfrm>
            <a:off x="4990011" y="1508760"/>
            <a:ext cx="548640" cy="868680"/>
          </a:xfrm>
          <a:prstGeom prst="rect">
            <a:avLst/>
          </a:prstGeom>
          <a:noFill/>
          <a:ln/>
        </p:spPr>
        <p:txBody>
          <a:bodyPr wrap="square" lIns="0" tIns="0" rIns="0" bIns="0" rtlCol="0" anchor="ctr"/>
          <a:lstStyle/>
          <a:p>
            <a:pPr marL="0" indent="0" algn="ctr">
              <a:buNone/>
            </a:pPr>
            <a:r>
              <a:rPr lang="en-US" sz="1600" dirty="0">
                <a:solidFill>
                  <a:srgbClr val="9A9A9E"/>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538651" y="1508760"/>
            <a:ext cx="1084217" cy="868680"/>
          </a:xfrm>
          <a:prstGeom prst="roundRect">
            <a:avLst>
              <a:gd name="adj" fmla="val 6316"/>
            </a:avLst>
          </a:prstGeom>
          <a:solidFill>
            <a:srgbClr val="EFEFEC"/>
          </a:solidFill>
          <a:ln/>
        </p:spPr>
        <p:txBody>
          <a:bodyPr/>
          <a:lstStyle/>
          <a:p>
            <a:endParaRPr lang="en-IN"/>
          </a:p>
        </p:txBody>
      </p:sp>
      <p:sp>
        <p:nvSpPr>
          <p:cNvPr id="14" name="Text 12"/>
          <p:cNvSpPr/>
          <p:nvPr/>
        </p:nvSpPr>
        <p:spPr>
          <a:xfrm>
            <a:off x="5538651"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Background</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location persists</a:t>
            </a:r>
            <a:endParaRPr lang="en-US" sz="950" dirty="0"/>
          </a:p>
        </p:txBody>
      </p:sp>
      <p:sp>
        <p:nvSpPr>
          <p:cNvPr id="15" name="Text 13"/>
          <p:cNvSpPr/>
          <p:nvPr/>
        </p:nvSpPr>
        <p:spPr>
          <a:xfrm>
            <a:off x="6622869" y="1508760"/>
            <a:ext cx="548640" cy="868680"/>
          </a:xfrm>
          <a:prstGeom prst="rect">
            <a:avLst/>
          </a:prstGeom>
          <a:noFill/>
          <a:ln/>
        </p:spPr>
        <p:txBody>
          <a:bodyPr wrap="square" lIns="0" tIns="0" rIns="0" bIns="0" rtlCol="0" anchor="ctr"/>
          <a:lstStyle/>
          <a:p>
            <a:pPr marL="0" indent="0" algn="ctr">
              <a:buNone/>
            </a:pPr>
            <a:r>
              <a:rPr lang="en-US" sz="1600" dirty="0">
                <a:solidFill>
                  <a:srgbClr val="9A9A9E"/>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171509" y="1508760"/>
            <a:ext cx="1084217" cy="868680"/>
          </a:xfrm>
          <a:prstGeom prst="roundRect">
            <a:avLst>
              <a:gd name="adj" fmla="val 6316"/>
            </a:avLst>
          </a:prstGeom>
          <a:solidFill>
            <a:srgbClr val="EFEFEC"/>
          </a:solidFill>
          <a:ln/>
        </p:spPr>
        <p:txBody>
          <a:bodyPr/>
          <a:lstStyle/>
          <a:p>
            <a:endParaRPr lang="en-IN"/>
          </a:p>
        </p:txBody>
      </p:sp>
      <p:sp>
        <p:nvSpPr>
          <p:cNvPr id="17" name="Text 15"/>
          <p:cNvSpPr/>
          <p:nvPr/>
        </p:nvSpPr>
        <p:spPr>
          <a:xfrm>
            <a:off x="7171509"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Contacts asked</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for SOS</a:t>
            </a:r>
            <a:endParaRPr lang="en-US" sz="950" dirty="0"/>
          </a:p>
        </p:txBody>
      </p:sp>
      <p:sp>
        <p:nvSpPr>
          <p:cNvPr id="18" name="Text 16"/>
          <p:cNvSpPr/>
          <p:nvPr/>
        </p:nvSpPr>
        <p:spPr>
          <a:xfrm>
            <a:off x="8255726" y="1508760"/>
            <a:ext cx="548640" cy="868680"/>
          </a:xfrm>
          <a:prstGeom prst="rect">
            <a:avLst/>
          </a:prstGeom>
          <a:noFill/>
          <a:ln/>
        </p:spPr>
        <p:txBody>
          <a:bodyPr wrap="square" lIns="0" tIns="0" rIns="0" bIns="0" rtlCol="0" anchor="ctr"/>
          <a:lstStyle/>
          <a:p>
            <a:pPr marL="0" indent="0" algn="ctr">
              <a:buNone/>
            </a:pPr>
            <a:r>
              <a:rPr lang="en-US" sz="1600" dirty="0">
                <a:solidFill>
                  <a:srgbClr val="9A9A9E"/>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804366" y="1508760"/>
            <a:ext cx="1084217" cy="868680"/>
          </a:xfrm>
          <a:prstGeom prst="roundRect">
            <a:avLst>
              <a:gd name="adj" fmla="val 6316"/>
            </a:avLst>
          </a:prstGeom>
          <a:solidFill>
            <a:srgbClr val="EFEFEC"/>
          </a:solidFill>
          <a:ln/>
        </p:spPr>
        <p:txBody>
          <a:bodyPr/>
          <a:lstStyle/>
          <a:p>
            <a:endParaRPr lang="en-IN"/>
          </a:p>
        </p:txBody>
      </p:sp>
      <p:sp>
        <p:nvSpPr>
          <p:cNvPr id="20" name="Text 18"/>
          <p:cNvSpPr/>
          <p:nvPr/>
        </p:nvSpPr>
        <p:spPr>
          <a:xfrm>
            <a:off x="8804366"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Marketing</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defaults ON</a:t>
            </a:r>
            <a:endParaRPr lang="en-US" sz="950" dirty="0"/>
          </a:p>
        </p:txBody>
      </p:sp>
      <p:sp>
        <p:nvSpPr>
          <p:cNvPr id="21" name="Text 19"/>
          <p:cNvSpPr/>
          <p:nvPr/>
        </p:nvSpPr>
        <p:spPr>
          <a:xfrm>
            <a:off x="9888583" y="1508760"/>
            <a:ext cx="548640" cy="868680"/>
          </a:xfrm>
          <a:prstGeom prst="rect">
            <a:avLst/>
          </a:prstGeom>
          <a:noFill/>
          <a:ln/>
        </p:spPr>
        <p:txBody>
          <a:bodyPr wrap="square" lIns="0" tIns="0" rIns="0" bIns="0" rtlCol="0" anchor="ctr"/>
          <a:lstStyle/>
          <a:p>
            <a:pPr marL="0" indent="0" algn="ctr">
              <a:buNone/>
            </a:pPr>
            <a:r>
              <a:rPr lang="en-US" sz="1600" dirty="0">
                <a:solidFill>
                  <a:srgbClr val="9A9A9E"/>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10437223" y="1508760"/>
            <a:ext cx="1084217" cy="868680"/>
          </a:xfrm>
          <a:prstGeom prst="roundRect">
            <a:avLst>
              <a:gd name="adj" fmla="val 6316"/>
            </a:avLst>
          </a:prstGeom>
          <a:solidFill>
            <a:srgbClr val="E8A33D"/>
          </a:solidFill>
          <a:ln/>
        </p:spPr>
        <p:txBody>
          <a:bodyPr/>
          <a:lstStyle/>
          <a:p>
            <a:endParaRPr lang="en-IN"/>
          </a:p>
        </p:txBody>
      </p:sp>
      <p:sp>
        <p:nvSpPr>
          <p:cNvPr id="23" name="Text 21"/>
          <p:cNvSpPr/>
          <p:nvPr/>
        </p:nvSpPr>
        <p:spPr>
          <a:xfrm>
            <a:off x="10437223" y="1508760"/>
            <a:ext cx="1084217" cy="86868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Delete buried</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5+ taps deep</a:t>
            </a:r>
            <a:endParaRPr lang="en-US" sz="950" dirty="0"/>
          </a:p>
        </p:txBody>
      </p:sp>
      <p:sp>
        <p:nvSpPr>
          <p:cNvPr id="24" name="Text 22"/>
          <p:cNvSpPr/>
          <p:nvPr/>
        </p:nvSpPr>
        <p:spPr>
          <a:xfrm>
            <a:off x="640080" y="2423160"/>
            <a:ext cx="5486400" cy="274320"/>
          </a:xfrm>
          <a:prstGeom prst="rect">
            <a:avLst/>
          </a:prstGeom>
          <a:noFill/>
          <a:ln/>
        </p:spPr>
        <p:txBody>
          <a:bodyPr wrap="square"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Amber = highest-friction / highest-risk steps</a:t>
            </a:r>
            <a:endParaRPr lang="en-US" sz="1000" dirty="0"/>
          </a:p>
        </p:txBody>
      </p:sp>
      <p:sp>
        <p:nvSpPr>
          <p:cNvPr id="25" name="Text 23"/>
          <p:cNvSpPr/>
          <p:nvPr/>
        </p:nvSpPr>
        <p:spPr>
          <a:xfrm>
            <a:off x="640080" y="2834640"/>
            <a:ext cx="4572000" cy="320040"/>
          </a:xfrm>
          <a:prstGeom prst="rect">
            <a:avLst/>
          </a:prstGeom>
          <a:noFill/>
          <a:ln/>
        </p:spPr>
        <p:txBody>
          <a:bodyPr wrap="square" rtlCol="0" anchor="ctr"/>
          <a:lstStyle/>
          <a:p>
            <a:pPr marL="0" indent="0">
              <a:buNone/>
            </a:pPr>
            <a:r>
              <a:rPr lang="en-US" sz="1200" b="1" kern="0" spc="150" dirty="0">
                <a:solidFill>
                  <a:srgbClr val="0B0B0C"/>
                </a:solidFill>
                <a:latin typeface="Calibri" pitchFamily="34" charset="0"/>
                <a:ea typeface="Calibri" pitchFamily="34" charset="-122"/>
                <a:cs typeface="Calibri" pitchFamily="34" charset="-120"/>
              </a:rPr>
              <a:t>GAPS AGAINST DPDP</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3182112"/>
          <a:ext cx="10881360" cy="3182112"/>
        </p:xfrm>
        <a:graphic>
          <a:graphicData uri="http://schemas.openxmlformats.org/drawingml/2006/table">
            <a:tbl>
              <a:tblPr/>
              <a:tblGrid>
                <a:gridCol w="32918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30352">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DPDP Requirement</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What Uber does today</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Gap</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30352">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Notice — clear, itemised, plain language</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Single long privacy policy in legal language</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Not itemised by purpose; not plain-language</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Consent — free, specific, informed, unambiguous</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One bundled “Accept All” checkbox</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Not granular; pre-ticked defaults nudge accept</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Withdrawal — as easy as giving consent</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No visible equal-effort withdrawal path</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Withdrawal requires support ticket, not self-serve</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Data minimisation</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Location + contacts requested upfront, unused features</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Collected before the feature needing it is used</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User rights — access / correct / erase</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Delete account buried in nested settings</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50" dirty="0">
                          <a:solidFill>
                            <a:srgbClr val="0B0B0C"/>
                          </a:solidFill>
                          <a:latin typeface="Calibri" pitchFamily="34" charset="0"/>
                          <a:ea typeface="Calibri" pitchFamily="34" charset="-122"/>
                          <a:cs typeface="Calibri" pitchFamily="34" charset="-120"/>
                        </a:rPr>
                        <a:t>Low discoverability, no clear confirmation</a:t>
                      </a:r>
                      <a:endParaRPr lang="en-US" sz="105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C"/>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Proposed Solution</a:t>
            </a:r>
            <a:endParaRPr lang="en-US" sz="3000" dirty="0"/>
          </a:p>
        </p:txBody>
      </p:sp>
      <p:sp>
        <p:nvSpPr>
          <p:cNvPr id="3" name="Text 1"/>
          <p:cNvSpPr/>
          <p:nvPr/>
        </p:nvSpPr>
        <p:spPr>
          <a:xfrm>
            <a:off x="640080" y="987552"/>
            <a:ext cx="8229600" cy="320040"/>
          </a:xfrm>
          <a:prstGeom prst="rect">
            <a:avLst/>
          </a:prstGeom>
          <a:noFill/>
          <a:ln/>
        </p:spPr>
        <p:txBody>
          <a:bodyPr wrap="square" rtlCol="0" anchor="ctr"/>
          <a:lstStyle/>
          <a:p>
            <a:pPr marL="0" indent="0">
              <a:buNone/>
            </a:pPr>
            <a:r>
              <a:rPr lang="en-US" sz="1300" i="1" dirty="0">
                <a:solidFill>
                  <a:srgbClr val="9A9A9E"/>
                </a:solidFill>
                <a:latin typeface="Calibri" pitchFamily="34" charset="0"/>
                <a:ea typeface="Calibri" pitchFamily="34" charset="-122"/>
                <a:cs typeface="Calibri" pitchFamily="34" charset="-120"/>
              </a:rPr>
              <a:t>Three directions considered — one chosen, with reasoning</a:t>
            </a:r>
            <a:endParaRPr lang="en-US" sz="1300" dirty="0"/>
          </a:p>
        </p:txBody>
      </p:sp>
      <p:sp>
        <p:nvSpPr>
          <p:cNvPr id="4" name="Shape 2"/>
          <p:cNvSpPr/>
          <p:nvPr/>
        </p:nvSpPr>
        <p:spPr>
          <a:xfrm>
            <a:off x="640080" y="1417320"/>
            <a:ext cx="10881360" cy="1051560"/>
          </a:xfrm>
          <a:prstGeom prst="roundRect">
            <a:avLst>
              <a:gd name="adj" fmla="val 6957"/>
            </a:avLst>
          </a:prstGeom>
          <a:solidFill>
            <a:srgbClr val="1B1B1D"/>
          </a:solidFill>
          <a:ln/>
          <a:effectLst>
            <a:outerShdw blurRad="101600" dist="38100" dir="2700000" algn="bl" rotWithShape="0">
              <a:srgbClr val="000000">
                <a:alpha val="12000"/>
              </a:srgbClr>
            </a:outerShdw>
          </a:effectLst>
        </p:spPr>
        <p:txBody>
          <a:bodyPr/>
          <a:lstStyle/>
          <a:p>
            <a:endParaRPr lang="en-IN"/>
          </a:p>
        </p:txBody>
      </p:sp>
      <p:pic>
        <p:nvPicPr>
          <p:cNvPr id="5" name="Image 0" descr="preencoded.png"/>
          <p:cNvPicPr>
            <a:picLocks noChangeAspect="1"/>
          </p:cNvPicPr>
          <p:nvPr/>
        </p:nvPicPr>
        <p:blipFill>
          <a:blip r:embed="rId3"/>
          <a:stretch>
            <a:fillRect/>
          </a:stretch>
        </p:blipFill>
        <p:spPr>
          <a:xfrm>
            <a:off x="914400" y="1673352"/>
            <a:ext cx="548640" cy="548640"/>
          </a:xfrm>
          <a:prstGeom prst="rect">
            <a:avLst/>
          </a:prstGeom>
        </p:spPr>
      </p:pic>
      <p:sp>
        <p:nvSpPr>
          <p:cNvPr id="6" name="Text 3"/>
          <p:cNvSpPr/>
          <p:nvPr/>
        </p:nvSpPr>
        <p:spPr>
          <a:xfrm>
            <a:off x="1645920" y="1536192"/>
            <a:ext cx="9601200" cy="320040"/>
          </a:xfrm>
          <a:prstGeom prst="rect">
            <a:avLst/>
          </a:prstGeom>
          <a:noFill/>
          <a:ln/>
        </p:spPr>
        <p:txBody>
          <a:bodyPr wrap="square" lIns="0" tIns="0" rIns="0" bIns="0" rtlCol="0" anchor="ctr"/>
          <a:lstStyle/>
          <a:p>
            <a:pPr marL="0" indent="0">
              <a:buNone/>
            </a:pPr>
            <a:r>
              <a:rPr lang="en-US" sz="1600" b="1" dirty="0">
                <a:solidFill>
                  <a:srgbClr val="00C2A8"/>
                </a:solidFill>
                <a:latin typeface="Cambria" pitchFamily="34" charset="0"/>
                <a:ea typeface="Cambria" pitchFamily="34" charset="-122"/>
                <a:cs typeface="Cambria" pitchFamily="34" charset="-120"/>
              </a:rPr>
              <a:t>Consent &amp; Data Rights Hub</a:t>
            </a:r>
            <a:endParaRPr lang="en-US" sz="1600" dirty="0"/>
          </a:p>
        </p:txBody>
      </p:sp>
      <p:sp>
        <p:nvSpPr>
          <p:cNvPr id="7" name="Text 4"/>
          <p:cNvSpPr/>
          <p:nvPr/>
        </p:nvSpPr>
        <p:spPr>
          <a:xfrm>
            <a:off x="1645920" y="1856232"/>
            <a:ext cx="9601200" cy="548640"/>
          </a:xfrm>
          <a:prstGeom prst="rect">
            <a:avLst/>
          </a:prstGeom>
          <a:noFill/>
          <a:ln/>
        </p:spPr>
        <p:txBody>
          <a:bodyPr wrap="square" lIns="0" tIns="0" rIns="0" bIns="0" rtlCol="0" anchor="ctr"/>
          <a:lstStyle/>
          <a:p>
            <a:pPr marL="0" indent="0">
              <a:lnSpc>
                <a:spcPct val="115000"/>
              </a:lnSpc>
              <a:buNone/>
            </a:pPr>
            <a:r>
              <a:rPr lang="en-US" sz="1150" dirty="0">
                <a:solidFill>
                  <a:srgbClr val="F7F7F5"/>
                </a:solidFill>
                <a:latin typeface="Calibri" pitchFamily="34" charset="0"/>
                <a:ea typeface="Calibri" pitchFamily="34" charset="-122"/>
                <a:cs typeface="Calibri" pitchFamily="34" charset="-120"/>
              </a:rPr>
              <a:t>Purpose-based granular consent, replacing the bundled checkbox — plus one self-serve surface for access, correction, download, and deletion, each purpose withdrawable in one tap.</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974116049"/>
              </p:ext>
            </p:extLst>
          </p:nvPr>
        </p:nvGraphicFramePr>
        <p:xfrm>
          <a:off x="0" y="2704407"/>
          <a:ext cx="12192001" cy="1828800"/>
        </p:xfrm>
        <a:graphic>
          <a:graphicData uri="http://schemas.openxmlformats.org/drawingml/2006/table">
            <a:tbl>
              <a:tblPr/>
              <a:tblGrid>
                <a:gridCol w="3402419">
                  <a:extLst>
                    <a:ext uri="{9D8B030D-6E8A-4147-A177-3AD203B41FA5}">
                      <a16:colId xmlns:a16="http://schemas.microsoft.com/office/drawing/2014/main" val="20000"/>
                    </a:ext>
                  </a:extLst>
                </a:gridCol>
                <a:gridCol w="1275907">
                  <a:extLst>
                    <a:ext uri="{9D8B030D-6E8A-4147-A177-3AD203B41FA5}">
                      <a16:colId xmlns:a16="http://schemas.microsoft.com/office/drawing/2014/main" val="20001"/>
                    </a:ext>
                  </a:extLst>
                </a:gridCol>
                <a:gridCol w="1086883">
                  <a:extLst>
                    <a:ext uri="{9D8B030D-6E8A-4147-A177-3AD203B41FA5}">
                      <a16:colId xmlns:a16="http://schemas.microsoft.com/office/drawing/2014/main" val="20002"/>
                    </a:ext>
                  </a:extLst>
                </a:gridCol>
                <a:gridCol w="1606698">
                  <a:extLst>
                    <a:ext uri="{9D8B030D-6E8A-4147-A177-3AD203B41FA5}">
                      <a16:colId xmlns:a16="http://schemas.microsoft.com/office/drawing/2014/main" val="20003"/>
                    </a:ext>
                  </a:extLst>
                </a:gridCol>
                <a:gridCol w="1795721">
                  <a:extLst>
                    <a:ext uri="{9D8B030D-6E8A-4147-A177-3AD203B41FA5}">
                      <a16:colId xmlns:a16="http://schemas.microsoft.com/office/drawing/2014/main" val="20004"/>
                    </a:ext>
                  </a:extLst>
                </a:gridCol>
                <a:gridCol w="1606698">
                  <a:extLst>
                    <a:ext uri="{9D8B030D-6E8A-4147-A177-3AD203B41FA5}">
                      <a16:colId xmlns:a16="http://schemas.microsoft.com/office/drawing/2014/main" val="20005"/>
                    </a:ext>
                  </a:extLst>
                </a:gridCol>
                <a:gridCol w="1417675">
                  <a:extLst>
                    <a:ext uri="{9D8B030D-6E8A-4147-A177-3AD203B41FA5}">
                      <a16:colId xmlns:a16="http://schemas.microsoft.com/office/drawing/2014/main" val="20006"/>
                    </a:ext>
                  </a:extLst>
                </a:gridCol>
              </a:tblGrid>
              <a:tr h="457200">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Direction</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Impact</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Trust</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Eng effort</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Compliance risk↓</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Portfolio value</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extLst>
                  <a:ext uri="{0D108BD9-81ED-4DB2-BD59-A6C34878D82A}">
                    <a16:rowId xmlns:a16="http://schemas.microsoft.com/office/drawing/2014/main" val="10000"/>
                  </a:ext>
                </a:extLst>
              </a:tr>
              <a:tr h="457200">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A. Consent &amp; Data Rights Hub</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 (medium)</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extLst>
                  <a:ext uri="{0D108BD9-81ED-4DB2-BD59-A6C34878D82A}">
                    <a16:rowId xmlns:a16="http://schemas.microsoft.com/office/drawing/2014/main" val="10001"/>
                  </a:ext>
                </a:extLst>
              </a:tr>
              <a:tr h="457200">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B. Children's / Parental Consent</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4 (harder)</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extLst>
                  <a:ext uri="{0D108BD9-81ED-4DB2-BD59-A6C34878D82A}">
                    <a16:rowId xmlns:a16="http://schemas.microsoft.com/office/drawing/2014/main" val="10002"/>
                  </a:ext>
                </a:extLst>
              </a:tr>
              <a:tr h="457200">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C. Real-time Location Indicator</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 (light)</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tc>
                  <a:txBody>
                    <a:bodyPr/>
                    <a:lstStyle/>
                    <a:p>
                      <a:pPr marL="0" indent="0" algn="ctr">
                        <a:buNone/>
                      </a:pPr>
                      <a:r>
                        <a:rPr lang="en-US" sz="1050" dirty="0">
                          <a:solidFill>
                            <a:srgbClr val="FFFFFF"/>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a:lnL w="6350" cap="flat" cmpd="sng" algn="ctr">
                      <a:solidFill>
                        <a:srgbClr val="3A3A3C"/>
                      </a:solidFill>
                      <a:prstDash val="solid"/>
                      <a:round/>
                      <a:headEnd type="none" w="med" len="med"/>
                      <a:tailEnd type="none" w="med" len="med"/>
                    </a:lnL>
                    <a:lnR w="6350" cap="flat" cmpd="sng" algn="ctr">
                      <a:solidFill>
                        <a:srgbClr val="3A3A3C"/>
                      </a:solidFill>
                      <a:prstDash val="solid"/>
                      <a:round/>
                      <a:headEnd type="none" w="med" len="med"/>
                      <a:tailEnd type="none" w="med" len="med"/>
                    </a:lnR>
                    <a:lnT w="6350" cap="flat" cmpd="sng" algn="ctr">
                      <a:solidFill>
                        <a:srgbClr val="3A3A3C"/>
                      </a:solidFill>
                      <a:prstDash val="solid"/>
                      <a:round/>
                      <a:headEnd type="none" w="med" len="med"/>
                      <a:tailEnd type="none" w="med" len="med"/>
                    </a:lnT>
                    <a:lnB w="6350" cap="flat" cmpd="sng" algn="ctr">
                      <a:solidFill>
                        <a:srgbClr val="3A3A3C"/>
                      </a:solidFill>
                      <a:prstDash val="solid"/>
                      <a:round/>
                      <a:headEnd type="none" w="med" len="med"/>
                      <a:tailEnd type="none" w="med" len="med"/>
                    </a:lnB>
                    <a:solidFill>
                      <a:srgbClr val="1B1B1D"/>
                    </a:solidFill>
                  </a:tcPr>
                </a:tc>
                <a:extLst>
                  <a:ext uri="{0D108BD9-81ED-4DB2-BD59-A6C34878D82A}">
                    <a16:rowId xmlns:a16="http://schemas.microsoft.com/office/drawing/2014/main" val="10003"/>
                  </a:ext>
                </a:extLst>
              </a:tr>
            </a:tbl>
          </a:graphicData>
        </a:graphic>
      </p:graphicFrame>
      <p:sp>
        <p:nvSpPr>
          <p:cNvPr id="9" name="Shape 5"/>
          <p:cNvSpPr/>
          <p:nvPr/>
        </p:nvSpPr>
        <p:spPr>
          <a:xfrm>
            <a:off x="640080" y="5074920"/>
            <a:ext cx="10881360" cy="1234440"/>
          </a:xfrm>
          <a:prstGeom prst="roundRect">
            <a:avLst>
              <a:gd name="adj" fmla="val 5926"/>
            </a:avLst>
          </a:prstGeom>
          <a:solidFill>
            <a:srgbClr val="00C2A8">
              <a:alpha val="12000"/>
            </a:srgbClr>
          </a:solidFill>
          <a:ln w="12700">
            <a:solidFill>
              <a:srgbClr val="00C2A8"/>
            </a:solidFill>
            <a:prstDash val="solid"/>
          </a:ln>
          <a:effectLst>
            <a:outerShdw blurRad="101600" dist="38100" dir="2700000" algn="bl" rotWithShape="0">
              <a:srgbClr val="000000">
                <a:alpha val="12000"/>
              </a:srgbClr>
            </a:outerShdw>
          </a:effectLst>
        </p:spPr>
        <p:txBody>
          <a:bodyPr/>
          <a:lstStyle/>
          <a:p>
            <a:endParaRPr lang="en-IN"/>
          </a:p>
        </p:txBody>
      </p:sp>
      <p:sp>
        <p:nvSpPr>
          <p:cNvPr id="10" name="Text 6"/>
          <p:cNvSpPr/>
          <p:nvPr/>
        </p:nvSpPr>
        <p:spPr>
          <a:xfrm>
            <a:off x="914400" y="5230368"/>
            <a:ext cx="3657600" cy="274320"/>
          </a:xfrm>
          <a:prstGeom prst="rect">
            <a:avLst/>
          </a:prstGeom>
          <a:noFill/>
          <a:ln/>
        </p:spPr>
        <p:txBody>
          <a:bodyPr wrap="square" rtlCol="0" anchor="ctr"/>
          <a:lstStyle/>
          <a:p>
            <a:pPr marL="0" indent="0">
              <a:buNone/>
            </a:pPr>
            <a:r>
              <a:rPr lang="en-US" sz="1050" b="1" kern="0" spc="200" dirty="0">
                <a:solidFill>
                  <a:srgbClr val="00C2A8"/>
                </a:solidFill>
                <a:latin typeface="Calibri" pitchFamily="34" charset="0"/>
                <a:ea typeface="Calibri" pitchFamily="34" charset="-122"/>
                <a:cs typeface="Calibri" pitchFamily="34" charset="-120"/>
              </a:rPr>
              <a:t>WHY A, NOT B OR C</a:t>
            </a:r>
            <a:endParaRPr lang="en-US" sz="1050" dirty="0"/>
          </a:p>
        </p:txBody>
      </p:sp>
      <p:sp>
        <p:nvSpPr>
          <p:cNvPr id="11" name="Text 7"/>
          <p:cNvSpPr/>
          <p:nvPr/>
        </p:nvSpPr>
        <p:spPr>
          <a:xfrm>
            <a:off x="914400" y="5504688"/>
            <a:ext cx="10332720" cy="731520"/>
          </a:xfrm>
          <a:prstGeom prst="rect">
            <a:avLst/>
          </a:prstGeom>
          <a:noFill/>
          <a:ln/>
        </p:spPr>
        <p:txBody>
          <a:bodyPr wrap="square" rtlCol="0" anchor="ctr"/>
          <a:lstStyle/>
          <a:p>
            <a:pPr marL="0" indent="0">
              <a:lnSpc>
                <a:spcPct val="120000"/>
              </a:lnSpc>
              <a:buNone/>
            </a:pPr>
            <a:r>
              <a:rPr lang="en-US" sz="1100" dirty="0">
                <a:solidFill>
                  <a:srgbClr val="F7F7F5"/>
                </a:solidFill>
                <a:latin typeface="Calibri" pitchFamily="34" charset="0"/>
                <a:ea typeface="Calibri" pitchFamily="34" charset="-122"/>
                <a:cs typeface="Calibri" pitchFamily="34" charset="-120"/>
              </a:rPr>
              <a:t>A is the only direction that closes Notice, Consent, Withdrawal, and Rights gaps at once, needs no change to core booking logic, and is fully demoable end-to-end in a prototype. B (children's data) and C (location indicator) become natural Phase 2 / Phase 3 items once the Hub exists as the foundation they'd both plug into.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2800" b="1" dirty="0">
                <a:solidFill>
                  <a:srgbClr val="0B0B0C"/>
                </a:solidFill>
                <a:latin typeface="Cambria" pitchFamily="34" charset="0"/>
                <a:ea typeface="Cambria" pitchFamily="34" charset="-122"/>
                <a:cs typeface="Cambria" pitchFamily="34" charset="-120"/>
              </a:rPr>
              <a:t>User Flow &amp; Key Features</a:t>
            </a:r>
            <a:endParaRPr lang="en-US" sz="2800" dirty="0"/>
          </a:p>
        </p:txBody>
      </p:sp>
      <p:sp>
        <p:nvSpPr>
          <p:cNvPr id="3" name="Text 1"/>
          <p:cNvSpPr/>
          <p:nvPr/>
        </p:nvSpPr>
        <p:spPr>
          <a:xfrm>
            <a:off x="640080" y="987552"/>
            <a:ext cx="8229600" cy="320040"/>
          </a:xfrm>
          <a:prstGeom prst="rect">
            <a:avLst/>
          </a:prstGeom>
          <a:noFill/>
          <a:ln/>
        </p:spPr>
        <p:txBody>
          <a:bodyPr wrap="square" rtlCol="0" anchor="ctr"/>
          <a:lstStyle/>
          <a:p>
            <a:pPr marL="0" indent="0">
              <a:buNone/>
            </a:pPr>
            <a:r>
              <a:rPr lang="en-US" sz="1300" i="1" dirty="0">
                <a:solidFill>
                  <a:srgbClr val="6B6B70"/>
                </a:solidFill>
                <a:latin typeface="Calibri" pitchFamily="34" charset="0"/>
                <a:ea typeface="Calibri" pitchFamily="34" charset="-122"/>
                <a:cs typeface="Calibri" pitchFamily="34" charset="-120"/>
              </a:rPr>
              <a:t>Happy path, and how each feature maps to a DPDP principle</a:t>
            </a:r>
            <a:endParaRPr lang="en-US" sz="1300" dirty="0"/>
          </a:p>
        </p:txBody>
      </p:sp>
      <p:sp>
        <p:nvSpPr>
          <p:cNvPr id="4" name="Shape 2"/>
          <p:cNvSpPr/>
          <p:nvPr/>
        </p:nvSpPr>
        <p:spPr>
          <a:xfrm>
            <a:off x="640080" y="1463040"/>
            <a:ext cx="1080135" cy="777240"/>
          </a:xfrm>
          <a:prstGeom prst="roundRect">
            <a:avLst>
              <a:gd name="adj" fmla="val 41176"/>
            </a:avLst>
          </a:prstGeom>
          <a:solidFill>
            <a:srgbClr val="0B0B0C"/>
          </a:solidFill>
          <a:ln/>
        </p:spPr>
        <p:txBody>
          <a:bodyPr/>
          <a:lstStyle/>
          <a:p>
            <a:endParaRPr lang="en-IN"/>
          </a:p>
        </p:txBody>
      </p:sp>
      <p:sp>
        <p:nvSpPr>
          <p:cNvPr id="5" name="Text 3"/>
          <p:cNvSpPr/>
          <p:nvPr/>
        </p:nvSpPr>
        <p:spPr>
          <a:xfrm>
            <a:off x="640080"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FFFFFF"/>
                </a:solidFill>
                <a:latin typeface="Calibri" pitchFamily="34" charset="0"/>
                <a:ea typeface="Calibri" pitchFamily="34" charset="-122"/>
                <a:cs typeface="Calibri" pitchFamily="34" charset="-120"/>
              </a:rPr>
              <a:t>Login /</a:t>
            </a:r>
            <a:endParaRPr lang="en-US" sz="870" dirty="0"/>
          </a:p>
          <a:p>
            <a:pPr marL="0" indent="0" algn="ctr">
              <a:buNone/>
            </a:pPr>
            <a:r>
              <a:rPr lang="en-US" sz="870" b="1" dirty="0">
                <a:solidFill>
                  <a:srgbClr val="FFFFFF"/>
                </a:solidFill>
                <a:latin typeface="Calibri" pitchFamily="34" charset="0"/>
                <a:ea typeface="Calibri" pitchFamily="34" charset="-122"/>
                <a:cs typeface="Calibri" pitchFamily="34" charset="-120"/>
              </a:rPr>
              <a:t>OTP</a:t>
            </a:r>
            <a:endParaRPr lang="en-US" sz="870" dirty="0"/>
          </a:p>
        </p:txBody>
      </p:sp>
      <p:sp>
        <p:nvSpPr>
          <p:cNvPr id="6" name="Text 4"/>
          <p:cNvSpPr/>
          <p:nvPr/>
        </p:nvSpPr>
        <p:spPr>
          <a:xfrm>
            <a:off x="1720215"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2040255" y="1463040"/>
            <a:ext cx="1080135" cy="777240"/>
          </a:xfrm>
          <a:prstGeom prst="roundRect">
            <a:avLst>
              <a:gd name="adj" fmla="val 41176"/>
            </a:avLst>
          </a:prstGeom>
          <a:solidFill>
            <a:srgbClr val="00C2A8"/>
          </a:solidFill>
          <a:ln/>
        </p:spPr>
        <p:txBody>
          <a:bodyPr/>
          <a:lstStyle/>
          <a:p>
            <a:endParaRPr lang="en-IN"/>
          </a:p>
        </p:txBody>
      </p:sp>
      <p:sp>
        <p:nvSpPr>
          <p:cNvPr id="8" name="Text 6"/>
          <p:cNvSpPr/>
          <p:nvPr/>
        </p:nvSpPr>
        <p:spPr>
          <a:xfrm>
            <a:off x="2040255"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0B0B0C"/>
                </a:solidFill>
                <a:latin typeface="Calibri" pitchFamily="34" charset="0"/>
                <a:ea typeface="Calibri" pitchFamily="34" charset="-122"/>
                <a:cs typeface="Calibri" pitchFamily="34" charset="-120"/>
              </a:rPr>
              <a:t>Layered</a:t>
            </a:r>
            <a:endParaRPr lang="en-US" sz="870" dirty="0"/>
          </a:p>
          <a:p>
            <a:pPr marL="0" indent="0" algn="ctr">
              <a:buNone/>
            </a:pPr>
            <a:r>
              <a:rPr lang="en-US" sz="870" b="1" dirty="0">
                <a:solidFill>
                  <a:srgbClr val="0B0B0C"/>
                </a:solidFill>
                <a:latin typeface="Calibri" pitchFamily="34" charset="0"/>
                <a:ea typeface="Calibri" pitchFamily="34" charset="-122"/>
                <a:cs typeface="Calibri" pitchFamily="34" charset="-120"/>
              </a:rPr>
              <a:t>Consent Notice</a:t>
            </a:r>
            <a:endParaRPr lang="en-US" sz="870" dirty="0"/>
          </a:p>
        </p:txBody>
      </p:sp>
      <p:sp>
        <p:nvSpPr>
          <p:cNvPr id="9" name="Text 7"/>
          <p:cNvSpPr/>
          <p:nvPr/>
        </p:nvSpPr>
        <p:spPr>
          <a:xfrm>
            <a:off x="3120390"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3440430" y="1463040"/>
            <a:ext cx="1080135" cy="777240"/>
          </a:xfrm>
          <a:prstGeom prst="roundRect">
            <a:avLst>
              <a:gd name="adj" fmla="val 41176"/>
            </a:avLst>
          </a:prstGeom>
          <a:solidFill>
            <a:srgbClr val="0B0B0C"/>
          </a:solidFill>
          <a:ln/>
        </p:spPr>
        <p:txBody>
          <a:bodyPr/>
          <a:lstStyle/>
          <a:p>
            <a:endParaRPr lang="en-IN"/>
          </a:p>
        </p:txBody>
      </p:sp>
      <p:sp>
        <p:nvSpPr>
          <p:cNvPr id="11" name="Text 9"/>
          <p:cNvSpPr/>
          <p:nvPr/>
        </p:nvSpPr>
        <p:spPr>
          <a:xfrm>
            <a:off x="3440430"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FFFFFF"/>
                </a:solidFill>
                <a:latin typeface="Calibri" pitchFamily="34" charset="0"/>
                <a:ea typeface="Calibri" pitchFamily="34" charset="-122"/>
                <a:cs typeface="Calibri" pitchFamily="34" charset="-120"/>
              </a:rPr>
              <a:t>Home /</a:t>
            </a:r>
            <a:endParaRPr lang="en-US" sz="870" dirty="0"/>
          </a:p>
          <a:p>
            <a:pPr marL="0" indent="0" algn="ctr">
              <a:buNone/>
            </a:pPr>
            <a:r>
              <a:rPr lang="en-US" sz="870" b="1" dirty="0">
                <a:solidFill>
                  <a:srgbClr val="FFFFFF"/>
                </a:solidFill>
                <a:latin typeface="Calibri" pitchFamily="34" charset="0"/>
                <a:ea typeface="Calibri" pitchFamily="34" charset="-122"/>
                <a:cs typeface="Calibri" pitchFamily="34" charset="-120"/>
              </a:rPr>
              <a:t>Book Ride</a:t>
            </a:r>
            <a:endParaRPr lang="en-US" sz="870" dirty="0"/>
          </a:p>
        </p:txBody>
      </p:sp>
      <p:sp>
        <p:nvSpPr>
          <p:cNvPr id="12" name="Text 10"/>
          <p:cNvSpPr/>
          <p:nvPr/>
        </p:nvSpPr>
        <p:spPr>
          <a:xfrm>
            <a:off x="4520565"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4840605" y="1463040"/>
            <a:ext cx="1080135" cy="777240"/>
          </a:xfrm>
          <a:prstGeom prst="roundRect">
            <a:avLst>
              <a:gd name="adj" fmla="val 41176"/>
            </a:avLst>
          </a:prstGeom>
          <a:solidFill>
            <a:srgbClr val="00C2A8"/>
          </a:solidFill>
          <a:ln/>
        </p:spPr>
        <p:txBody>
          <a:bodyPr/>
          <a:lstStyle/>
          <a:p>
            <a:endParaRPr lang="en-IN"/>
          </a:p>
        </p:txBody>
      </p:sp>
      <p:sp>
        <p:nvSpPr>
          <p:cNvPr id="14" name="Text 12"/>
          <p:cNvSpPr/>
          <p:nvPr/>
        </p:nvSpPr>
        <p:spPr>
          <a:xfrm>
            <a:off x="4840605"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0B0B0C"/>
                </a:solidFill>
                <a:latin typeface="Calibri" pitchFamily="34" charset="0"/>
                <a:ea typeface="Calibri" pitchFamily="34" charset="-122"/>
                <a:cs typeface="Calibri" pitchFamily="34" charset="-120"/>
              </a:rPr>
              <a:t>Contextual</a:t>
            </a:r>
            <a:endParaRPr lang="en-US" sz="870" dirty="0"/>
          </a:p>
          <a:p>
            <a:pPr marL="0" indent="0" algn="ctr">
              <a:buNone/>
            </a:pPr>
            <a:r>
              <a:rPr lang="en-US" sz="870" b="1" dirty="0">
                <a:solidFill>
                  <a:srgbClr val="0B0B0C"/>
                </a:solidFill>
                <a:latin typeface="Calibri" pitchFamily="34" charset="0"/>
                <a:ea typeface="Calibri" pitchFamily="34" charset="-122"/>
                <a:cs typeface="Calibri" pitchFamily="34" charset="-120"/>
              </a:rPr>
              <a:t>permission</a:t>
            </a:r>
            <a:endParaRPr lang="en-US" sz="870" dirty="0"/>
          </a:p>
        </p:txBody>
      </p:sp>
      <p:sp>
        <p:nvSpPr>
          <p:cNvPr id="15" name="Text 13"/>
          <p:cNvSpPr/>
          <p:nvPr/>
        </p:nvSpPr>
        <p:spPr>
          <a:xfrm>
            <a:off x="5920740"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6240780" y="1463040"/>
            <a:ext cx="1080135" cy="777240"/>
          </a:xfrm>
          <a:prstGeom prst="roundRect">
            <a:avLst>
              <a:gd name="adj" fmla="val 41176"/>
            </a:avLst>
          </a:prstGeom>
          <a:solidFill>
            <a:srgbClr val="0B0B0C"/>
          </a:solidFill>
          <a:ln/>
        </p:spPr>
        <p:txBody>
          <a:bodyPr/>
          <a:lstStyle/>
          <a:p>
            <a:endParaRPr lang="en-IN"/>
          </a:p>
        </p:txBody>
      </p:sp>
      <p:sp>
        <p:nvSpPr>
          <p:cNvPr id="17" name="Text 15"/>
          <p:cNvSpPr/>
          <p:nvPr/>
        </p:nvSpPr>
        <p:spPr>
          <a:xfrm>
            <a:off x="6240780"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FFFFFF"/>
                </a:solidFill>
                <a:latin typeface="Calibri" pitchFamily="34" charset="0"/>
                <a:ea typeface="Calibri" pitchFamily="34" charset="-122"/>
                <a:cs typeface="Calibri" pitchFamily="34" charset="-120"/>
              </a:rPr>
              <a:t>Trip</a:t>
            </a:r>
            <a:endParaRPr lang="en-US" sz="870" dirty="0"/>
          </a:p>
        </p:txBody>
      </p:sp>
      <p:sp>
        <p:nvSpPr>
          <p:cNvPr id="18" name="Text 16"/>
          <p:cNvSpPr/>
          <p:nvPr/>
        </p:nvSpPr>
        <p:spPr>
          <a:xfrm>
            <a:off x="7320915"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7640955" y="1463040"/>
            <a:ext cx="1080135" cy="777240"/>
          </a:xfrm>
          <a:prstGeom prst="roundRect">
            <a:avLst>
              <a:gd name="adj" fmla="val 41176"/>
            </a:avLst>
          </a:prstGeom>
          <a:solidFill>
            <a:srgbClr val="0B0B0C"/>
          </a:solidFill>
          <a:ln/>
        </p:spPr>
        <p:txBody>
          <a:bodyPr/>
          <a:lstStyle/>
          <a:p>
            <a:endParaRPr lang="en-IN"/>
          </a:p>
        </p:txBody>
      </p:sp>
      <p:sp>
        <p:nvSpPr>
          <p:cNvPr id="20" name="Text 18"/>
          <p:cNvSpPr/>
          <p:nvPr/>
        </p:nvSpPr>
        <p:spPr>
          <a:xfrm>
            <a:off x="7640955"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FFFFFF"/>
                </a:solidFill>
                <a:latin typeface="Calibri" pitchFamily="34" charset="0"/>
                <a:ea typeface="Calibri" pitchFamily="34" charset="-122"/>
                <a:cs typeface="Calibri" pitchFamily="34" charset="-120"/>
              </a:rPr>
              <a:t>Privacy Hub</a:t>
            </a:r>
            <a:endParaRPr lang="en-US" sz="870" dirty="0"/>
          </a:p>
          <a:p>
            <a:pPr marL="0" indent="0" algn="ctr">
              <a:buNone/>
            </a:pPr>
            <a:r>
              <a:rPr lang="en-US" sz="870" b="1" dirty="0">
                <a:solidFill>
                  <a:srgbClr val="FFFFFF"/>
                </a:solidFill>
                <a:latin typeface="Calibri" pitchFamily="34" charset="0"/>
                <a:ea typeface="Calibri" pitchFamily="34" charset="-122"/>
                <a:cs typeface="Calibri" pitchFamily="34" charset="-120"/>
              </a:rPr>
              <a:t>(from Profile)</a:t>
            </a:r>
            <a:endParaRPr lang="en-US" sz="870" dirty="0"/>
          </a:p>
        </p:txBody>
      </p:sp>
      <p:sp>
        <p:nvSpPr>
          <p:cNvPr id="21" name="Text 19"/>
          <p:cNvSpPr/>
          <p:nvPr/>
        </p:nvSpPr>
        <p:spPr>
          <a:xfrm>
            <a:off x="8721090"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9041130" y="1463040"/>
            <a:ext cx="1080135" cy="777240"/>
          </a:xfrm>
          <a:prstGeom prst="roundRect">
            <a:avLst>
              <a:gd name="adj" fmla="val 41176"/>
            </a:avLst>
          </a:prstGeom>
          <a:solidFill>
            <a:srgbClr val="0B0B0C"/>
          </a:solidFill>
          <a:ln/>
        </p:spPr>
        <p:txBody>
          <a:bodyPr/>
          <a:lstStyle/>
          <a:p>
            <a:endParaRPr lang="en-IN"/>
          </a:p>
        </p:txBody>
      </p:sp>
      <p:sp>
        <p:nvSpPr>
          <p:cNvPr id="23" name="Text 21"/>
          <p:cNvSpPr/>
          <p:nvPr/>
        </p:nvSpPr>
        <p:spPr>
          <a:xfrm>
            <a:off x="9041130"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FFFFFF"/>
                </a:solidFill>
                <a:latin typeface="Calibri" pitchFamily="34" charset="0"/>
                <a:ea typeface="Calibri" pitchFamily="34" charset="-122"/>
                <a:cs typeface="Calibri" pitchFamily="34" charset="-120"/>
              </a:rPr>
              <a:t>Consent</a:t>
            </a:r>
            <a:endParaRPr lang="en-US" sz="870" dirty="0"/>
          </a:p>
          <a:p>
            <a:pPr marL="0" indent="0" algn="ctr">
              <a:buNone/>
            </a:pPr>
            <a:r>
              <a:rPr lang="en-US" sz="870" b="1" dirty="0">
                <a:solidFill>
                  <a:srgbClr val="FFFFFF"/>
                </a:solidFill>
                <a:latin typeface="Calibri" pitchFamily="34" charset="0"/>
                <a:ea typeface="Calibri" pitchFamily="34" charset="-122"/>
                <a:cs typeface="Calibri" pitchFamily="34" charset="-120"/>
              </a:rPr>
              <a:t>Dashboard</a:t>
            </a:r>
            <a:endParaRPr lang="en-US" sz="870" dirty="0"/>
          </a:p>
        </p:txBody>
      </p:sp>
      <p:sp>
        <p:nvSpPr>
          <p:cNvPr id="24" name="Text 22"/>
          <p:cNvSpPr/>
          <p:nvPr/>
        </p:nvSpPr>
        <p:spPr>
          <a:xfrm>
            <a:off x="10121265" y="1463040"/>
            <a:ext cx="320040" cy="77724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10441305" y="1463040"/>
            <a:ext cx="1080135" cy="777240"/>
          </a:xfrm>
          <a:prstGeom prst="roundRect">
            <a:avLst>
              <a:gd name="adj" fmla="val 41176"/>
            </a:avLst>
          </a:prstGeom>
          <a:solidFill>
            <a:srgbClr val="0B0B0C"/>
          </a:solidFill>
          <a:ln/>
        </p:spPr>
        <p:txBody>
          <a:bodyPr/>
          <a:lstStyle/>
          <a:p>
            <a:endParaRPr lang="en-IN"/>
          </a:p>
        </p:txBody>
      </p:sp>
      <p:sp>
        <p:nvSpPr>
          <p:cNvPr id="26" name="Text 24"/>
          <p:cNvSpPr/>
          <p:nvPr/>
        </p:nvSpPr>
        <p:spPr>
          <a:xfrm>
            <a:off x="10441305" y="1463040"/>
            <a:ext cx="1080135" cy="777240"/>
          </a:xfrm>
          <a:prstGeom prst="rect">
            <a:avLst/>
          </a:prstGeom>
          <a:noFill/>
          <a:ln/>
        </p:spPr>
        <p:txBody>
          <a:bodyPr wrap="square" lIns="12700" tIns="12700" rIns="12700" bIns="12700" rtlCol="0" anchor="ctr"/>
          <a:lstStyle/>
          <a:p>
            <a:pPr marL="0" indent="0" algn="ctr">
              <a:buNone/>
            </a:pPr>
            <a:r>
              <a:rPr lang="en-US" sz="870" b="1" dirty="0">
                <a:solidFill>
                  <a:srgbClr val="FFFFFF"/>
                </a:solidFill>
                <a:latin typeface="Calibri" pitchFamily="34" charset="0"/>
                <a:ea typeface="Calibri" pitchFamily="34" charset="-122"/>
                <a:cs typeface="Calibri" pitchFamily="34" charset="-120"/>
              </a:rPr>
              <a:t>Download /</a:t>
            </a:r>
            <a:endParaRPr lang="en-US" sz="870" dirty="0"/>
          </a:p>
          <a:p>
            <a:pPr marL="0" indent="0" algn="ctr">
              <a:buNone/>
            </a:pPr>
            <a:r>
              <a:rPr lang="en-US" sz="870" b="1" dirty="0">
                <a:solidFill>
                  <a:srgbClr val="FFFFFF"/>
                </a:solidFill>
                <a:latin typeface="Calibri" pitchFamily="34" charset="0"/>
                <a:ea typeface="Calibri" pitchFamily="34" charset="-122"/>
                <a:cs typeface="Calibri" pitchFamily="34" charset="-120"/>
              </a:rPr>
              <a:t>Delete</a:t>
            </a:r>
            <a:endParaRPr lang="en-US" sz="870" dirty="0"/>
          </a:p>
        </p:txBody>
      </p:sp>
      <p:sp>
        <p:nvSpPr>
          <p:cNvPr id="27" name="Text 25"/>
          <p:cNvSpPr/>
          <p:nvPr/>
        </p:nvSpPr>
        <p:spPr>
          <a:xfrm>
            <a:off x="640080" y="2286000"/>
            <a:ext cx="4572000" cy="274320"/>
          </a:xfrm>
          <a:prstGeom prst="rect">
            <a:avLst/>
          </a:prstGeom>
          <a:noFill/>
          <a:ln/>
        </p:spPr>
        <p:txBody>
          <a:bodyPr wrap="square"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Teal = new / redesigned surfaces</a:t>
            </a:r>
            <a:endParaRPr lang="en-US" sz="1000" dirty="0"/>
          </a:p>
        </p:txBody>
      </p:sp>
      <p:sp>
        <p:nvSpPr>
          <p:cNvPr id="28" name="Shape 26"/>
          <p:cNvSpPr/>
          <p:nvPr/>
        </p:nvSpPr>
        <p:spPr>
          <a:xfrm>
            <a:off x="640080" y="27432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29" name="Image 0" descr="preencoded.png"/>
          <p:cNvPicPr>
            <a:picLocks noChangeAspect="1"/>
          </p:cNvPicPr>
          <p:nvPr/>
        </p:nvPicPr>
        <p:blipFill>
          <a:blip r:embed="rId3"/>
          <a:stretch>
            <a:fillRect/>
          </a:stretch>
        </p:blipFill>
        <p:spPr>
          <a:xfrm>
            <a:off x="822960" y="2926080"/>
            <a:ext cx="365760" cy="365760"/>
          </a:xfrm>
          <a:prstGeom prst="rect">
            <a:avLst/>
          </a:prstGeom>
        </p:spPr>
      </p:pic>
      <p:sp>
        <p:nvSpPr>
          <p:cNvPr id="30" name="Text 27"/>
          <p:cNvSpPr/>
          <p:nvPr/>
        </p:nvSpPr>
        <p:spPr>
          <a:xfrm>
            <a:off x="822960" y="34015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Layered, itemised consent notice</a:t>
            </a:r>
            <a:endParaRPr lang="en-US" sz="1050" dirty="0"/>
          </a:p>
        </p:txBody>
      </p:sp>
      <p:sp>
        <p:nvSpPr>
          <p:cNvPr id="31" name="Shape 28"/>
          <p:cNvSpPr/>
          <p:nvPr/>
        </p:nvSpPr>
        <p:spPr>
          <a:xfrm>
            <a:off x="822960" y="4050792"/>
            <a:ext cx="2267712" cy="274320"/>
          </a:xfrm>
          <a:prstGeom prst="roundRect">
            <a:avLst>
              <a:gd name="adj" fmla="val 50000"/>
            </a:avLst>
          </a:prstGeom>
          <a:solidFill>
            <a:srgbClr val="EFEFEC"/>
          </a:solidFill>
          <a:ln/>
        </p:spPr>
        <p:txBody>
          <a:bodyPr/>
          <a:lstStyle/>
          <a:p>
            <a:endParaRPr lang="en-IN"/>
          </a:p>
        </p:txBody>
      </p:sp>
      <p:sp>
        <p:nvSpPr>
          <p:cNvPr id="32" name="Text 29"/>
          <p:cNvSpPr/>
          <p:nvPr/>
        </p:nvSpPr>
        <p:spPr>
          <a:xfrm>
            <a:off x="822960" y="40507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Notice</a:t>
            </a:r>
            <a:endParaRPr lang="en-US" sz="800" dirty="0"/>
          </a:p>
        </p:txBody>
      </p:sp>
      <p:sp>
        <p:nvSpPr>
          <p:cNvPr id="33" name="Shape 30"/>
          <p:cNvSpPr/>
          <p:nvPr/>
        </p:nvSpPr>
        <p:spPr>
          <a:xfrm>
            <a:off x="3410712" y="27432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34" name="Image 1" descr="preencoded.png"/>
          <p:cNvPicPr>
            <a:picLocks noChangeAspect="1"/>
          </p:cNvPicPr>
          <p:nvPr/>
        </p:nvPicPr>
        <p:blipFill>
          <a:blip r:embed="rId4"/>
          <a:stretch>
            <a:fillRect/>
          </a:stretch>
        </p:blipFill>
        <p:spPr>
          <a:xfrm>
            <a:off x="3593592" y="2926080"/>
            <a:ext cx="365760" cy="365760"/>
          </a:xfrm>
          <a:prstGeom prst="rect">
            <a:avLst/>
          </a:prstGeom>
        </p:spPr>
      </p:pic>
      <p:sp>
        <p:nvSpPr>
          <p:cNvPr id="35" name="Text 31"/>
          <p:cNvSpPr/>
          <p:nvPr/>
        </p:nvSpPr>
        <p:spPr>
          <a:xfrm>
            <a:off x="3593592" y="34015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Purpose-based toggles, not bundled</a:t>
            </a:r>
            <a:endParaRPr lang="en-US" sz="1050" dirty="0"/>
          </a:p>
        </p:txBody>
      </p:sp>
      <p:sp>
        <p:nvSpPr>
          <p:cNvPr id="36" name="Shape 32"/>
          <p:cNvSpPr/>
          <p:nvPr/>
        </p:nvSpPr>
        <p:spPr>
          <a:xfrm>
            <a:off x="3593592" y="4050792"/>
            <a:ext cx="2267712" cy="274320"/>
          </a:xfrm>
          <a:prstGeom prst="roundRect">
            <a:avLst>
              <a:gd name="adj" fmla="val 50000"/>
            </a:avLst>
          </a:prstGeom>
          <a:solidFill>
            <a:srgbClr val="EFEFEC"/>
          </a:solidFill>
          <a:ln/>
        </p:spPr>
        <p:txBody>
          <a:bodyPr/>
          <a:lstStyle/>
          <a:p>
            <a:endParaRPr lang="en-IN"/>
          </a:p>
        </p:txBody>
      </p:sp>
      <p:sp>
        <p:nvSpPr>
          <p:cNvPr id="37" name="Text 33"/>
          <p:cNvSpPr/>
          <p:nvPr/>
        </p:nvSpPr>
        <p:spPr>
          <a:xfrm>
            <a:off x="3593592" y="40507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Consent (specific &amp; granular)</a:t>
            </a:r>
            <a:endParaRPr lang="en-US" sz="800" dirty="0"/>
          </a:p>
        </p:txBody>
      </p:sp>
      <p:sp>
        <p:nvSpPr>
          <p:cNvPr id="38" name="Shape 34"/>
          <p:cNvSpPr/>
          <p:nvPr/>
        </p:nvSpPr>
        <p:spPr>
          <a:xfrm>
            <a:off x="6181344" y="27432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39" name="Image 2" descr="preencoded.png"/>
          <p:cNvPicPr>
            <a:picLocks noChangeAspect="1"/>
          </p:cNvPicPr>
          <p:nvPr/>
        </p:nvPicPr>
        <p:blipFill>
          <a:blip r:embed="rId5"/>
          <a:stretch>
            <a:fillRect/>
          </a:stretch>
        </p:blipFill>
        <p:spPr>
          <a:xfrm>
            <a:off x="6364224" y="2926080"/>
            <a:ext cx="365760" cy="365760"/>
          </a:xfrm>
          <a:prstGeom prst="rect">
            <a:avLst/>
          </a:prstGeom>
        </p:spPr>
      </p:pic>
      <p:sp>
        <p:nvSpPr>
          <p:cNvPr id="40" name="Text 35"/>
          <p:cNvSpPr/>
          <p:nvPr/>
        </p:nvSpPr>
        <p:spPr>
          <a:xfrm>
            <a:off x="6364224" y="34015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1-tap withdrawal, mirrors the grant flow</a:t>
            </a:r>
            <a:endParaRPr lang="en-US" sz="1050" dirty="0"/>
          </a:p>
        </p:txBody>
      </p:sp>
      <p:sp>
        <p:nvSpPr>
          <p:cNvPr id="41" name="Shape 36"/>
          <p:cNvSpPr/>
          <p:nvPr/>
        </p:nvSpPr>
        <p:spPr>
          <a:xfrm>
            <a:off x="6364224" y="4050792"/>
            <a:ext cx="2267712" cy="274320"/>
          </a:xfrm>
          <a:prstGeom prst="roundRect">
            <a:avLst>
              <a:gd name="adj" fmla="val 50000"/>
            </a:avLst>
          </a:prstGeom>
          <a:solidFill>
            <a:srgbClr val="EFEFEC"/>
          </a:solidFill>
          <a:ln/>
        </p:spPr>
        <p:txBody>
          <a:bodyPr/>
          <a:lstStyle/>
          <a:p>
            <a:endParaRPr lang="en-IN"/>
          </a:p>
        </p:txBody>
      </p:sp>
      <p:sp>
        <p:nvSpPr>
          <p:cNvPr id="42" name="Text 37"/>
          <p:cNvSpPr/>
          <p:nvPr/>
        </p:nvSpPr>
        <p:spPr>
          <a:xfrm>
            <a:off x="6364224" y="40507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Withdrawal, as easy as given</a:t>
            </a:r>
            <a:endParaRPr lang="en-US" sz="800" dirty="0"/>
          </a:p>
        </p:txBody>
      </p:sp>
      <p:sp>
        <p:nvSpPr>
          <p:cNvPr id="43" name="Shape 38"/>
          <p:cNvSpPr/>
          <p:nvPr/>
        </p:nvSpPr>
        <p:spPr>
          <a:xfrm>
            <a:off x="8951976" y="27432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44" name="Image 3" descr="preencoded.png"/>
          <p:cNvPicPr>
            <a:picLocks noChangeAspect="1"/>
          </p:cNvPicPr>
          <p:nvPr/>
        </p:nvPicPr>
        <p:blipFill>
          <a:blip r:embed="rId5"/>
          <a:stretch>
            <a:fillRect/>
          </a:stretch>
        </p:blipFill>
        <p:spPr>
          <a:xfrm>
            <a:off x="9134856" y="2926080"/>
            <a:ext cx="365760" cy="365760"/>
          </a:xfrm>
          <a:prstGeom prst="rect">
            <a:avLst/>
          </a:prstGeom>
        </p:spPr>
      </p:pic>
      <p:sp>
        <p:nvSpPr>
          <p:cNvPr id="45" name="Text 39"/>
          <p:cNvSpPr/>
          <p:nvPr/>
        </p:nvSpPr>
        <p:spPr>
          <a:xfrm>
            <a:off x="9134856" y="34015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Consent history log with timestamps</a:t>
            </a:r>
            <a:endParaRPr lang="en-US" sz="1050" dirty="0"/>
          </a:p>
        </p:txBody>
      </p:sp>
      <p:sp>
        <p:nvSpPr>
          <p:cNvPr id="46" name="Shape 40"/>
          <p:cNvSpPr/>
          <p:nvPr/>
        </p:nvSpPr>
        <p:spPr>
          <a:xfrm>
            <a:off x="9134856" y="4050792"/>
            <a:ext cx="2267712" cy="274320"/>
          </a:xfrm>
          <a:prstGeom prst="roundRect">
            <a:avLst>
              <a:gd name="adj" fmla="val 50000"/>
            </a:avLst>
          </a:prstGeom>
          <a:solidFill>
            <a:srgbClr val="EFEFEC"/>
          </a:solidFill>
          <a:ln/>
        </p:spPr>
        <p:txBody>
          <a:bodyPr/>
          <a:lstStyle/>
          <a:p>
            <a:endParaRPr lang="en-IN"/>
          </a:p>
        </p:txBody>
      </p:sp>
      <p:sp>
        <p:nvSpPr>
          <p:cNvPr id="47" name="Text 41"/>
          <p:cNvSpPr/>
          <p:nvPr/>
        </p:nvSpPr>
        <p:spPr>
          <a:xfrm>
            <a:off x="9134856" y="40507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Accountability</a:t>
            </a:r>
            <a:endParaRPr lang="en-US" sz="800" dirty="0"/>
          </a:p>
        </p:txBody>
      </p:sp>
      <p:sp>
        <p:nvSpPr>
          <p:cNvPr id="48" name="Shape 42"/>
          <p:cNvSpPr/>
          <p:nvPr/>
        </p:nvSpPr>
        <p:spPr>
          <a:xfrm>
            <a:off x="640080" y="45720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49" name="Image 4" descr="preencoded.png"/>
          <p:cNvPicPr>
            <a:picLocks noChangeAspect="1"/>
          </p:cNvPicPr>
          <p:nvPr/>
        </p:nvPicPr>
        <p:blipFill>
          <a:blip r:embed="rId6"/>
          <a:stretch>
            <a:fillRect/>
          </a:stretch>
        </p:blipFill>
        <p:spPr>
          <a:xfrm>
            <a:off x="822960" y="4754880"/>
            <a:ext cx="365760" cy="365760"/>
          </a:xfrm>
          <a:prstGeom prst="rect">
            <a:avLst/>
          </a:prstGeom>
        </p:spPr>
      </p:pic>
      <p:sp>
        <p:nvSpPr>
          <p:cNvPr id="50" name="Text 43"/>
          <p:cNvSpPr/>
          <p:nvPr/>
        </p:nvSpPr>
        <p:spPr>
          <a:xfrm>
            <a:off x="822960" y="52303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Contextual, just-in-time permission asks</a:t>
            </a:r>
            <a:endParaRPr lang="en-US" sz="1050" dirty="0"/>
          </a:p>
        </p:txBody>
      </p:sp>
      <p:sp>
        <p:nvSpPr>
          <p:cNvPr id="51" name="Shape 44"/>
          <p:cNvSpPr/>
          <p:nvPr/>
        </p:nvSpPr>
        <p:spPr>
          <a:xfrm>
            <a:off x="822960" y="5879592"/>
            <a:ext cx="2267712" cy="274320"/>
          </a:xfrm>
          <a:prstGeom prst="roundRect">
            <a:avLst>
              <a:gd name="adj" fmla="val 50000"/>
            </a:avLst>
          </a:prstGeom>
          <a:solidFill>
            <a:srgbClr val="EFEFEC"/>
          </a:solidFill>
          <a:ln/>
        </p:spPr>
        <p:txBody>
          <a:bodyPr/>
          <a:lstStyle/>
          <a:p>
            <a:endParaRPr lang="en-IN"/>
          </a:p>
        </p:txBody>
      </p:sp>
      <p:sp>
        <p:nvSpPr>
          <p:cNvPr id="52" name="Text 45"/>
          <p:cNvSpPr/>
          <p:nvPr/>
        </p:nvSpPr>
        <p:spPr>
          <a:xfrm>
            <a:off x="822960" y="58795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Data minimisation</a:t>
            </a:r>
            <a:endParaRPr lang="en-US" sz="800" dirty="0"/>
          </a:p>
        </p:txBody>
      </p:sp>
      <p:sp>
        <p:nvSpPr>
          <p:cNvPr id="53" name="Shape 46"/>
          <p:cNvSpPr/>
          <p:nvPr/>
        </p:nvSpPr>
        <p:spPr>
          <a:xfrm>
            <a:off x="3410712" y="45720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54" name="Image 5" descr="preencoded.png"/>
          <p:cNvPicPr>
            <a:picLocks noChangeAspect="1"/>
          </p:cNvPicPr>
          <p:nvPr/>
        </p:nvPicPr>
        <p:blipFill>
          <a:blip r:embed="rId7"/>
          <a:stretch>
            <a:fillRect/>
          </a:stretch>
        </p:blipFill>
        <p:spPr>
          <a:xfrm>
            <a:off x="3593592" y="4754880"/>
            <a:ext cx="365760" cy="365760"/>
          </a:xfrm>
          <a:prstGeom prst="rect">
            <a:avLst/>
          </a:prstGeom>
        </p:spPr>
      </p:pic>
      <p:sp>
        <p:nvSpPr>
          <p:cNvPr id="55" name="Text 47"/>
          <p:cNvSpPr/>
          <p:nvPr/>
        </p:nvSpPr>
        <p:spPr>
          <a:xfrm>
            <a:off x="3593592" y="52303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Self-serve Access / Correct / Download / Delete</a:t>
            </a:r>
            <a:endParaRPr lang="en-US" sz="1050" dirty="0"/>
          </a:p>
        </p:txBody>
      </p:sp>
      <p:sp>
        <p:nvSpPr>
          <p:cNvPr id="56" name="Shape 48"/>
          <p:cNvSpPr/>
          <p:nvPr/>
        </p:nvSpPr>
        <p:spPr>
          <a:xfrm>
            <a:off x="3593592" y="5879592"/>
            <a:ext cx="2267712" cy="274320"/>
          </a:xfrm>
          <a:prstGeom prst="roundRect">
            <a:avLst>
              <a:gd name="adj" fmla="val 50000"/>
            </a:avLst>
          </a:prstGeom>
          <a:solidFill>
            <a:srgbClr val="EFEFEC"/>
          </a:solidFill>
          <a:ln/>
        </p:spPr>
        <p:txBody>
          <a:bodyPr/>
          <a:lstStyle/>
          <a:p>
            <a:endParaRPr lang="en-IN"/>
          </a:p>
        </p:txBody>
      </p:sp>
      <p:sp>
        <p:nvSpPr>
          <p:cNvPr id="57" name="Text 49"/>
          <p:cNvSpPr/>
          <p:nvPr/>
        </p:nvSpPr>
        <p:spPr>
          <a:xfrm>
            <a:off x="3593592" y="58795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User rights</a:t>
            </a:r>
            <a:endParaRPr lang="en-US" sz="800" dirty="0"/>
          </a:p>
        </p:txBody>
      </p:sp>
      <p:sp>
        <p:nvSpPr>
          <p:cNvPr id="58" name="Shape 50"/>
          <p:cNvSpPr/>
          <p:nvPr/>
        </p:nvSpPr>
        <p:spPr>
          <a:xfrm>
            <a:off x="6181344" y="45720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59" name="Image 6" descr="preencoded.png"/>
          <p:cNvPicPr>
            <a:picLocks noChangeAspect="1"/>
          </p:cNvPicPr>
          <p:nvPr/>
        </p:nvPicPr>
        <p:blipFill>
          <a:blip r:embed="rId8"/>
          <a:stretch>
            <a:fillRect/>
          </a:stretch>
        </p:blipFill>
        <p:spPr>
          <a:xfrm>
            <a:off x="6364224" y="4754880"/>
            <a:ext cx="365760" cy="365760"/>
          </a:xfrm>
          <a:prstGeom prst="rect">
            <a:avLst/>
          </a:prstGeom>
        </p:spPr>
      </p:pic>
      <p:sp>
        <p:nvSpPr>
          <p:cNvPr id="60" name="Text 51"/>
          <p:cNvSpPr/>
          <p:nvPr/>
        </p:nvSpPr>
        <p:spPr>
          <a:xfrm>
            <a:off x="6364224" y="52303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Grievance Officer contact + SLA tracker</a:t>
            </a:r>
            <a:endParaRPr lang="en-US" sz="1050" dirty="0"/>
          </a:p>
        </p:txBody>
      </p:sp>
      <p:sp>
        <p:nvSpPr>
          <p:cNvPr id="61" name="Shape 52"/>
          <p:cNvSpPr/>
          <p:nvPr/>
        </p:nvSpPr>
        <p:spPr>
          <a:xfrm>
            <a:off x="6364224" y="5879592"/>
            <a:ext cx="2267712" cy="274320"/>
          </a:xfrm>
          <a:prstGeom prst="roundRect">
            <a:avLst>
              <a:gd name="adj" fmla="val 50000"/>
            </a:avLst>
          </a:prstGeom>
          <a:solidFill>
            <a:srgbClr val="EFEFEC"/>
          </a:solidFill>
          <a:ln/>
        </p:spPr>
        <p:txBody>
          <a:bodyPr/>
          <a:lstStyle/>
          <a:p>
            <a:endParaRPr lang="en-IN"/>
          </a:p>
        </p:txBody>
      </p:sp>
      <p:sp>
        <p:nvSpPr>
          <p:cNvPr id="62" name="Text 53"/>
          <p:cNvSpPr/>
          <p:nvPr/>
        </p:nvSpPr>
        <p:spPr>
          <a:xfrm>
            <a:off x="6364224" y="58795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Grievance redressal</a:t>
            </a:r>
            <a:endParaRPr lang="en-US" sz="800" dirty="0"/>
          </a:p>
        </p:txBody>
      </p:sp>
      <p:sp>
        <p:nvSpPr>
          <p:cNvPr id="63" name="Shape 54"/>
          <p:cNvSpPr/>
          <p:nvPr/>
        </p:nvSpPr>
        <p:spPr>
          <a:xfrm>
            <a:off x="8951976" y="4572000"/>
            <a:ext cx="2633472" cy="1691640"/>
          </a:xfrm>
          <a:prstGeom prst="roundRect">
            <a:avLst>
              <a:gd name="adj" fmla="val 3784"/>
            </a:avLst>
          </a:prstGeom>
          <a:solidFill>
            <a:srgbClr val="FFFFFF"/>
          </a:solidFill>
          <a:ln/>
          <a:effectLst>
            <a:outerShdw blurRad="101600" dist="38100" dir="2700000" algn="bl" rotWithShape="0">
              <a:srgbClr val="000000">
                <a:alpha val="12000"/>
              </a:srgbClr>
            </a:outerShdw>
          </a:effectLst>
        </p:spPr>
        <p:txBody>
          <a:bodyPr/>
          <a:lstStyle/>
          <a:p>
            <a:endParaRPr lang="en-IN"/>
          </a:p>
        </p:txBody>
      </p:sp>
      <p:pic>
        <p:nvPicPr>
          <p:cNvPr id="64" name="Image 7" descr="preencoded.png"/>
          <p:cNvPicPr>
            <a:picLocks noChangeAspect="1"/>
          </p:cNvPicPr>
          <p:nvPr/>
        </p:nvPicPr>
        <p:blipFill>
          <a:blip r:embed="rId9"/>
          <a:stretch>
            <a:fillRect/>
          </a:stretch>
        </p:blipFill>
        <p:spPr>
          <a:xfrm>
            <a:off x="9134856" y="4754880"/>
            <a:ext cx="365760" cy="365760"/>
          </a:xfrm>
          <a:prstGeom prst="rect">
            <a:avLst/>
          </a:prstGeom>
        </p:spPr>
      </p:pic>
      <p:sp>
        <p:nvSpPr>
          <p:cNvPr id="65" name="Text 55"/>
          <p:cNvSpPr/>
          <p:nvPr/>
        </p:nvSpPr>
        <p:spPr>
          <a:xfrm>
            <a:off x="9134856" y="5230368"/>
            <a:ext cx="2267712" cy="621792"/>
          </a:xfrm>
          <a:prstGeom prst="rect">
            <a:avLst/>
          </a:prstGeom>
          <a:noFill/>
          <a:ln/>
        </p:spPr>
        <p:txBody>
          <a:bodyPr wrap="square" lIns="0" tIns="0" rIns="0" bIns="0" rtlCol="0" anchor="ctr"/>
          <a:lstStyle/>
          <a:p>
            <a:pPr marL="0" indent="0">
              <a:lnSpc>
                <a:spcPct val="110000"/>
              </a:lnSpc>
              <a:buNone/>
            </a:pPr>
            <a:r>
              <a:rPr lang="en-US" sz="1050" b="1" dirty="0">
                <a:solidFill>
                  <a:srgbClr val="0B0B0C"/>
                </a:solidFill>
                <a:latin typeface="Calibri" pitchFamily="34" charset="0"/>
                <a:ea typeface="Calibri" pitchFamily="34" charset="-122"/>
                <a:cs typeface="Calibri" pitchFamily="34" charset="-120"/>
              </a:rPr>
              <a:t>Family-account flag → parental consent (Phase 2)</a:t>
            </a:r>
            <a:endParaRPr lang="en-US" sz="1050" dirty="0"/>
          </a:p>
        </p:txBody>
      </p:sp>
      <p:sp>
        <p:nvSpPr>
          <p:cNvPr id="66" name="Shape 56"/>
          <p:cNvSpPr/>
          <p:nvPr/>
        </p:nvSpPr>
        <p:spPr>
          <a:xfrm>
            <a:off x="9134856" y="5879592"/>
            <a:ext cx="2267712" cy="274320"/>
          </a:xfrm>
          <a:prstGeom prst="roundRect">
            <a:avLst>
              <a:gd name="adj" fmla="val 50000"/>
            </a:avLst>
          </a:prstGeom>
          <a:solidFill>
            <a:srgbClr val="EFEFEC"/>
          </a:solidFill>
          <a:ln/>
        </p:spPr>
        <p:txBody>
          <a:bodyPr/>
          <a:lstStyle/>
          <a:p>
            <a:endParaRPr lang="en-IN"/>
          </a:p>
        </p:txBody>
      </p:sp>
      <p:sp>
        <p:nvSpPr>
          <p:cNvPr id="67" name="Text 57"/>
          <p:cNvSpPr/>
          <p:nvPr/>
        </p:nvSpPr>
        <p:spPr>
          <a:xfrm>
            <a:off x="9134856" y="5879592"/>
            <a:ext cx="2267712" cy="274320"/>
          </a:xfrm>
          <a:prstGeom prst="rect">
            <a:avLst/>
          </a:prstGeom>
          <a:noFill/>
          <a:ln/>
        </p:spPr>
        <p:txBody>
          <a:bodyPr wrap="square" lIns="0" tIns="0" rIns="0" bIns="0" rtlCol="0" anchor="ctr"/>
          <a:lstStyle/>
          <a:p>
            <a:pPr marL="0" indent="0" algn="ctr">
              <a:buNone/>
            </a:pPr>
            <a:r>
              <a:rPr lang="en-US" sz="800" b="1" dirty="0">
                <a:solidFill>
                  <a:srgbClr val="00806E"/>
                </a:solidFill>
                <a:latin typeface="Calibri" pitchFamily="34" charset="0"/>
                <a:ea typeface="Calibri" pitchFamily="34" charset="-122"/>
                <a:cs typeface="Calibri" pitchFamily="34" charset="-120"/>
              </a:rPr>
              <a:t>Children's data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2800" b="1" dirty="0">
                <a:solidFill>
                  <a:srgbClr val="0B0B0C"/>
                </a:solidFill>
                <a:latin typeface="Cambria" pitchFamily="34" charset="0"/>
                <a:ea typeface="Cambria" pitchFamily="34" charset="-122"/>
                <a:cs typeface="Cambria" pitchFamily="34" charset="-120"/>
              </a:rPr>
              <a:t>Metrics &amp; Success Criteria</a:t>
            </a:r>
            <a:endParaRPr lang="en-US" sz="2800" dirty="0"/>
          </a:p>
        </p:txBody>
      </p:sp>
      <p:sp>
        <p:nvSpPr>
          <p:cNvPr id="3" name="Shape 1"/>
          <p:cNvSpPr/>
          <p:nvPr/>
        </p:nvSpPr>
        <p:spPr>
          <a:xfrm>
            <a:off x="640080" y="1188720"/>
            <a:ext cx="10881360" cy="1234440"/>
          </a:xfrm>
          <a:prstGeom prst="roundRect">
            <a:avLst>
              <a:gd name="adj" fmla="val 5926"/>
            </a:avLst>
          </a:prstGeom>
          <a:solidFill>
            <a:srgbClr val="0B0B0C"/>
          </a:solidFill>
          <a:ln/>
          <a:effectLst>
            <a:outerShdw blurRad="101600" dist="38100" dir="2700000" algn="bl" rotWithShape="0">
              <a:srgbClr val="000000">
                <a:alpha val="12000"/>
              </a:srgbClr>
            </a:outerShdw>
          </a:effectLst>
        </p:spPr>
        <p:txBody>
          <a:bodyPr/>
          <a:lstStyle/>
          <a:p>
            <a:endParaRPr lang="en-IN"/>
          </a:p>
        </p:txBody>
      </p:sp>
      <p:sp>
        <p:nvSpPr>
          <p:cNvPr id="4" name="Text 2"/>
          <p:cNvSpPr/>
          <p:nvPr/>
        </p:nvSpPr>
        <p:spPr>
          <a:xfrm>
            <a:off x="914400" y="1353312"/>
            <a:ext cx="3657600" cy="274320"/>
          </a:xfrm>
          <a:prstGeom prst="rect">
            <a:avLst/>
          </a:prstGeom>
          <a:noFill/>
          <a:ln/>
        </p:spPr>
        <p:txBody>
          <a:bodyPr wrap="square" rtlCol="0" anchor="ctr"/>
          <a:lstStyle/>
          <a:p>
            <a:pPr marL="0" indent="0">
              <a:buNone/>
            </a:pPr>
            <a:r>
              <a:rPr lang="en-US" sz="1050" b="1" kern="0" spc="200" dirty="0">
                <a:solidFill>
                  <a:srgbClr val="00C2A8"/>
                </a:solidFill>
                <a:latin typeface="Calibri" pitchFamily="34" charset="0"/>
                <a:ea typeface="Calibri" pitchFamily="34" charset="-122"/>
                <a:cs typeface="Calibri" pitchFamily="34" charset="-120"/>
              </a:rPr>
              <a:t>NORTH STAR METRIC</a:t>
            </a:r>
            <a:endParaRPr lang="en-US" sz="1050" dirty="0"/>
          </a:p>
        </p:txBody>
      </p:sp>
      <p:sp>
        <p:nvSpPr>
          <p:cNvPr id="5" name="Text 3"/>
          <p:cNvSpPr/>
          <p:nvPr/>
        </p:nvSpPr>
        <p:spPr>
          <a:xfrm>
            <a:off x="914400" y="1627632"/>
            <a:ext cx="64008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Valid Consent Coverage Rate (VCCR)</a:t>
            </a:r>
            <a:endParaRPr lang="en-US" sz="1700" dirty="0"/>
          </a:p>
        </p:txBody>
      </p:sp>
      <p:sp>
        <p:nvSpPr>
          <p:cNvPr id="6" name="Text 4"/>
          <p:cNvSpPr/>
          <p:nvPr/>
        </p:nvSpPr>
        <p:spPr>
          <a:xfrm>
            <a:off x="914400" y="2011680"/>
            <a:ext cx="9875520" cy="320040"/>
          </a:xfrm>
          <a:prstGeom prst="rect">
            <a:avLst/>
          </a:prstGeom>
          <a:noFill/>
          <a:ln/>
        </p:spPr>
        <p:txBody>
          <a:bodyPr wrap="square" rtlCol="0" anchor="ctr"/>
          <a:lstStyle/>
          <a:p>
            <a:pPr marL="0" indent="0">
              <a:buNone/>
            </a:pPr>
            <a:r>
              <a:rPr lang="en-US" sz="1150" i="1" dirty="0">
                <a:solidFill>
                  <a:srgbClr val="D6D6D4"/>
                </a:solidFill>
                <a:latin typeface="Calibri" pitchFamily="34" charset="0"/>
                <a:ea typeface="Calibri" pitchFamily="34" charset="-122"/>
                <a:cs typeface="Calibri" pitchFamily="34" charset="-120"/>
              </a:rPr>
              <a:t>= (Active users with an up-to-date, purpose-specific consent record) ÷ (Total active users)</a:t>
            </a:r>
            <a:endParaRPr lang="en-US" sz="1150" dirty="0"/>
          </a:p>
        </p:txBody>
      </p:sp>
      <p:sp>
        <p:nvSpPr>
          <p:cNvPr id="7" name="Text 5"/>
          <p:cNvSpPr/>
          <p:nvPr/>
        </p:nvSpPr>
        <p:spPr>
          <a:xfrm>
            <a:off x="8778240" y="1417320"/>
            <a:ext cx="2103120" cy="822960"/>
          </a:xfrm>
          <a:prstGeom prst="rect">
            <a:avLst/>
          </a:prstGeom>
          <a:noFill/>
          <a:ln/>
        </p:spPr>
        <p:txBody>
          <a:bodyPr wrap="square" lIns="0" tIns="0" rIns="0" bIns="0" rtlCol="0" anchor="ctr"/>
          <a:lstStyle/>
          <a:p>
            <a:pPr marL="0" indent="0" algn="ctr">
              <a:buNone/>
            </a:pPr>
            <a:r>
              <a:rPr lang="en-US" sz="2000" b="1" dirty="0">
                <a:solidFill>
                  <a:srgbClr val="00C2A8"/>
                </a:solidFill>
                <a:latin typeface="Cambria" pitchFamily="34" charset="0"/>
                <a:ea typeface="Cambria" pitchFamily="34" charset="-122"/>
                <a:cs typeface="Cambria" pitchFamily="34" charset="-120"/>
              </a:rPr>
              <a:t>Target: ≥ 90%</a:t>
            </a:r>
            <a:endParaRPr lang="en-US" sz="2000" dirty="0"/>
          </a:p>
        </p:txBody>
      </p:sp>
      <p:sp>
        <p:nvSpPr>
          <p:cNvPr id="8" name="Text 6"/>
          <p:cNvSpPr/>
          <p:nvPr/>
        </p:nvSpPr>
        <p:spPr>
          <a:xfrm>
            <a:off x="640080" y="2606040"/>
            <a:ext cx="4572000" cy="274320"/>
          </a:xfrm>
          <a:prstGeom prst="rect">
            <a:avLst/>
          </a:prstGeom>
          <a:noFill/>
          <a:ln/>
        </p:spPr>
        <p:txBody>
          <a:bodyPr wrap="square" rtlCol="0" anchor="ctr"/>
          <a:lstStyle/>
          <a:p>
            <a:pPr marL="0" indent="0">
              <a:buNone/>
            </a:pPr>
            <a:r>
              <a:rPr lang="en-US" sz="1100" b="1" kern="0" spc="150" dirty="0">
                <a:solidFill>
                  <a:srgbClr val="0B0B0C"/>
                </a:solidFill>
                <a:latin typeface="Calibri" pitchFamily="34" charset="0"/>
                <a:ea typeface="Calibri" pitchFamily="34" charset="-122"/>
                <a:cs typeface="Calibri" pitchFamily="34" charset="-120"/>
              </a:rPr>
              <a:t>SUPPORTING METRICS</a:t>
            </a:r>
            <a:endParaRPr lang="en-US" sz="1100" dirty="0"/>
          </a:p>
        </p:txBody>
      </p:sp>
      <p:sp>
        <p:nvSpPr>
          <p:cNvPr id="9" name="Text 7"/>
          <p:cNvSpPr/>
          <p:nvPr/>
        </p:nvSpPr>
        <p:spPr>
          <a:xfrm>
            <a:off x="640080" y="2944368"/>
            <a:ext cx="5212080" cy="502920"/>
          </a:xfrm>
          <a:prstGeom prst="rect">
            <a:avLst/>
          </a:prstGeom>
          <a:noFill/>
          <a:ln/>
        </p:spPr>
        <p:txBody>
          <a:bodyPr wrap="square" rtlCol="0" anchor="ctr"/>
          <a:lstStyle/>
          <a:p>
            <a:pPr marL="342900" indent="-342900">
              <a:lnSpc>
                <a:spcPct val="115000"/>
              </a:lnSpc>
              <a:buSzPct val="100000"/>
              <a:buChar char="•"/>
            </a:pPr>
            <a:r>
              <a:rPr lang="en-US" sz="1100" dirty="0">
                <a:solidFill>
                  <a:srgbClr val="6B6B70"/>
                </a:solidFill>
                <a:latin typeface="Calibri" pitchFamily="34" charset="0"/>
                <a:ea typeface="Calibri" pitchFamily="34" charset="-122"/>
                <a:cs typeface="Calibri" pitchFamily="34" charset="-120"/>
              </a:rPr>
              <a:t>Consent Hub engagement = Hub sessions ÷ MAU</a:t>
            </a:r>
            <a:endParaRPr lang="en-US" sz="1100" dirty="0"/>
          </a:p>
        </p:txBody>
      </p:sp>
      <p:sp>
        <p:nvSpPr>
          <p:cNvPr id="10" name="Text 8"/>
          <p:cNvSpPr/>
          <p:nvPr/>
        </p:nvSpPr>
        <p:spPr>
          <a:xfrm>
            <a:off x="640080" y="3538728"/>
            <a:ext cx="5212080" cy="502920"/>
          </a:xfrm>
          <a:prstGeom prst="rect">
            <a:avLst/>
          </a:prstGeom>
          <a:noFill/>
          <a:ln/>
        </p:spPr>
        <p:txBody>
          <a:bodyPr wrap="square" rtlCol="0" anchor="ctr"/>
          <a:lstStyle/>
          <a:p>
            <a:pPr marL="342900" indent="-342900">
              <a:lnSpc>
                <a:spcPct val="115000"/>
              </a:lnSpc>
              <a:buSzPct val="100000"/>
              <a:buChar char="•"/>
            </a:pPr>
            <a:r>
              <a:rPr lang="en-US" sz="1100" dirty="0">
                <a:solidFill>
                  <a:srgbClr val="6B6B70"/>
                </a:solidFill>
                <a:latin typeface="Calibri" pitchFamily="34" charset="0"/>
                <a:ea typeface="Calibri" pitchFamily="34" charset="-122"/>
                <a:cs typeface="Calibri" pitchFamily="34" charset="-120"/>
              </a:rPr>
              <a:t>Median time-to-complete layered consent (sec)</a:t>
            </a:r>
            <a:endParaRPr lang="en-US" sz="1100" dirty="0"/>
          </a:p>
        </p:txBody>
      </p:sp>
      <p:sp>
        <p:nvSpPr>
          <p:cNvPr id="11" name="Text 9"/>
          <p:cNvSpPr/>
          <p:nvPr/>
        </p:nvSpPr>
        <p:spPr>
          <a:xfrm>
            <a:off x="640080" y="4133088"/>
            <a:ext cx="5212080" cy="502920"/>
          </a:xfrm>
          <a:prstGeom prst="rect">
            <a:avLst/>
          </a:prstGeom>
          <a:noFill/>
          <a:ln/>
        </p:spPr>
        <p:txBody>
          <a:bodyPr wrap="square" rtlCol="0" anchor="ctr"/>
          <a:lstStyle/>
          <a:p>
            <a:pPr marL="342900" indent="-342900">
              <a:lnSpc>
                <a:spcPct val="115000"/>
              </a:lnSpc>
              <a:buSzPct val="100000"/>
              <a:buChar char="•"/>
            </a:pPr>
            <a:r>
              <a:rPr lang="en-US" sz="1100" dirty="0">
                <a:solidFill>
                  <a:srgbClr val="6B6B70"/>
                </a:solidFill>
                <a:latin typeface="Calibri" pitchFamily="34" charset="0"/>
                <a:ea typeface="Calibri" pitchFamily="34" charset="-122"/>
                <a:cs typeface="Calibri" pitchFamily="34" charset="-120"/>
              </a:rPr>
              <a:t>Self-serve rights completion rate = completed requests ÷ total requests (target &gt; 95% w/o support escalation)</a:t>
            </a:r>
            <a:endParaRPr lang="en-US" sz="1100" dirty="0"/>
          </a:p>
        </p:txBody>
      </p:sp>
      <p:sp>
        <p:nvSpPr>
          <p:cNvPr id="12" name="Text 10"/>
          <p:cNvSpPr/>
          <p:nvPr/>
        </p:nvSpPr>
        <p:spPr>
          <a:xfrm>
            <a:off x="6126480" y="2606040"/>
            <a:ext cx="4572000" cy="274320"/>
          </a:xfrm>
          <a:prstGeom prst="rect">
            <a:avLst/>
          </a:prstGeom>
          <a:noFill/>
          <a:ln/>
        </p:spPr>
        <p:txBody>
          <a:bodyPr wrap="square" rtlCol="0" anchor="ctr"/>
          <a:lstStyle/>
          <a:p>
            <a:pPr marL="0" indent="0">
              <a:buNone/>
            </a:pPr>
            <a:r>
              <a:rPr lang="en-US" sz="1100" b="1" kern="0" spc="150" dirty="0">
                <a:solidFill>
                  <a:srgbClr val="0B0B0C"/>
                </a:solidFill>
                <a:latin typeface="Calibri" pitchFamily="34" charset="0"/>
                <a:ea typeface="Calibri" pitchFamily="34" charset="-122"/>
                <a:cs typeface="Calibri" pitchFamily="34" charset="-120"/>
              </a:rPr>
              <a:t>GUARDRAIL METRICS</a:t>
            </a:r>
            <a:endParaRPr lang="en-US" sz="1100" dirty="0"/>
          </a:p>
        </p:txBody>
      </p:sp>
      <p:sp>
        <p:nvSpPr>
          <p:cNvPr id="13" name="Text 11"/>
          <p:cNvSpPr/>
          <p:nvPr/>
        </p:nvSpPr>
        <p:spPr>
          <a:xfrm>
            <a:off x="6126480" y="2944368"/>
            <a:ext cx="5212080" cy="502920"/>
          </a:xfrm>
          <a:prstGeom prst="rect">
            <a:avLst/>
          </a:prstGeom>
          <a:noFill/>
          <a:ln/>
        </p:spPr>
        <p:txBody>
          <a:bodyPr wrap="square" rtlCol="0" anchor="ctr"/>
          <a:lstStyle/>
          <a:p>
            <a:pPr marL="342900" indent="-342900">
              <a:lnSpc>
                <a:spcPct val="115000"/>
              </a:lnSpc>
              <a:buSzPct val="100000"/>
              <a:buChar char="•"/>
            </a:pPr>
            <a:r>
              <a:rPr lang="en-US" sz="1100" dirty="0">
                <a:solidFill>
                  <a:srgbClr val="6B6B70"/>
                </a:solidFill>
                <a:latin typeface="Calibri" pitchFamily="34" charset="0"/>
                <a:ea typeface="Calibri" pitchFamily="34" charset="-122"/>
                <a:cs typeface="Calibri" pitchFamily="34" charset="-120"/>
              </a:rPr>
              <a:t>Ride booking conversion rate — must not drop &gt; 1.5 pts</a:t>
            </a:r>
            <a:endParaRPr lang="en-US" sz="1100" dirty="0"/>
          </a:p>
        </p:txBody>
      </p:sp>
      <p:sp>
        <p:nvSpPr>
          <p:cNvPr id="14" name="Text 12"/>
          <p:cNvSpPr/>
          <p:nvPr/>
        </p:nvSpPr>
        <p:spPr>
          <a:xfrm>
            <a:off x="6126480" y="3538728"/>
            <a:ext cx="5212080" cy="502920"/>
          </a:xfrm>
          <a:prstGeom prst="rect">
            <a:avLst/>
          </a:prstGeom>
          <a:noFill/>
          <a:ln/>
        </p:spPr>
        <p:txBody>
          <a:bodyPr wrap="square" rtlCol="0" anchor="ctr"/>
          <a:lstStyle/>
          <a:p>
            <a:pPr marL="342900" indent="-342900">
              <a:lnSpc>
                <a:spcPct val="115000"/>
              </a:lnSpc>
              <a:buSzPct val="100000"/>
              <a:buChar char="•"/>
            </a:pPr>
            <a:r>
              <a:rPr lang="en-US" sz="1100" dirty="0">
                <a:solidFill>
                  <a:srgbClr val="6B6B70"/>
                </a:solidFill>
                <a:latin typeface="Calibri" pitchFamily="34" charset="0"/>
                <a:ea typeface="Calibri" pitchFamily="34" charset="-122"/>
                <a:cs typeface="Calibri" pitchFamily="34" charset="-120"/>
              </a:rPr>
              <a:t>Consent-flow abandonment rate — keep below 8%</a:t>
            </a:r>
            <a:endParaRPr lang="en-US" sz="1100" dirty="0"/>
          </a:p>
        </p:txBody>
      </p:sp>
      <p:sp>
        <p:nvSpPr>
          <p:cNvPr id="15" name="Text 13"/>
          <p:cNvSpPr/>
          <p:nvPr/>
        </p:nvSpPr>
        <p:spPr>
          <a:xfrm>
            <a:off x="640080" y="4617720"/>
            <a:ext cx="5486400" cy="274320"/>
          </a:xfrm>
          <a:prstGeom prst="rect">
            <a:avLst/>
          </a:prstGeom>
          <a:noFill/>
          <a:ln/>
        </p:spPr>
        <p:txBody>
          <a:bodyPr wrap="square" rtlCol="0" anchor="ctr"/>
          <a:lstStyle/>
          <a:p>
            <a:pPr marL="0" indent="0">
              <a:buNone/>
            </a:pPr>
            <a:r>
              <a:rPr lang="en-US" sz="1100" b="1" kern="0" spc="150" dirty="0">
                <a:solidFill>
                  <a:srgbClr val="0B0B0C"/>
                </a:solidFill>
                <a:latin typeface="Calibri" pitchFamily="34" charset="0"/>
                <a:ea typeface="Calibri" pitchFamily="34" charset="-122"/>
                <a:cs typeface="Calibri" pitchFamily="34" charset="-120"/>
              </a:rPr>
              <a:t>SUCCESS CRITERIA (SMART)</a:t>
            </a:r>
            <a:endParaRPr lang="en-US" sz="1100" dirty="0"/>
          </a:p>
        </p:txBody>
      </p:sp>
      <p:pic>
        <p:nvPicPr>
          <p:cNvPr id="16" name="Image 0" descr="preencoded.png"/>
          <p:cNvPicPr>
            <a:picLocks noChangeAspect="1"/>
          </p:cNvPicPr>
          <p:nvPr/>
        </p:nvPicPr>
        <p:blipFill>
          <a:blip r:embed="rId3"/>
          <a:stretch>
            <a:fillRect/>
          </a:stretch>
        </p:blipFill>
        <p:spPr>
          <a:xfrm>
            <a:off x="640080" y="4974336"/>
            <a:ext cx="274320" cy="274320"/>
          </a:xfrm>
          <a:prstGeom prst="rect">
            <a:avLst/>
          </a:prstGeom>
        </p:spPr>
      </p:pic>
      <p:sp>
        <p:nvSpPr>
          <p:cNvPr id="17" name="Text 14"/>
          <p:cNvSpPr/>
          <p:nvPr/>
        </p:nvSpPr>
        <p:spPr>
          <a:xfrm>
            <a:off x="1005840" y="4956048"/>
            <a:ext cx="4846320" cy="685800"/>
          </a:xfrm>
          <a:prstGeom prst="rect">
            <a:avLst/>
          </a:prstGeom>
          <a:noFill/>
          <a:ln/>
        </p:spPr>
        <p:txBody>
          <a:bodyPr wrap="square" rtlCol="0" anchor="t"/>
          <a:lstStyle/>
          <a:p>
            <a:pPr marL="0" indent="0">
              <a:lnSpc>
                <a:spcPct val="115000"/>
              </a:lnSpc>
              <a:buNone/>
            </a:pPr>
            <a:r>
              <a:rPr lang="en-US" sz="1050" dirty="0">
                <a:solidFill>
                  <a:srgbClr val="0B0B0C"/>
                </a:solidFill>
                <a:latin typeface="Calibri" pitchFamily="34" charset="0"/>
                <a:ea typeface="Calibri" pitchFamily="34" charset="-122"/>
                <a:cs typeface="Calibri" pitchFamily="34" charset="-120"/>
              </a:rPr>
              <a:t>VCCR ≥ 90% within 60 days of full rollout</a:t>
            </a:r>
            <a:endParaRPr lang="en-US" sz="1050" dirty="0"/>
          </a:p>
        </p:txBody>
      </p:sp>
      <p:pic>
        <p:nvPicPr>
          <p:cNvPr id="18" name="Image 1" descr="preencoded.png"/>
          <p:cNvPicPr>
            <a:picLocks noChangeAspect="1"/>
          </p:cNvPicPr>
          <p:nvPr/>
        </p:nvPicPr>
        <p:blipFill>
          <a:blip r:embed="rId3"/>
          <a:stretch>
            <a:fillRect/>
          </a:stretch>
        </p:blipFill>
        <p:spPr>
          <a:xfrm>
            <a:off x="640080" y="5751576"/>
            <a:ext cx="274320" cy="274320"/>
          </a:xfrm>
          <a:prstGeom prst="rect">
            <a:avLst/>
          </a:prstGeom>
        </p:spPr>
      </p:pic>
      <p:sp>
        <p:nvSpPr>
          <p:cNvPr id="19" name="Text 15"/>
          <p:cNvSpPr/>
          <p:nvPr/>
        </p:nvSpPr>
        <p:spPr>
          <a:xfrm>
            <a:off x="1005840" y="5733288"/>
            <a:ext cx="4846320" cy="685800"/>
          </a:xfrm>
          <a:prstGeom prst="rect">
            <a:avLst/>
          </a:prstGeom>
          <a:noFill/>
          <a:ln/>
        </p:spPr>
        <p:txBody>
          <a:bodyPr wrap="square" rtlCol="0" anchor="t"/>
          <a:lstStyle/>
          <a:p>
            <a:pPr marL="0" indent="0">
              <a:lnSpc>
                <a:spcPct val="115000"/>
              </a:lnSpc>
              <a:buNone/>
            </a:pPr>
            <a:r>
              <a:rPr lang="en-US" sz="1050" dirty="0">
                <a:solidFill>
                  <a:srgbClr val="0B0B0C"/>
                </a:solidFill>
                <a:latin typeface="Calibri" pitchFamily="34" charset="0"/>
                <a:ea typeface="Calibri" pitchFamily="34" charset="-122"/>
                <a:cs typeface="Calibri" pitchFamily="34" charset="-120"/>
              </a:rPr>
              <a:t>30% reduction in privacy-related support tickets in Q1 post-launch</a:t>
            </a:r>
            <a:endParaRPr lang="en-US" sz="1050" dirty="0"/>
          </a:p>
        </p:txBody>
      </p:sp>
      <p:pic>
        <p:nvPicPr>
          <p:cNvPr id="20" name="Image 2" descr="preencoded.png"/>
          <p:cNvPicPr>
            <a:picLocks noChangeAspect="1"/>
          </p:cNvPicPr>
          <p:nvPr/>
        </p:nvPicPr>
        <p:blipFill>
          <a:blip r:embed="rId3"/>
          <a:stretch>
            <a:fillRect/>
          </a:stretch>
        </p:blipFill>
        <p:spPr>
          <a:xfrm>
            <a:off x="6126480" y="4974336"/>
            <a:ext cx="274320" cy="274320"/>
          </a:xfrm>
          <a:prstGeom prst="rect">
            <a:avLst/>
          </a:prstGeom>
        </p:spPr>
      </p:pic>
      <p:sp>
        <p:nvSpPr>
          <p:cNvPr id="21" name="Text 16"/>
          <p:cNvSpPr/>
          <p:nvPr/>
        </p:nvSpPr>
        <p:spPr>
          <a:xfrm>
            <a:off x="6492240" y="4956048"/>
            <a:ext cx="4846320" cy="685800"/>
          </a:xfrm>
          <a:prstGeom prst="rect">
            <a:avLst/>
          </a:prstGeom>
          <a:noFill/>
          <a:ln/>
        </p:spPr>
        <p:txBody>
          <a:bodyPr wrap="square" rtlCol="0" anchor="t"/>
          <a:lstStyle/>
          <a:p>
            <a:pPr marL="0" indent="0">
              <a:lnSpc>
                <a:spcPct val="115000"/>
              </a:lnSpc>
              <a:buNone/>
            </a:pPr>
            <a:r>
              <a:rPr lang="en-US" sz="1050" dirty="0">
                <a:solidFill>
                  <a:srgbClr val="0B0B0C"/>
                </a:solidFill>
                <a:latin typeface="Calibri" pitchFamily="34" charset="0"/>
                <a:ea typeface="Calibri" pitchFamily="34" charset="-122"/>
                <a:cs typeface="Calibri" pitchFamily="34" charset="-120"/>
              </a:rPr>
              <a:t>Consent withdrawal completes in ≤ 3 taps for 100% of purposes</a:t>
            </a:r>
            <a:endParaRPr lang="en-US" sz="1050" dirty="0"/>
          </a:p>
        </p:txBody>
      </p:sp>
      <p:pic>
        <p:nvPicPr>
          <p:cNvPr id="22" name="Image 3" descr="preencoded.png"/>
          <p:cNvPicPr>
            <a:picLocks noChangeAspect="1"/>
          </p:cNvPicPr>
          <p:nvPr/>
        </p:nvPicPr>
        <p:blipFill>
          <a:blip r:embed="rId3"/>
          <a:stretch>
            <a:fillRect/>
          </a:stretch>
        </p:blipFill>
        <p:spPr>
          <a:xfrm>
            <a:off x="6126480" y="5751576"/>
            <a:ext cx="274320" cy="274320"/>
          </a:xfrm>
          <a:prstGeom prst="rect">
            <a:avLst/>
          </a:prstGeom>
        </p:spPr>
      </p:pic>
      <p:sp>
        <p:nvSpPr>
          <p:cNvPr id="23" name="Text 17"/>
          <p:cNvSpPr/>
          <p:nvPr/>
        </p:nvSpPr>
        <p:spPr>
          <a:xfrm>
            <a:off x="6492240" y="5733288"/>
            <a:ext cx="4846320" cy="685800"/>
          </a:xfrm>
          <a:prstGeom prst="rect">
            <a:avLst/>
          </a:prstGeom>
          <a:noFill/>
          <a:ln/>
        </p:spPr>
        <p:txBody>
          <a:bodyPr wrap="square" rtlCol="0" anchor="t"/>
          <a:lstStyle/>
          <a:p>
            <a:pPr marL="0" indent="0">
              <a:lnSpc>
                <a:spcPct val="115000"/>
              </a:lnSpc>
              <a:buNone/>
            </a:pPr>
            <a:r>
              <a:rPr lang="en-US" sz="1050" dirty="0">
                <a:solidFill>
                  <a:srgbClr val="0B0B0C"/>
                </a:solidFill>
                <a:latin typeface="Calibri" pitchFamily="34" charset="0"/>
                <a:ea typeface="Calibri" pitchFamily="34" charset="-122"/>
                <a:cs typeface="Calibri" pitchFamily="34" charset="-120"/>
              </a:rPr>
              <a:t>95% of data-rights requests (access/correct/download/delete) resolved within internal SLA, with zero support escalation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02920"/>
          </a:xfrm>
          <a:prstGeom prst="rect">
            <a:avLst/>
          </a:prstGeom>
          <a:noFill/>
          <a:ln/>
        </p:spPr>
        <p:txBody>
          <a:bodyPr wrap="square" rtlCol="0" anchor="ctr"/>
          <a:lstStyle/>
          <a:p>
            <a:pPr marL="0" indent="0">
              <a:buNone/>
            </a:pPr>
            <a:r>
              <a:rPr lang="en-US" sz="2800" b="1" dirty="0">
                <a:solidFill>
                  <a:srgbClr val="0B0B0C"/>
                </a:solidFill>
                <a:latin typeface="Cambria" pitchFamily="34" charset="0"/>
                <a:ea typeface="Cambria" pitchFamily="34" charset="-122"/>
                <a:cs typeface="Cambria" pitchFamily="34" charset="-120"/>
              </a:rPr>
              <a:t>Diagnostic Thinking</a:t>
            </a:r>
            <a:endParaRPr lang="en-US" sz="2800" dirty="0"/>
          </a:p>
        </p:txBody>
      </p:sp>
      <p:sp>
        <p:nvSpPr>
          <p:cNvPr id="3" name="Shape 1"/>
          <p:cNvSpPr/>
          <p:nvPr/>
        </p:nvSpPr>
        <p:spPr>
          <a:xfrm>
            <a:off x="640080" y="1005840"/>
            <a:ext cx="10881360" cy="566928"/>
          </a:xfrm>
          <a:prstGeom prst="roundRect">
            <a:avLst>
              <a:gd name="adj" fmla="val 50000"/>
            </a:avLst>
          </a:prstGeom>
          <a:solidFill>
            <a:srgbClr val="E8A33D">
              <a:alpha val="85000"/>
            </a:srgbClr>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868680" y="1133856"/>
            <a:ext cx="310896" cy="310896"/>
          </a:xfrm>
          <a:prstGeom prst="rect">
            <a:avLst/>
          </a:prstGeom>
        </p:spPr>
      </p:pic>
      <p:sp>
        <p:nvSpPr>
          <p:cNvPr id="5" name="Text 2"/>
          <p:cNvSpPr/>
          <p:nvPr/>
        </p:nvSpPr>
        <p:spPr>
          <a:xfrm>
            <a:off x="1325880" y="1005840"/>
            <a:ext cx="10058400" cy="566928"/>
          </a:xfrm>
          <a:prstGeom prst="rect">
            <a:avLst/>
          </a:prstGeom>
          <a:noFill/>
          <a:ln/>
        </p:spPr>
        <p:txBody>
          <a:bodyPr wrap="square" lIns="0" tIns="0" rIns="0" bIns="0" rtlCol="0" anchor="ctr"/>
          <a:lstStyle/>
          <a:p>
            <a:pPr marL="0" indent="0">
              <a:buNone/>
            </a:pPr>
            <a:r>
              <a:rPr lang="en-US" sz="1300" b="1" dirty="0">
                <a:solidFill>
                  <a:srgbClr val="0B0B0C"/>
                </a:solidFill>
                <a:latin typeface="Calibri" pitchFamily="34" charset="0"/>
                <a:ea typeface="Calibri" pitchFamily="34" charset="-122"/>
                <a:cs typeface="Calibri" pitchFamily="34" charset="-120"/>
              </a:rPr>
              <a:t>Scenario: 3 weeks post-launch, VCCR drops 15% — no major release shipped</a:t>
            </a:r>
            <a:endParaRPr lang="en-US" sz="1300" dirty="0"/>
          </a:p>
        </p:txBody>
      </p:sp>
      <p:sp>
        <p:nvSpPr>
          <p:cNvPr id="6" name="Shape 3"/>
          <p:cNvSpPr/>
          <p:nvPr/>
        </p:nvSpPr>
        <p:spPr>
          <a:xfrm>
            <a:off x="640080" y="1819656"/>
            <a:ext cx="384048" cy="384048"/>
          </a:xfrm>
          <a:prstGeom prst="ellipse">
            <a:avLst/>
          </a:prstGeom>
          <a:solidFill>
            <a:srgbClr val="0B0B0C"/>
          </a:solidFill>
          <a:ln/>
        </p:spPr>
        <p:txBody>
          <a:bodyPr/>
          <a:lstStyle/>
          <a:p>
            <a:endParaRPr lang="en-IN"/>
          </a:p>
        </p:txBody>
      </p:sp>
      <p:sp>
        <p:nvSpPr>
          <p:cNvPr id="7" name="Text 4"/>
          <p:cNvSpPr/>
          <p:nvPr/>
        </p:nvSpPr>
        <p:spPr>
          <a:xfrm>
            <a:off x="640080" y="1819656"/>
            <a:ext cx="384048" cy="384048"/>
          </a:xfrm>
          <a:prstGeom prst="rect">
            <a:avLst/>
          </a:prstGeom>
          <a:noFill/>
          <a:ln/>
        </p:spPr>
        <p:txBody>
          <a:bodyPr wrap="square" lIns="0" tIns="0" rIns="0" bIns="0" rtlCol="0" anchor="ctr"/>
          <a:lstStyle/>
          <a:p>
            <a:pPr marL="0" indent="0" algn="ctr">
              <a:buNone/>
            </a:pPr>
            <a:r>
              <a:rPr lang="en-US" sz="1300" b="1" dirty="0">
                <a:solidFill>
                  <a:srgbClr val="00C2A8"/>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1188720" y="1783080"/>
            <a:ext cx="2834640" cy="457200"/>
          </a:xfrm>
          <a:prstGeom prst="rect">
            <a:avLst/>
          </a:prstGeom>
          <a:noFill/>
          <a:ln/>
        </p:spPr>
        <p:txBody>
          <a:bodyPr wrap="square" lIns="0" tIns="0" rIns="0" bIns="0" rtlCol="0" anchor="t"/>
          <a:lstStyle/>
          <a:p>
            <a:pPr marL="0" indent="0">
              <a:buNone/>
            </a:pPr>
            <a:r>
              <a:rPr lang="en-US" sz="1150" b="1" dirty="0">
                <a:solidFill>
                  <a:srgbClr val="0B0B0C"/>
                </a:solidFill>
                <a:latin typeface="Calibri" pitchFamily="34" charset="0"/>
                <a:ea typeface="Calibri" pitchFamily="34" charset="-122"/>
                <a:cs typeface="Calibri" pitchFamily="34" charset="-120"/>
              </a:rPr>
              <a:t>Instrumentation broke</a:t>
            </a:r>
            <a:endParaRPr lang="en-US" sz="1150" dirty="0"/>
          </a:p>
        </p:txBody>
      </p:sp>
      <p:sp>
        <p:nvSpPr>
          <p:cNvPr id="9" name="Text 6"/>
          <p:cNvSpPr/>
          <p:nvPr/>
        </p:nvSpPr>
        <p:spPr>
          <a:xfrm>
            <a:off x="4160520" y="1783080"/>
            <a:ext cx="3749040" cy="457200"/>
          </a:xfrm>
          <a:prstGeom prst="rect">
            <a:avLst/>
          </a:prstGeom>
          <a:noFill/>
          <a:ln/>
        </p:spPr>
        <p:txBody>
          <a:bodyPr wrap="square" lIns="0" tIns="0" rIns="0" bIns="0" rtlCol="0" anchor="t"/>
          <a:lstStyle/>
          <a:p>
            <a:pPr marL="0" indent="0">
              <a:lnSpc>
                <a:spcPct val="110000"/>
              </a:lnSpc>
              <a:buNone/>
            </a:pPr>
            <a:r>
              <a:rPr lang="en-US" sz="980" dirty="0">
                <a:solidFill>
                  <a:srgbClr val="6B6B70"/>
                </a:solidFill>
                <a:latin typeface="Calibri" pitchFamily="34" charset="0"/>
                <a:ea typeface="Calibri" pitchFamily="34" charset="-122"/>
                <a:cs typeface="Calibri" pitchFamily="34" charset="-120"/>
              </a:rPr>
              <a:t>A consent-write event stopped firing or a pipeline join silently dropped rows.</a:t>
            </a:r>
            <a:endParaRPr lang="en-US" sz="980" dirty="0"/>
          </a:p>
        </p:txBody>
      </p:sp>
      <p:sp>
        <p:nvSpPr>
          <p:cNvPr id="10" name="Text 7"/>
          <p:cNvSpPr/>
          <p:nvPr/>
        </p:nvSpPr>
        <p:spPr>
          <a:xfrm>
            <a:off x="8046720" y="1783080"/>
            <a:ext cx="3474720" cy="457200"/>
          </a:xfrm>
          <a:prstGeom prst="rect">
            <a:avLst/>
          </a:prstGeom>
          <a:noFill/>
          <a:ln/>
        </p:spPr>
        <p:txBody>
          <a:bodyPr wrap="square" lIns="0" tIns="0" rIns="0" bIns="0" rtlCol="0" anchor="t"/>
          <a:lstStyle/>
          <a:p>
            <a:pPr marL="0" indent="0">
              <a:lnSpc>
                <a:spcPct val="110000"/>
              </a:lnSpc>
              <a:buNone/>
            </a:pPr>
            <a:r>
              <a:rPr lang="en-US" sz="980" i="1" dirty="0">
                <a:solidFill>
                  <a:srgbClr val="00806E"/>
                </a:solidFill>
                <a:latin typeface="Calibri" pitchFamily="34" charset="0"/>
                <a:ea typeface="Calibri" pitchFamily="34" charset="-122"/>
                <a:cs typeface="Calibri" pitchFamily="34" charset="-120"/>
              </a:rPr>
              <a:t>Compare raw DB consent-table counts vs. dashboard; re-run event QA on the write path.</a:t>
            </a:r>
            <a:endParaRPr lang="en-US" sz="980" dirty="0"/>
          </a:p>
        </p:txBody>
      </p:sp>
      <p:sp>
        <p:nvSpPr>
          <p:cNvPr id="11" name="Shape 8"/>
          <p:cNvSpPr/>
          <p:nvPr/>
        </p:nvSpPr>
        <p:spPr>
          <a:xfrm>
            <a:off x="640080" y="2505456"/>
            <a:ext cx="384048" cy="384048"/>
          </a:xfrm>
          <a:prstGeom prst="ellipse">
            <a:avLst/>
          </a:prstGeom>
          <a:solidFill>
            <a:srgbClr val="0B0B0C"/>
          </a:solidFill>
          <a:ln/>
        </p:spPr>
        <p:txBody>
          <a:bodyPr/>
          <a:lstStyle/>
          <a:p>
            <a:endParaRPr lang="en-IN"/>
          </a:p>
        </p:txBody>
      </p:sp>
      <p:sp>
        <p:nvSpPr>
          <p:cNvPr id="12" name="Text 9"/>
          <p:cNvSpPr/>
          <p:nvPr/>
        </p:nvSpPr>
        <p:spPr>
          <a:xfrm>
            <a:off x="640080" y="2505456"/>
            <a:ext cx="384048" cy="384048"/>
          </a:xfrm>
          <a:prstGeom prst="rect">
            <a:avLst/>
          </a:prstGeom>
          <a:noFill/>
          <a:ln/>
        </p:spPr>
        <p:txBody>
          <a:bodyPr wrap="square" lIns="0" tIns="0" rIns="0" bIns="0" rtlCol="0" anchor="ctr"/>
          <a:lstStyle/>
          <a:p>
            <a:pPr marL="0" indent="0" algn="ctr">
              <a:buNone/>
            </a:pPr>
            <a:r>
              <a:rPr lang="en-US" sz="1300" b="1" dirty="0">
                <a:solidFill>
                  <a:srgbClr val="00C2A8"/>
                </a:solidFill>
                <a:latin typeface="Cambria" pitchFamily="34" charset="0"/>
                <a:ea typeface="Cambria" pitchFamily="34" charset="-122"/>
                <a:cs typeface="Cambria" pitchFamily="34" charset="-120"/>
              </a:rPr>
              <a:t>2</a:t>
            </a:r>
            <a:endParaRPr lang="en-US" sz="1300" dirty="0"/>
          </a:p>
        </p:txBody>
      </p:sp>
      <p:sp>
        <p:nvSpPr>
          <p:cNvPr id="13" name="Text 10"/>
          <p:cNvSpPr/>
          <p:nvPr/>
        </p:nvSpPr>
        <p:spPr>
          <a:xfrm>
            <a:off x="1188720" y="2468880"/>
            <a:ext cx="2834640" cy="457200"/>
          </a:xfrm>
          <a:prstGeom prst="rect">
            <a:avLst/>
          </a:prstGeom>
          <a:noFill/>
          <a:ln/>
        </p:spPr>
        <p:txBody>
          <a:bodyPr wrap="square" lIns="0" tIns="0" rIns="0" bIns="0" rtlCol="0" anchor="t"/>
          <a:lstStyle/>
          <a:p>
            <a:pPr marL="0" indent="0">
              <a:buNone/>
            </a:pPr>
            <a:r>
              <a:rPr lang="en-US" sz="1150" b="1" dirty="0">
                <a:solidFill>
                  <a:srgbClr val="0B0B0C"/>
                </a:solidFill>
                <a:latin typeface="Calibri" pitchFamily="34" charset="0"/>
                <a:ea typeface="Calibri" pitchFamily="34" charset="-122"/>
                <a:cs typeface="Calibri" pitchFamily="34" charset="-120"/>
              </a:rPr>
              <a:t>New-cohort shift</a:t>
            </a:r>
            <a:endParaRPr lang="en-US" sz="1150" dirty="0"/>
          </a:p>
        </p:txBody>
      </p:sp>
      <p:sp>
        <p:nvSpPr>
          <p:cNvPr id="14" name="Text 11"/>
          <p:cNvSpPr/>
          <p:nvPr/>
        </p:nvSpPr>
        <p:spPr>
          <a:xfrm>
            <a:off x="4160520" y="2468880"/>
            <a:ext cx="3749040" cy="457200"/>
          </a:xfrm>
          <a:prstGeom prst="rect">
            <a:avLst/>
          </a:prstGeom>
          <a:noFill/>
          <a:ln/>
        </p:spPr>
        <p:txBody>
          <a:bodyPr wrap="square" lIns="0" tIns="0" rIns="0" bIns="0" rtlCol="0" anchor="t"/>
          <a:lstStyle/>
          <a:p>
            <a:pPr marL="0" indent="0">
              <a:lnSpc>
                <a:spcPct val="110000"/>
              </a:lnSpc>
              <a:buNone/>
            </a:pPr>
            <a:r>
              <a:rPr lang="en-US" sz="980" dirty="0">
                <a:solidFill>
                  <a:srgbClr val="6B6B70"/>
                </a:solidFill>
                <a:latin typeface="Calibri" pitchFamily="34" charset="0"/>
                <a:ea typeface="Calibri" pitchFamily="34" charset="-122"/>
                <a:cs typeface="Calibri" pitchFamily="34" charset="-120"/>
              </a:rPr>
              <a:t>A new-city launch cohort has structurally lower consent completion (localisation, literacy).</a:t>
            </a:r>
            <a:endParaRPr lang="en-US" sz="980" dirty="0"/>
          </a:p>
        </p:txBody>
      </p:sp>
      <p:sp>
        <p:nvSpPr>
          <p:cNvPr id="15" name="Text 12"/>
          <p:cNvSpPr/>
          <p:nvPr/>
        </p:nvSpPr>
        <p:spPr>
          <a:xfrm>
            <a:off x="8046720" y="2468880"/>
            <a:ext cx="3474720" cy="457200"/>
          </a:xfrm>
          <a:prstGeom prst="rect">
            <a:avLst/>
          </a:prstGeom>
          <a:noFill/>
          <a:ln/>
        </p:spPr>
        <p:txBody>
          <a:bodyPr wrap="square" lIns="0" tIns="0" rIns="0" bIns="0" rtlCol="0" anchor="t"/>
          <a:lstStyle/>
          <a:p>
            <a:pPr marL="0" indent="0">
              <a:lnSpc>
                <a:spcPct val="110000"/>
              </a:lnSpc>
              <a:buNone/>
            </a:pPr>
            <a:r>
              <a:rPr lang="en-US" sz="980" i="1" dirty="0">
                <a:solidFill>
                  <a:srgbClr val="00806E"/>
                </a:solidFill>
                <a:latin typeface="Calibri" pitchFamily="34" charset="0"/>
                <a:ea typeface="Calibri" pitchFamily="34" charset="-122"/>
                <a:cs typeface="Calibri" pitchFamily="34" charset="-120"/>
              </a:rPr>
              <a:t>Segment VCCR by signup date, city, and platform; isolate new vs. existing users.</a:t>
            </a:r>
            <a:endParaRPr lang="en-US" sz="980" dirty="0"/>
          </a:p>
        </p:txBody>
      </p:sp>
      <p:sp>
        <p:nvSpPr>
          <p:cNvPr id="16" name="Shape 13"/>
          <p:cNvSpPr/>
          <p:nvPr/>
        </p:nvSpPr>
        <p:spPr>
          <a:xfrm>
            <a:off x="640080" y="3191256"/>
            <a:ext cx="384048" cy="384048"/>
          </a:xfrm>
          <a:prstGeom prst="ellipse">
            <a:avLst/>
          </a:prstGeom>
          <a:solidFill>
            <a:srgbClr val="0B0B0C"/>
          </a:solidFill>
          <a:ln/>
        </p:spPr>
        <p:txBody>
          <a:bodyPr/>
          <a:lstStyle/>
          <a:p>
            <a:endParaRPr lang="en-IN"/>
          </a:p>
        </p:txBody>
      </p:sp>
      <p:sp>
        <p:nvSpPr>
          <p:cNvPr id="17" name="Text 14"/>
          <p:cNvSpPr/>
          <p:nvPr/>
        </p:nvSpPr>
        <p:spPr>
          <a:xfrm>
            <a:off x="640080" y="3191256"/>
            <a:ext cx="384048" cy="384048"/>
          </a:xfrm>
          <a:prstGeom prst="rect">
            <a:avLst/>
          </a:prstGeom>
          <a:noFill/>
          <a:ln/>
        </p:spPr>
        <p:txBody>
          <a:bodyPr wrap="square" lIns="0" tIns="0" rIns="0" bIns="0" rtlCol="0" anchor="ctr"/>
          <a:lstStyle/>
          <a:p>
            <a:pPr marL="0" indent="0" algn="ctr">
              <a:buNone/>
            </a:pPr>
            <a:r>
              <a:rPr lang="en-US" sz="1300" b="1" dirty="0">
                <a:solidFill>
                  <a:srgbClr val="00C2A8"/>
                </a:solidFill>
                <a:latin typeface="Cambria" pitchFamily="34" charset="0"/>
                <a:ea typeface="Cambria" pitchFamily="34" charset="-122"/>
                <a:cs typeface="Cambria" pitchFamily="34" charset="-120"/>
              </a:rPr>
              <a:t>3</a:t>
            </a:r>
            <a:endParaRPr lang="en-US" sz="1300" dirty="0"/>
          </a:p>
        </p:txBody>
      </p:sp>
      <p:sp>
        <p:nvSpPr>
          <p:cNvPr id="18" name="Text 15"/>
          <p:cNvSpPr/>
          <p:nvPr/>
        </p:nvSpPr>
        <p:spPr>
          <a:xfrm>
            <a:off x="1188720" y="3154680"/>
            <a:ext cx="2834640" cy="457200"/>
          </a:xfrm>
          <a:prstGeom prst="rect">
            <a:avLst/>
          </a:prstGeom>
          <a:noFill/>
          <a:ln/>
        </p:spPr>
        <p:txBody>
          <a:bodyPr wrap="square" lIns="0" tIns="0" rIns="0" bIns="0" rtlCol="0" anchor="t"/>
          <a:lstStyle/>
          <a:p>
            <a:pPr marL="0" indent="0">
              <a:buNone/>
            </a:pPr>
            <a:r>
              <a:rPr lang="en-US" sz="1150" b="1" dirty="0">
                <a:solidFill>
                  <a:srgbClr val="0B0B0C"/>
                </a:solidFill>
                <a:latin typeface="Calibri" pitchFamily="34" charset="0"/>
                <a:ea typeface="Calibri" pitchFamily="34" charset="-122"/>
                <a:cs typeface="Calibri" pitchFamily="34" charset="-120"/>
              </a:rPr>
              <a:t>UX regression</a:t>
            </a:r>
            <a:endParaRPr lang="en-US" sz="1150" dirty="0"/>
          </a:p>
        </p:txBody>
      </p:sp>
      <p:sp>
        <p:nvSpPr>
          <p:cNvPr id="19" name="Text 16"/>
          <p:cNvSpPr/>
          <p:nvPr/>
        </p:nvSpPr>
        <p:spPr>
          <a:xfrm>
            <a:off x="4160520" y="3154680"/>
            <a:ext cx="3749040" cy="457200"/>
          </a:xfrm>
          <a:prstGeom prst="rect">
            <a:avLst/>
          </a:prstGeom>
          <a:noFill/>
          <a:ln/>
        </p:spPr>
        <p:txBody>
          <a:bodyPr wrap="square" lIns="0" tIns="0" rIns="0" bIns="0" rtlCol="0" anchor="t"/>
          <a:lstStyle/>
          <a:p>
            <a:pPr marL="0" indent="0">
              <a:lnSpc>
                <a:spcPct val="110000"/>
              </a:lnSpc>
              <a:buNone/>
            </a:pPr>
            <a:r>
              <a:rPr lang="en-US" sz="980" dirty="0">
                <a:solidFill>
                  <a:srgbClr val="6B6B70"/>
                </a:solidFill>
                <a:latin typeface="Calibri" pitchFamily="34" charset="0"/>
                <a:ea typeface="Calibri" pitchFamily="34" charset="-122"/>
                <a:cs typeface="Calibri" pitchFamily="34" charset="-120"/>
              </a:rPr>
              <a:t>An app update changed a toggle default or broke a step in the Hub funnel.</a:t>
            </a:r>
            <a:endParaRPr lang="en-US" sz="980" dirty="0"/>
          </a:p>
        </p:txBody>
      </p:sp>
      <p:sp>
        <p:nvSpPr>
          <p:cNvPr id="20" name="Text 17"/>
          <p:cNvSpPr/>
          <p:nvPr/>
        </p:nvSpPr>
        <p:spPr>
          <a:xfrm>
            <a:off x="8046720" y="3154680"/>
            <a:ext cx="3474720" cy="457200"/>
          </a:xfrm>
          <a:prstGeom prst="rect">
            <a:avLst/>
          </a:prstGeom>
          <a:noFill/>
          <a:ln/>
        </p:spPr>
        <p:txBody>
          <a:bodyPr wrap="square" lIns="0" tIns="0" rIns="0" bIns="0" rtlCol="0" anchor="t"/>
          <a:lstStyle/>
          <a:p>
            <a:pPr marL="0" indent="0">
              <a:lnSpc>
                <a:spcPct val="110000"/>
              </a:lnSpc>
              <a:buNone/>
            </a:pPr>
            <a:r>
              <a:rPr lang="en-US" sz="980" i="1" dirty="0">
                <a:solidFill>
                  <a:srgbClr val="00806E"/>
                </a:solidFill>
                <a:latin typeface="Calibri" pitchFamily="34" charset="0"/>
                <a:ea typeface="Calibri" pitchFamily="34" charset="-122"/>
                <a:cs typeface="Calibri" pitchFamily="34" charset="-120"/>
              </a:rPr>
              <a:t>Segment by app version/OS; inspect funnel step-by-step drop-off and crash logs.</a:t>
            </a:r>
            <a:endParaRPr lang="en-US" sz="980" dirty="0"/>
          </a:p>
        </p:txBody>
      </p:sp>
      <p:sp>
        <p:nvSpPr>
          <p:cNvPr id="21" name="Shape 18"/>
          <p:cNvSpPr/>
          <p:nvPr/>
        </p:nvSpPr>
        <p:spPr>
          <a:xfrm>
            <a:off x="640080" y="3877056"/>
            <a:ext cx="384048" cy="384048"/>
          </a:xfrm>
          <a:prstGeom prst="ellipse">
            <a:avLst/>
          </a:prstGeom>
          <a:solidFill>
            <a:srgbClr val="0B0B0C"/>
          </a:solidFill>
          <a:ln/>
        </p:spPr>
        <p:txBody>
          <a:bodyPr/>
          <a:lstStyle/>
          <a:p>
            <a:endParaRPr lang="en-IN"/>
          </a:p>
        </p:txBody>
      </p:sp>
      <p:sp>
        <p:nvSpPr>
          <p:cNvPr id="22" name="Text 19"/>
          <p:cNvSpPr/>
          <p:nvPr/>
        </p:nvSpPr>
        <p:spPr>
          <a:xfrm>
            <a:off x="640080" y="3877056"/>
            <a:ext cx="384048" cy="384048"/>
          </a:xfrm>
          <a:prstGeom prst="rect">
            <a:avLst/>
          </a:prstGeom>
          <a:noFill/>
          <a:ln/>
        </p:spPr>
        <p:txBody>
          <a:bodyPr wrap="square" lIns="0" tIns="0" rIns="0" bIns="0" rtlCol="0" anchor="ctr"/>
          <a:lstStyle/>
          <a:p>
            <a:pPr marL="0" indent="0" algn="ctr">
              <a:buNone/>
            </a:pPr>
            <a:r>
              <a:rPr lang="en-US" sz="1300" b="1" dirty="0">
                <a:solidFill>
                  <a:srgbClr val="00C2A8"/>
                </a:solidFill>
                <a:latin typeface="Cambria" pitchFamily="34" charset="0"/>
                <a:ea typeface="Cambria" pitchFamily="34" charset="-122"/>
                <a:cs typeface="Cambria" pitchFamily="34" charset="-120"/>
              </a:rPr>
              <a:t>4</a:t>
            </a:r>
            <a:endParaRPr lang="en-US" sz="1300" dirty="0"/>
          </a:p>
        </p:txBody>
      </p:sp>
      <p:sp>
        <p:nvSpPr>
          <p:cNvPr id="23" name="Text 20"/>
          <p:cNvSpPr/>
          <p:nvPr/>
        </p:nvSpPr>
        <p:spPr>
          <a:xfrm>
            <a:off x="1188720" y="3840480"/>
            <a:ext cx="2834640" cy="457200"/>
          </a:xfrm>
          <a:prstGeom prst="rect">
            <a:avLst/>
          </a:prstGeom>
          <a:noFill/>
          <a:ln/>
        </p:spPr>
        <p:txBody>
          <a:bodyPr wrap="square" lIns="0" tIns="0" rIns="0" bIns="0" rtlCol="0" anchor="t"/>
          <a:lstStyle/>
          <a:p>
            <a:pPr marL="0" indent="0">
              <a:buNone/>
            </a:pPr>
            <a:r>
              <a:rPr lang="en-US" sz="1150" b="1" dirty="0">
                <a:solidFill>
                  <a:srgbClr val="0B0B0C"/>
                </a:solidFill>
                <a:latin typeface="Calibri" pitchFamily="34" charset="0"/>
                <a:ea typeface="Calibri" pitchFamily="34" charset="-122"/>
                <a:cs typeface="Calibri" pitchFamily="34" charset="-120"/>
              </a:rPr>
              <a:t>Consent expiry batch</a:t>
            </a:r>
            <a:endParaRPr lang="en-US" sz="1150" dirty="0"/>
          </a:p>
        </p:txBody>
      </p:sp>
      <p:sp>
        <p:nvSpPr>
          <p:cNvPr id="24" name="Text 21"/>
          <p:cNvSpPr/>
          <p:nvPr/>
        </p:nvSpPr>
        <p:spPr>
          <a:xfrm>
            <a:off x="4160520" y="3840480"/>
            <a:ext cx="3749040" cy="457200"/>
          </a:xfrm>
          <a:prstGeom prst="rect">
            <a:avLst/>
          </a:prstGeom>
          <a:noFill/>
          <a:ln/>
        </p:spPr>
        <p:txBody>
          <a:bodyPr wrap="square" lIns="0" tIns="0" rIns="0" bIns="0" rtlCol="0" anchor="t"/>
          <a:lstStyle/>
          <a:p>
            <a:pPr marL="0" indent="0">
              <a:lnSpc>
                <a:spcPct val="110000"/>
              </a:lnSpc>
              <a:buNone/>
            </a:pPr>
            <a:r>
              <a:rPr lang="en-US" sz="980" dirty="0">
                <a:solidFill>
                  <a:srgbClr val="6B6B70"/>
                </a:solidFill>
                <a:latin typeface="Calibri" pitchFamily="34" charset="0"/>
                <a:ea typeface="Calibri" pitchFamily="34" charset="-122"/>
                <a:cs typeface="Calibri" pitchFamily="34" charset="-120"/>
              </a:rPr>
              <a:t>A TTL on a purpose-consent expired for a large cohort simultaneously.</a:t>
            </a:r>
            <a:endParaRPr lang="en-US" sz="980" dirty="0"/>
          </a:p>
        </p:txBody>
      </p:sp>
      <p:sp>
        <p:nvSpPr>
          <p:cNvPr id="25" name="Text 22"/>
          <p:cNvSpPr/>
          <p:nvPr/>
        </p:nvSpPr>
        <p:spPr>
          <a:xfrm>
            <a:off x="8046720" y="3840480"/>
            <a:ext cx="3474720" cy="457200"/>
          </a:xfrm>
          <a:prstGeom prst="rect">
            <a:avLst/>
          </a:prstGeom>
          <a:noFill/>
          <a:ln/>
        </p:spPr>
        <p:txBody>
          <a:bodyPr wrap="square" lIns="0" tIns="0" rIns="0" bIns="0" rtlCol="0" anchor="t"/>
          <a:lstStyle/>
          <a:p>
            <a:pPr marL="0" indent="0">
              <a:lnSpc>
                <a:spcPct val="110000"/>
              </a:lnSpc>
              <a:buNone/>
            </a:pPr>
            <a:r>
              <a:rPr lang="en-US" sz="980" i="1" dirty="0">
                <a:solidFill>
                  <a:srgbClr val="00806E"/>
                </a:solidFill>
                <a:latin typeface="Calibri" pitchFamily="34" charset="0"/>
                <a:ea typeface="Calibri" pitchFamily="34" charset="-122"/>
                <a:cs typeface="Calibri" pitchFamily="34" charset="-120"/>
              </a:rPr>
              <a:t>Check the consent-expiry batch job logs and timestamp clustering.</a:t>
            </a:r>
            <a:endParaRPr lang="en-US" sz="980" dirty="0"/>
          </a:p>
        </p:txBody>
      </p:sp>
      <p:sp>
        <p:nvSpPr>
          <p:cNvPr id="26" name="Shape 23"/>
          <p:cNvSpPr/>
          <p:nvPr/>
        </p:nvSpPr>
        <p:spPr>
          <a:xfrm>
            <a:off x="640080" y="4562856"/>
            <a:ext cx="384048" cy="384048"/>
          </a:xfrm>
          <a:prstGeom prst="ellipse">
            <a:avLst/>
          </a:prstGeom>
          <a:solidFill>
            <a:srgbClr val="0B0B0C"/>
          </a:solidFill>
          <a:ln/>
        </p:spPr>
        <p:txBody>
          <a:bodyPr/>
          <a:lstStyle/>
          <a:p>
            <a:endParaRPr lang="en-IN"/>
          </a:p>
        </p:txBody>
      </p:sp>
      <p:sp>
        <p:nvSpPr>
          <p:cNvPr id="27" name="Text 24"/>
          <p:cNvSpPr/>
          <p:nvPr/>
        </p:nvSpPr>
        <p:spPr>
          <a:xfrm>
            <a:off x="640080" y="4562856"/>
            <a:ext cx="384048" cy="384048"/>
          </a:xfrm>
          <a:prstGeom prst="rect">
            <a:avLst/>
          </a:prstGeom>
          <a:noFill/>
          <a:ln/>
        </p:spPr>
        <p:txBody>
          <a:bodyPr wrap="square" lIns="0" tIns="0" rIns="0" bIns="0" rtlCol="0" anchor="ctr"/>
          <a:lstStyle/>
          <a:p>
            <a:pPr marL="0" indent="0" algn="ctr">
              <a:buNone/>
            </a:pPr>
            <a:r>
              <a:rPr lang="en-US" sz="1300" b="1" dirty="0">
                <a:solidFill>
                  <a:srgbClr val="00C2A8"/>
                </a:solidFill>
                <a:latin typeface="Cambria" pitchFamily="34" charset="0"/>
                <a:ea typeface="Cambria" pitchFamily="34" charset="-122"/>
                <a:cs typeface="Cambria" pitchFamily="34" charset="-120"/>
              </a:rPr>
              <a:t>5</a:t>
            </a:r>
            <a:endParaRPr lang="en-US" sz="1300" dirty="0"/>
          </a:p>
        </p:txBody>
      </p:sp>
      <p:sp>
        <p:nvSpPr>
          <p:cNvPr id="28" name="Text 25"/>
          <p:cNvSpPr/>
          <p:nvPr/>
        </p:nvSpPr>
        <p:spPr>
          <a:xfrm>
            <a:off x="1188720" y="4526280"/>
            <a:ext cx="2834640" cy="457200"/>
          </a:xfrm>
          <a:prstGeom prst="rect">
            <a:avLst/>
          </a:prstGeom>
          <a:noFill/>
          <a:ln/>
        </p:spPr>
        <p:txBody>
          <a:bodyPr wrap="square" lIns="0" tIns="0" rIns="0" bIns="0" rtlCol="0" anchor="t"/>
          <a:lstStyle/>
          <a:p>
            <a:pPr marL="0" indent="0">
              <a:buNone/>
            </a:pPr>
            <a:r>
              <a:rPr lang="en-US" sz="1150" b="1" dirty="0">
                <a:solidFill>
                  <a:srgbClr val="0B0B0C"/>
                </a:solidFill>
                <a:latin typeface="Calibri" pitchFamily="34" charset="0"/>
                <a:ea typeface="Calibri" pitchFamily="34" charset="-122"/>
                <a:cs typeface="Calibri" pitchFamily="34" charset="-120"/>
              </a:rPr>
              <a:t>External trust event</a:t>
            </a:r>
            <a:endParaRPr lang="en-US" sz="1150" dirty="0"/>
          </a:p>
        </p:txBody>
      </p:sp>
      <p:sp>
        <p:nvSpPr>
          <p:cNvPr id="29" name="Text 26"/>
          <p:cNvSpPr/>
          <p:nvPr/>
        </p:nvSpPr>
        <p:spPr>
          <a:xfrm>
            <a:off x="4160520" y="4526280"/>
            <a:ext cx="3749040" cy="457200"/>
          </a:xfrm>
          <a:prstGeom prst="rect">
            <a:avLst/>
          </a:prstGeom>
          <a:noFill/>
          <a:ln/>
        </p:spPr>
        <p:txBody>
          <a:bodyPr wrap="square" lIns="0" tIns="0" rIns="0" bIns="0" rtlCol="0" anchor="t"/>
          <a:lstStyle/>
          <a:p>
            <a:pPr marL="0" indent="0">
              <a:lnSpc>
                <a:spcPct val="110000"/>
              </a:lnSpc>
              <a:buNone/>
            </a:pPr>
            <a:r>
              <a:rPr lang="en-US" sz="980" dirty="0">
                <a:solidFill>
                  <a:srgbClr val="6B6B70"/>
                </a:solidFill>
                <a:latin typeface="Calibri" pitchFamily="34" charset="0"/>
                <a:ea typeface="Calibri" pitchFamily="34" charset="-122"/>
                <a:cs typeface="Calibri" pitchFamily="34" charset="-120"/>
              </a:rPr>
              <a:t>A data-breach news cycle triggered a wave of manual withdrawals.</a:t>
            </a:r>
            <a:endParaRPr lang="en-US" sz="980" dirty="0"/>
          </a:p>
        </p:txBody>
      </p:sp>
      <p:sp>
        <p:nvSpPr>
          <p:cNvPr id="30" name="Text 27"/>
          <p:cNvSpPr/>
          <p:nvPr/>
        </p:nvSpPr>
        <p:spPr>
          <a:xfrm>
            <a:off x="8046720" y="4526280"/>
            <a:ext cx="3474720" cy="457200"/>
          </a:xfrm>
          <a:prstGeom prst="rect">
            <a:avLst/>
          </a:prstGeom>
          <a:noFill/>
          <a:ln/>
        </p:spPr>
        <p:txBody>
          <a:bodyPr wrap="square" lIns="0" tIns="0" rIns="0" bIns="0" rtlCol="0" anchor="t"/>
          <a:lstStyle/>
          <a:p>
            <a:pPr marL="0" indent="0">
              <a:lnSpc>
                <a:spcPct val="110000"/>
              </a:lnSpc>
              <a:buNone/>
            </a:pPr>
            <a:r>
              <a:rPr lang="en-US" sz="980" i="1" dirty="0">
                <a:solidFill>
                  <a:srgbClr val="00806E"/>
                </a:solidFill>
                <a:latin typeface="Calibri" pitchFamily="34" charset="0"/>
                <a:ea typeface="Calibri" pitchFamily="34" charset="-122"/>
                <a:cs typeface="Calibri" pitchFamily="34" charset="-120"/>
              </a:rPr>
              <a:t>Correlate withdrawal timestamps with news/social-listening timeline.</a:t>
            </a:r>
            <a:endParaRPr lang="en-US" sz="980" dirty="0"/>
          </a:p>
        </p:txBody>
      </p:sp>
      <p:sp>
        <p:nvSpPr>
          <p:cNvPr id="31" name="Shape 28"/>
          <p:cNvSpPr/>
          <p:nvPr/>
        </p:nvSpPr>
        <p:spPr>
          <a:xfrm>
            <a:off x="640080" y="5577840"/>
            <a:ext cx="10881360" cy="868680"/>
          </a:xfrm>
          <a:prstGeom prst="roundRect">
            <a:avLst>
              <a:gd name="adj" fmla="val 8421"/>
            </a:avLst>
          </a:prstGeom>
          <a:solidFill>
            <a:srgbClr val="0B0B0C"/>
          </a:solidFill>
          <a:ln/>
          <a:effectLst>
            <a:outerShdw blurRad="101600" dist="38100" dir="2700000" algn="bl" rotWithShape="0">
              <a:srgbClr val="000000">
                <a:alpha val="12000"/>
              </a:srgbClr>
            </a:outerShdw>
          </a:effectLst>
        </p:spPr>
        <p:txBody>
          <a:bodyPr/>
          <a:lstStyle/>
          <a:p>
            <a:endParaRPr lang="en-IN"/>
          </a:p>
        </p:txBody>
      </p:sp>
      <p:sp>
        <p:nvSpPr>
          <p:cNvPr id="32" name="Text 29"/>
          <p:cNvSpPr/>
          <p:nvPr/>
        </p:nvSpPr>
        <p:spPr>
          <a:xfrm>
            <a:off x="914400" y="5687568"/>
            <a:ext cx="3657600" cy="256032"/>
          </a:xfrm>
          <a:prstGeom prst="rect">
            <a:avLst/>
          </a:prstGeom>
          <a:noFill/>
          <a:ln/>
        </p:spPr>
        <p:txBody>
          <a:bodyPr wrap="square" rtlCol="0" anchor="ctr"/>
          <a:lstStyle/>
          <a:p>
            <a:pPr marL="0" indent="0">
              <a:buNone/>
            </a:pPr>
            <a:r>
              <a:rPr lang="en-US" sz="950" b="1" kern="0" spc="200" dirty="0">
                <a:solidFill>
                  <a:srgbClr val="00C2A8"/>
                </a:solidFill>
                <a:latin typeface="Calibri" pitchFamily="34" charset="0"/>
                <a:ea typeface="Calibri" pitchFamily="34" charset="-122"/>
                <a:cs typeface="Calibri" pitchFamily="34" charset="-120"/>
              </a:rPr>
              <a:t>ROOT-CAUSE NARROWING</a:t>
            </a:r>
            <a:endParaRPr lang="en-US" sz="950" dirty="0"/>
          </a:p>
        </p:txBody>
      </p:sp>
      <p:sp>
        <p:nvSpPr>
          <p:cNvPr id="33" name="Text 30"/>
          <p:cNvSpPr/>
          <p:nvPr/>
        </p:nvSpPr>
        <p:spPr>
          <a:xfrm>
            <a:off x="914400" y="5943600"/>
            <a:ext cx="10332720" cy="457200"/>
          </a:xfrm>
          <a:prstGeom prst="rect">
            <a:avLst/>
          </a:prstGeom>
          <a:noFill/>
          <a:ln/>
        </p:spPr>
        <p:txBody>
          <a:bodyPr wrap="square" rtlCol="0" anchor="ctr"/>
          <a:lstStyle/>
          <a:p>
            <a:pPr marL="0" indent="0">
              <a:lnSpc>
                <a:spcPct val="115000"/>
              </a:lnSpc>
              <a:buNone/>
            </a:pPr>
            <a:r>
              <a:rPr lang="en-US" sz="1000" dirty="0">
                <a:solidFill>
                  <a:srgbClr val="F7F7F5"/>
                </a:solidFill>
                <a:latin typeface="Calibri" pitchFamily="34" charset="0"/>
                <a:ea typeface="Calibri" pitchFamily="34" charset="-122"/>
                <a:cs typeface="Calibri" pitchFamily="34" charset="-120"/>
              </a:rPr>
              <a:t>Drop concentrated in existing iOS users right after an app-store release → ship bug. Concentrated in one new city → onboarding/localisation. Uniform + spike in withdrawal events → trust/PR event. Fix, rollback, or targeted re-engagement follows from which pattern the data shows.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C"/>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Executive Dashboard (mock data)</a:t>
            </a:r>
            <a:endParaRPr lang="en-US" sz="2600" dirty="0"/>
          </a:p>
        </p:txBody>
      </p:sp>
      <p:sp>
        <p:nvSpPr>
          <p:cNvPr id="3" name="Shape 1"/>
          <p:cNvSpPr/>
          <p:nvPr/>
        </p:nvSpPr>
        <p:spPr>
          <a:xfrm>
            <a:off x="640080" y="1051560"/>
            <a:ext cx="6583680" cy="2606040"/>
          </a:xfrm>
          <a:prstGeom prst="roundRect">
            <a:avLst>
              <a:gd name="adj" fmla="val 2456"/>
            </a:avLst>
          </a:prstGeom>
          <a:solidFill>
            <a:srgbClr val="1B1B1D"/>
          </a:solidFill>
          <a:ln/>
        </p:spPr>
        <p:txBody>
          <a:bodyPr/>
          <a:lstStyle/>
          <a:p>
            <a:endParaRPr lang="en-IN"/>
          </a:p>
        </p:txBody>
      </p:sp>
      <p:sp>
        <p:nvSpPr>
          <p:cNvPr id="4" name="Text 2"/>
          <p:cNvSpPr/>
          <p:nvPr/>
        </p:nvSpPr>
        <p:spPr>
          <a:xfrm>
            <a:off x="868680" y="1188720"/>
            <a:ext cx="4572000" cy="274320"/>
          </a:xfrm>
          <a:prstGeom prst="rect">
            <a:avLst/>
          </a:prstGeom>
          <a:noFill/>
          <a:ln/>
        </p:spPr>
        <p:txBody>
          <a:bodyPr wrap="square" rtlCol="0" anchor="ctr"/>
          <a:lstStyle/>
          <a:p>
            <a:pPr marL="0" indent="0">
              <a:buNone/>
            </a:pPr>
            <a:r>
              <a:rPr lang="en-US" sz="1000" b="1" kern="0" spc="150" dirty="0">
                <a:solidFill>
                  <a:srgbClr val="00C2A8"/>
                </a:solidFill>
                <a:latin typeface="Calibri" pitchFamily="34" charset="0"/>
                <a:ea typeface="Calibri" pitchFamily="34" charset="-122"/>
                <a:cs typeface="Calibri" pitchFamily="34" charset="-120"/>
              </a:rPr>
              <a:t>VCCR — 8-WEEK TREND</a:t>
            </a:r>
            <a:endParaRPr lang="en-US" sz="1000" dirty="0"/>
          </a:p>
        </p:txBody>
      </p:sp>
      <p:graphicFrame>
        <p:nvGraphicFramePr>
          <p:cNvPr id="5" name="Chart 0"/>
          <p:cNvGraphicFramePr/>
          <p:nvPr/>
        </p:nvGraphicFramePr>
        <p:xfrm>
          <a:off x="777240" y="1508760"/>
          <a:ext cx="630936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06640" y="1051560"/>
            <a:ext cx="4114800" cy="2606040"/>
          </a:xfrm>
          <a:prstGeom prst="roundRect">
            <a:avLst>
              <a:gd name="adj" fmla="val 2456"/>
            </a:avLst>
          </a:prstGeom>
          <a:solidFill>
            <a:srgbClr val="1B1B1D"/>
          </a:solidFill>
          <a:ln/>
        </p:spPr>
        <p:txBody>
          <a:bodyPr/>
          <a:lstStyle/>
          <a:p>
            <a:endParaRPr lang="en-IN"/>
          </a:p>
        </p:txBody>
      </p:sp>
      <p:sp>
        <p:nvSpPr>
          <p:cNvPr id="7" name="Text 4"/>
          <p:cNvSpPr/>
          <p:nvPr/>
        </p:nvSpPr>
        <p:spPr>
          <a:xfrm>
            <a:off x="7635240" y="1188720"/>
            <a:ext cx="3657600" cy="274320"/>
          </a:xfrm>
          <a:prstGeom prst="rect">
            <a:avLst/>
          </a:prstGeom>
          <a:noFill/>
          <a:ln/>
        </p:spPr>
        <p:txBody>
          <a:bodyPr wrap="square" rtlCol="0" anchor="ctr"/>
          <a:lstStyle/>
          <a:p>
            <a:pPr marL="0" indent="0">
              <a:buNone/>
            </a:pPr>
            <a:r>
              <a:rPr lang="en-US" sz="1000" b="1" kern="0" spc="150" dirty="0">
                <a:solidFill>
                  <a:srgbClr val="00C2A8"/>
                </a:solidFill>
                <a:latin typeface="Calibri" pitchFamily="34" charset="0"/>
                <a:ea typeface="Calibri" pitchFamily="34" charset="-122"/>
                <a:cs typeface="Calibri" pitchFamily="34" charset="-120"/>
              </a:rPr>
              <a:t>CONSENT FUNNEL</a:t>
            </a:r>
            <a:endParaRPr lang="en-US" sz="1000" dirty="0"/>
          </a:p>
        </p:txBody>
      </p:sp>
      <p:graphicFrame>
        <p:nvGraphicFramePr>
          <p:cNvPr id="8" name="Chart 1"/>
          <p:cNvGraphicFramePr/>
          <p:nvPr/>
        </p:nvGraphicFramePr>
        <p:xfrm>
          <a:off x="7543800" y="1508760"/>
          <a:ext cx="3794760" cy="201168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640080" y="3840480"/>
            <a:ext cx="10881360" cy="2331720"/>
          </a:xfrm>
          <a:prstGeom prst="roundRect">
            <a:avLst>
              <a:gd name="adj" fmla="val 2745"/>
            </a:avLst>
          </a:prstGeom>
          <a:solidFill>
            <a:srgbClr val="1B1B1D"/>
          </a:solidFill>
          <a:ln/>
        </p:spPr>
        <p:txBody>
          <a:bodyPr/>
          <a:lstStyle/>
          <a:p>
            <a:endParaRPr lang="en-IN"/>
          </a:p>
        </p:txBody>
      </p:sp>
      <p:sp>
        <p:nvSpPr>
          <p:cNvPr id="10" name="Text 6"/>
          <p:cNvSpPr/>
          <p:nvPr/>
        </p:nvSpPr>
        <p:spPr>
          <a:xfrm>
            <a:off x="868680" y="3977640"/>
            <a:ext cx="7315200" cy="274320"/>
          </a:xfrm>
          <a:prstGeom prst="rect">
            <a:avLst/>
          </a:prstGeom>
          <a:noFill/>
          <a:ln/>
        </p:spPr>
        <p:txBody>
          <a:bodyPr wrap="square" rtlCol="0" anchor="ctr"/>
          <a:lstStyle/>
          <a:p>
            <a:pPr marL="0" indent="0">
              <a:buNone/>
            </a:pPr>
            <a:r>
              <a:rPr lang="en-US" sz="1000" b="1" kern="0" spc="150" dirty="0">
                <a:solidFill>
                  <a:srgbClr val="00C2A8"/>
                </a:solidFill>
                <a:latin typeface="Calibri" pitchFamily="34" charset="0"/>
                <a:ea typeface="Calibri" pitchFamily="34" charset="-122"/>
                <a:cs typeface="Calibri" pitchFamily="34" charset="-120"/>
              </a:rPr>
              <a:t>SEGMENTATION — VCCR BY CITY, PLATFORM, AGE BAND</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68680" y="4315968"/>
          <a:ext cx="10424160" cy="1792224"/>
        </p:xfrm>
        <a:graphic>
          <a:graphicData uri="http://schemas.openxmlformats.org/drawingml/2006/table">
            <a:tbl>
              <a:tblPr/>
              <a:tblGrid>
                <a:gridCol w="29260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tblGrid>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Segment</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VCCR</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WoW Δ</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Notes</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0"/>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Bengaluru</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93%</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Launch city — stable</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1"/>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Mumbai</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+0.8</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On track</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2"/>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Delhi NCR</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Watch — below target</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3"/>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iOS</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+0.5</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Nominal</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4"/>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Android</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Post-update dip, investigating</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5"/>
                  </a:ext>
                </a:extLst>
              </a:tr>
              <a:tr h="256032">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Age 18–24</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tc>
                  <a:txBody>
                    <a:bodyPr/>
                    <a:lstStyle/>
                    <a:p>
                      <a:pPr marL="0" indent="0">
                        <a:buNone/>
                      </a:pPr>
                      <a:r>
                        <a:rPr lang="en-US" sz="1000" dirty="0">
                          <a:solidFill>
                            <a:srgbClr val="FFFFFF"/>
                          </a:solidFill>
                          <a:latin typeface="Calibri" pitchFamily="34" charset="0"/>
                          <a:ea typeface="Calibri" pitchFamily="34" charset="-122"/>
                          <a:cs typeface="Calibri" pitchFamily="34" charset="-120"/>
                        </a:rPr>
                        <a:t>Lower Hub engagement</a:t>
                      </a:r>
                      <a:endParaRPr lang="en-US" sz="1000" dirty="0">
                        <a:latin typeface="Calibri" charset="0"/>
                        <a:ea typeface="Calibri" charset="0"/>
                        <a:cs typeface="Calibri" charset="0"/>
                      </a:endParaRPr>
                    </a:p>
                  </a:txBody>
                  <a:tcPr>
                    <a:lnL w="6350" cap="flat" cmpd="sng" algn="ctr">
                      <a:solidFill>
                        <a:srgbClr val="2A2A2C"/>
                      </a:solidFill>
                      <a:prstDash val="solid"/>
                      <a:round/>
                      <a:headEnd type="none" w="med" len="med"/>
                      <a:tailEnd type="none" w="med" len="med"/>
                    </a:lnL>
                    <a:lnR w="6350" cap="flat" cmpd="sng" algn="ctr">
                      <a:solidFill>
                        <a:srgbClr val="2A2A2C"/>
                      </a:solidFill>
                      <a:prstDash val="solid"/>
                      <a:round/>
                      <a:headEnd type="none" w="med" len="med"/>
                      <a:tailEnd type="none" w="med" len="med"/>
                    </a:lnR>
                    <a:lnT w="6350" cap="flat" cmpd="sng" algn="ctr">
                      <a:solidFill>
                        <a:srgbClr val="2A2A2C"/>
                      </a:solidFill>
                      <a:prstDash val="solid"/>
                      <a:round/>
                      <a:headEnd type="none" w="med" len="med"/>
                      <a:tailEnd type="none" w="med" len="med"/>
                    </a:lnT>
                    <a:lnB w="6350" cap="flat" cmpd="sng" algn="ctr">
                      <a:solidFill>
                        <a:srgbClr val="2A2A2C"/>
                      </a:solidFill>
                      <a:prstDash val="solid"/>
                      <a:round/>
                      <a:headEnd type="none" w="med" len="med"/>
                      <a:tailEnd type="none" w="med" len="med"/>
                    </a:lnB>
                    <a:solidFill>
                      <a:srgbClr val="1B1B1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02920"/>
          </a:xfrm>
          <a:prstGeom prst="rect">
            <a:avLst/>
          </a:prstGeom>
          <a:noFill/>
          <a:ln/>
        </p:spPr>
        <p:txBody>
          <a:bodyPr wrap="square" rtlCol="0" anchor="ctr"/>
          <a:lstStyle/>
          <a:p>
            <a:pPr marL="0" indent="0">
              <a:buNone/>
            </a:pPr>
            <a:r>
              <a:rPr lang="en-US" sz="2800" b="1" dirty="0">
                <a:solidFill>
                  <a:srgbClr val="0B0B0C"/>
                </a:solidFill>
                <a:latin typeface="Cambria" pitchFamily="34" charset="0"/>
                <a:ea typeface="Cambria" pitchFamily="34" charset="-122"/>
                <a:cs typeface="Cambria" pitchFamily="34" charset="-120"/>
              </a:rPr>
              <a:t>Rollout, Risks &amp; Trade-offs</a:t>
            </a:r>
            <a:endParaRPr lang="en-US" sz="2800" dirty="0"/>
          </a:p>
        </p:txBody>
      </p:sp>
      <p:sp>
        <p:nvSpPr>
          <p:cNvPr id="3" name="Shape 1"/>
          <p:cNvSpPr/>
          <p:nvPr/>
        </p:nvSpPr>
        <p:spPr>
          <a:xfrm>
            <a:off x="640080" y="1143000"/>
            <a:ext cx="1956816" cy="731520"/>
          </a:xfrm>
          <a:prstGeom prst="roundRect">
            <a:avLst>
              <a:gd name="adj" fmla="val 50000"/>
            </a:avLst>
          </a:prstGeom>
          <a:solidFill>
            <a:srgbClr val="0B0B0C"/>
          </a:solidFill>
          <a:ln/>
        </p:spPr>
        <p:txBody>
          <a:bodyPr/>
          <a:lstStyle/>
          <a:p>
            <a:endParaRPr lang="en-IN"/>
          </a:p>
        </p:txBody>
      </p:sp>
      <p:sp>
        <p:nvSpPr>
          <p:cNvPr id="4" name="Text 2"/>
          <p:cNvSpPr/>
          <p:nvPr/>
        </p:nvSpPr>
        <p:spPr>
          <a:xfrm>
            <a:off x="640080" y="1143000"/>
            <a:ext cx="1956816" cy="731520"/>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Dogfood</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(employees, 1 wk)</a:t>
            </a:r>
            <a:endParaRPr lang="en-US" sz="950" dirty="0"/>
          </a:p>
        </p:txBody>
      </p:sp>
      <p:sp>
        <p:nvSpPr>
          <p:cNvPr id="5" name="Text 3"/>
          <p:cNvSpPr/>
          <p:nvPr/>
        </p:nvSpPr>
        <p:spPr>
          <a:xfrm>
            <a:off x="2596896" y="1143000"/>
            <a:ext cx="274320" cy="73152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6" name="Shape 4"/>
          <p:cNvSpPr/>
          <p:nvPr/>
        </p:nvSpPr>
        <p:spPr>
          <a:xfrm>
            <a:off x="2871216" y="1143000"/>
            <a:ext cx="1956816" cy="731520"/>
          </a:xfrm>
          <a:prstGeom prst="roundRect">
            <a:avLst>
              <a:gd name="adj" fmla="val 50000"/>
            </a:avLst>
          </a:prstGeom>
          <a:solidFill>
            <a:srgbClr val="0B0B0C"/>
          </a:solidFill>
          <a:ln/>
        </p:spPr>
        <p:txBody>
          <a:bodyPr/>
          <a:lstStyle/>
          <a:p>
            <a:endParaRPr lang="en-IN"/>
          </a:p>
        </p:txBody>
      </p:sp>
      <p:sp>
        <p:nvSpPr>
          <p:cNvPr id="7" name="Text 5"/>
          <p:cNvSpPr/>
          <p:nvPr/>
        </p:nvSpPr>
        <p:spPr>
          <a:xfrm>
            <a:off x="2871216" y="1143000"/>
            <a:ext cx="1956816" cy="731520"/>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Bengaluru</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beta — 5%</a:t>
            </a:r>
            <a:endParaRPr lang="en-US" sz="950" dirty="0"/>
          </a:p>
        </p:txBody>
      </p:sp>
      <p:sp>
        <p:nvSpPr>
          <p:cNvPr id="8" name="Text 6"/>
          <p:cNvSpPr/>
          <p:nvPr/>
        </p:nvSpPr>
        <p:spPr>
          <a:xfrm>
            <a:off x="4828032" y="1143000"/>
            <a:ext cx="274320" cy="73152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5102352" y="1143000"/>
            <a:ext cx="1956816" cy="731520"/>
          </a:xfrm>
          <a:prstGeom prst="roundRect">
            <a:avLst>
              <a:gd name="adj" fmla="val 50000"/>
            </a:avLst>
          </a:prstGeom>
          <a:solidFill>
            <a:srgbClr val="0B0B0C"/>
          </a:solidFill>
          <a:ln/>
        </p:spPr>
        <p:txBody>
          <a:bodyPr/>
          <a:lstStyle/>
          <a:p>
            <a:endParaRPr lang="en-IN"/>
          </a:p>
        </p:txBody>
      </p:sp>
      <p:sp>
        <p:nvSpPr>
          <p:cNvPr id="10" name="Text 8"/>
          <p:cNvSpPr/>
          <p:nvPr/>
        </p:nvSpPr>
        <p:spPr>
          <a:xfrm>
            <a:off x="5102352" y="1143000"/>
            <a:ext cx="1956816" cy="731520"/>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Mumbai, Delhi</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 20%</a:t>
            </a:r>
            <a:endParaRPr lang="en-US" sz="950" dirty="0"/>
          </a:p>
        </p:txBody>
      </p:sp>
      <p:sp>
        <p:nvSpPr>
          <p:cNvPr id="11" name="Text 9"/>
          <p:cNvSpPr/>
          <p:nvPr/>
        </p:nvSpPr>
        <p:spPr>
          <a:xfrm>
            <a:off x="7059168" y="1143000"/>
            <a:ext cx="274320" cy="73152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7333488" y="1143000"/>
            <a:ext cx="1956816" cy="731520"/>
          </a:xfrm>
          <a:prstGeom prst="roundRect">
            <a:avLst>
              <a:gd name="adj" fmla="val 50000"/>
            </a:avLst>
          </a:prstGeom>
          <a:solidFill>
            <a:srgbClr val="0B0B0C"/>
          </a:solidFill>
          <a:ln/>
        </p:spPr>
        <p:txBody>
          <a:bodyPr/>
          <a:lstStyle/>
          <a:p>
            <a:endParaRPr lang="en-IN"/>
          </a:p>
        </p:txBody>
      </p:sp>
      <p:sp>
        <p:nvSpPr>
          <p:cNvPr id="13" name="Text 11"/>
          <p:cNvSpPr/>
          <p:nvPr/>
        </p:nvSpPr>
        <p:spPr>
          <a:xfrm>
            <a:off x="7333488" y="1143000"/>
            <a:ext cx="1956816" cy="731520"/>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Metro</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India — 50%</a:t>
            </a:r>
            <a:endParaRPr lang="en-US" sz="950" dirty="0"/>
          </a:p>
        </p:txBody>
      </p:sp>
      <p:sp>
        <p:nvSpPr>
          <p:cNvPr id="14" name="Text 12"/>
          <p:cNvSpPr/>
          <p:nvPr/>
        </p:nvSpPr>
        <p:spPr>
          <a:xfrm>
            <a:off x="9290304" y="1143000"/>
            <a:ext cx="274320" cy="731520"/>
          </a:xfrm>
          <a:prstGeom prst="rect">
            <a:avLst/>
          </a:prstGeom>
          <a:noFill/>
          <a:ln/>
        </p:spPr>
        <p:txBody>
          <a:bodyPr wrap="square" lIns="0" tIns="0" rIns="0" bIns="0" rtlCol="0" anchor="ctr"/>
          <a:lstStyle/>
          <a:p>
            <a:pPr marL="0" indent="0" algn="ctr">
              <a:buNone/>
            </a:pPr>
            <a:r>
              <a:rPr lang="en-US" sz="1300" dirty="0">
                <a:solidFill>
                  <a:srgbClr val="9A9A9E"/>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9564624" y="1143000"/>
            <a:ext cx="1956816" cy="731520"/>
          </a:xfrm>
          <a:prstGeom prst="roundRect">
            <a:avLst>
              <a:gd name="adj" fmla="val 50000"/>
            </a:avLst>
          </a:prstGeom>
          <a:solidFill>
            <a:srgbClr val="00C2A8"/>
          </a:solidFill>
          <a:ln/>
        </p:spPr>
        <p:txBody>
          <a:bodyPr/>
          <a:lstStyle/>
          <a:p>
            <a:endParaRPr lang="en-IN"/>
          </a:p>
        </p:txBody>
      </p:sp>
      <p:sp>
        <p:nvSpPr>
          <p:cNvPr id="16" name="Text 14"/>
          <p:cNvSpPr/>
          <p:nvPr/>
        </p:nvSpPr>
        <p:spPr>
          <a:xfrm>
            <a:off x="9564624" y="1143000"/>
            <a:ext cx="1956816" cy="731520"/>
          </a:xfrm>
          <a:prstGeom prst="rect">
            <a:avLst/>
          </a:prstGeom>
          <a:noFill/>
          <a:ln/>
        </p:spPr>
        <p:txBody>
          <a:bodyPr wrap="square" lIns="25400" tIns="25400" rIns="25400" bIns="25400" rtlCol="0" anchor="ctr"/>
          <a:lstStyle/>
          <a:p>
            <a:pPr marL="0" indent="0" algn="ctr">
              <a:buNone/>
            </a:pPr>
            <a:r>
              <a:rPr lang="en-US" sz="950" b="1" dirty="0">
                <a:solidFill>
                  <a:srgbClr val="0B0B0C"/>
                </a:solidFill>
                <a:latin typeface="Calibri" pitchFamily="34" charset="0"/>
                <a:ea typeface="Calibri" pitchFamily="34" charset="-122"/>
                <a:cs typeface="Calibri" pitchFamily="34" charset="-120"/>
              </a:rPr>
              <a:t>National</a:t>
            </a:r>
            <a:endParaRPr lang="en-US" sz="950" dirty="0"/>
          </a:p>
          <a:p>
            <a:pPr marL="0" indent="0" algn="ctr">
              <a:buNone/>
            </a:pPr>
            <a:r>
              <a:rPr lang="en-US" sz="950" b="1" dirty="0">
                <a:solidFill>
                  <a:srgbClr val="0B0B0C"/>
                </a:solidFill>
                <a:latin typeface="Calibri" pitchFamily="34" charset="0"/>
                <a:ea typeface="Calibri" pitchFamily="34" charset="-122"/>
                <a:cs typeface="Calibri" pitchFamily="34" charset="-120"/>
              </a:rPr>
              <a:t>— 100%</a:t>
            </a:r>
            <a:endParaRPr lang="en-US" sz="950" dirty="0"/>
          </a:p>
        </p:txBody>
      </p:sp>
      <p:sp>
        <p:nvSpPr>
          <p:cNvPr id="17" name="Text 15"/>
          <p:cNvSpPr/>
          <p:nvPr/>
        </p:nvSpPr>
        <p:spPr>
          <a:xfrm>
            <a:off x="640080" y="1938528"/>
            <a:ext cx="10515600" cy="274320"/>
          </a:xfrm>
          <a:prstGeom prst="rect">
            <a:avLst/>
          </a:prstGeom>
          <a:noFill/>
          <a:ln/>
        </p:spPr>
        <p:txBody>
          <a:bodyPr wrap="square" rtlCol="0" anchor="ctr"/>
          <a:lstStyle/>
          <a:p>
            <a:pPr marL="0" indent="0">
              <a:buNone/>
            </a:pPr>
            <a:r>
              <a:rPr lang="en-US" sz="1000" i="1" dirty="0">
                <a:solidFill>
                  <a:srgbClr val="6B6B70"/>
                </a:solidFill>
                <a:latin typeface="Calibri" pitchFamily="34" charset="0"/>
                <a:ea typeface="Calibri" pitchFamily="34" charset="-122"/>
                <a:cs typeface="Calibri" pitchFamily="34" charset="-120"/>
              </a:rPr>
              <a:t>Each gate requires: VCCR ≥ target for that cohort, booking conversion within guardrail, and legal sign-off before expanding.</a:t>
            </a:r>
            <a:endParaRPr lang="en-US" sz="1000" dirty="0"/>
          </a:p>
        </p:txBody>
      </p:sp>
      <p:sp>
        <p:nvSpPr>
          <p:cNvPr id="18" name="Shape 16"/>
          <p:cNvSpPr/>
          <p:nvPr/>
        </p:nvSpPr>
        <p:spPr>
          <a:xfrm>
            <a:off x="640080" y="2331720"/>
            <a:ext cx="10881360" cy="777240"/>
          </a:xfrm>
          <a:prstGeom prst="roundRect">
            <a:avLst>
              <a:gd name="adj" fmla="val 8235"/>
            </a:avLst>
          </a:prstGeom>
          <a:solidFill>
            <a:srgbClr val="EFEFEC"/>
          </a:solidFill>
          <a:ln/>
        </p:spPr>
        <p:txBody>
          <a:bodyPr/>
          <a:lstStyle/>
          <a:p>
            <a:endParaRPr lang="en-IN"/>
          </a:p>
        </p:txBody>
      </p:sp>
      <p:sp>
        <p:nvSpPr>
          <p:cNvPr id="19" name="Text 17"/>
          <p:cNvSpPr/>
          <p:nvPr/>
        </p:nvSpPr>
        <p:spPr>
          <a:xfrm>
            <a:off x="868680" y="2432304"/>
            <a:ext cx="2743200" cy="256032"/>
          </a:xfrm>
          <a:prstGeom prst="rect">
            <a:avLst/>
          </a:prstGeom>
          <a:noFill/>
          <a:ln/>
        </p:spPr>
        <p:txBody>
          <a:bodyPr wrap="square" rtlCol="0" anchor="ctr"/>
          <a:lstStyle/>
          <a:p>
            <a:pPr marL="0" indent="0">
              <a:buNone/>
            </a:pPr>
            <a:r>
              <a:rPr lang="en-US" sz="950" b="1" kern="0" spc="150" dirty="0">
                <a:solidFill>
                  <a:srgbClr val="00806E"/>
                </a:solidFill>
                <a:latin typeface="Calibri" pitchFamily="34" charset="0"/>
                <a:ea typeface="Calibri" pitchFamily="34" charset="-122"/>
                <a:cs typeface="Calibri" pitchFamily="34" charset="-120"/>
              </a:rPr>
              <a:t>EXPERIMENTATION NOTE</a:t>
            </a:r>
            <a:endParaRPr lang="en-US" sz="950" dirty="0"/>
          </a:p>
        </p:txBody>
      </p:sp>
      <p:sp>
        <p:nvSpPr>
          <p:cNvPr id="20" name="Text 18"/>
          <p:cNvSpPr/>
          <p:nvPr/>
        </p:nvSpPr>
        <p:spPr>
          <a:xfrm>
            <a:off x="868680" y="2697480"/>
            <a:ext cx="10424160" cy="384048"/>
          </a:xfrm>
          <a:prstGeom prst="rect">
            <a:avLst/>
          </a:prstGeom>
          <a:noFill/>
          <a:ln/>
        </p:spPr>
        <p:txBody>
          <a:bodyPr wrap="square" rtlCol="0" anchor="ctr"/>
          <a:lstStyle/>
          <a:p>
            <a:pPr marL="0" indent="0">
              <a:lnSpc>
                <a:spcPct val="110000"/>
              </a:lnSpc>
              <a:buNone/>
            </a:pPr>
            <a:r>
              <a:rPr lang="en-US" sz="1000" dirty="0">
                <a:solidFill>
                  <a:srgbClr val="0B0B0C"/>
                </a:solidFill>
                <a:latin typeface="Calibri" pitchFamily="34" charset="0"/>
                <a:ea typeface="Calibri" pitchFamily="34" charset="-122"/>
                <a:cs typeface="Calibri" pitchFamily="34" charset="-120"/>
              </a:rPr>
              <a:t>The consent grant itself can't be A/B-withheld — DPDP requires every user get full, compliant notice. What IS testable: copy, layering design, and CTA placement, with 100% of users still receiving complete notice regardless of variant.</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3291840"/>
          <a:ext cx="10881360" cy="3072384"/>
        </p:xfrm>
        <a:graphic>
          <a:graphicData uri="http://schemas.openxmlformats.org/drawingml/2006/table">
            <a:tbl>
              <a:tblPr/>
              <a:tblGrid>
                <a:gridCol w="20116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12064">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Trade-off / Mitigation</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Engineering</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New Consent Service + audit log — medium complexity</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Scoped to ~2 sprints; no change to core booking logic</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Business</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Added friction may cost 1–2% booking conversion short-term</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Accepted — guardrail caps it at 1.5 pts, monitored weekly</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User</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Some riders abandon over new decision fatigue</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Layered notice — one-line summary first, detail on demand</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Compliance / Ops</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Grievance Officer SLA ownership undefined today</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Explicitly assign owner + SLA tracker in the Hub</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Edge case</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Users declining non-essential consent must still get core ride service</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tc>
                  <a:txBody>
                    <a:bodyPr/>
                    <a:lstStyle/>
                    <a:p>
                      <a:pPr marL="0" indent="0">
                        <a:buNone/>
                      </a:pPr>
                      <a:r>
                        <a:rPr lang="en-US" sz="1000" dirty="0">
                          <a:solidFill>
                            <a:srgbClr val="0B0B0C"/>
                          </a:solidFill>
                          <a:latin typeface="Calibri" pitchFamily="34" charset="0"/>
                          <a:ea typeface="Calibri" pitchFamily="34" charset="-122"/>
                          <a:cs typeface="Calibri" pitchFamily="34" charset="-120"/>
                        </a:rPr>
                        <a:t>No service-denial dark pattern — enforced in design principles</a:t>
                      </a:r>
                      <a:endParaRPr lang="en-US" sz="1000" dirty="0">
                        <a:latin typeface="Calibri" charset="0"/>
                        <a:ea typeface="Calibri" charset="0"/>
                        <a:cs typeface="Calibri" charset="0"/>
                      </a:endParaRPr>
                    </a:p>
                  </a:txBody>
                  <a:tcPr>
                    <a:lnL w="6350" cap="flat" cmpd="sng" algn="ctr">
                      <a:solidFill>
                        <a:srgbClr val="DADAD8"/>
                      </a:solidFill>
                      <a:prstDash val="solid"/>
                      <a:round/>
                      <a:headEnd type="none" w="med" len="med"/>
                      <a:tailEnd type="none" w="med" len="med"/>
                    </a:lnL>
                    <a:lnR w="6350" cap="flat" cmpd="sng" algn="ctr">
                      <a:solidFill>
                        <a:srgbClr val="DADAD8"/>
                      </a:solidFill>
                      <a:prstDash val="solid"/>
                      <a:round/>
                      <a:headEnd type="none" w="med" len="med"/>
                      <a:tailEnd type="none" w="med" len="med"/>
                    </a:lnR>
                    <a:lnT w="6350" cap="flat" cmpd="sng" algn="ctr">
                      <a:solidFill>
                        <a:srgbClr val="DADAD8"/>
                      </a:solidFill>
                      <a:prstDash val="solid"/>
                      <a:round/>
                      <a:headEnd type="none" w="med" len="med"/>
                      <a:tailEnd type="none" w="med" len="med"/>
                    </a:lnT>
                    <a:lnB w="6350" cap="flat" cmpd="sng" algn="ctr">
                      <a:solidFill>
                        <a:srgbClr val="DA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2151</Words>
  <Application>Microsoft Office PowerPoint</Application>
  <PresentationFormat>Widescreen</PresentationFormat>
  <Paragraphs>270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Consent, Uncomplicated — Uber DPDP Case Study</dc:title>
  <dc:subject>PptxGenJS Presentation</dc:subject>
  <dc:creator>PM Intern Candidate</dc:creator>
  <cp:lastModifiedBy>Prathiba P</cp:lastModifiedBy>
  <cp:revision>2</cp:revision>
  <dcterms:created xsi:type="dcterms:W3CDTF">2026-07-02T19:00:04Z</dcterms:created>
  <dcterms:modified xsi:type="dcterms:W3CDTF">2026-07-04T14:46:16Z</dcterms:modified>
</cp:coreProperties>
</file>